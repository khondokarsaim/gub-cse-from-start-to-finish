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Anton"/>
      <p:regular r:id="rId13"/>
    </p:embeddedFont>
    <p:embeddedFont>
      <p:font typeface="Roboto"/>
      <p:regular r:id="rId14"/>
      <p:bold r:id="rId15"/>
      <p:italic r:id="rId16"/>
      <p:boldItalic r:id="rId17"/>
    </p:embeddedFont>
    <p:embeddedFont>
      <p:font typeface="Chiv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2" roundtripDataSignature="AMtx7miOPtTLRTwhQZUEJw4ZKdqy5wCo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hivo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Chivo-boldItalic.fntdata"/><Relationship Id="rId13" Type="http://schemas.openxmlformats.org/officeDocument/2006/relationships/font" Target="fonts/Anton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19" Type="http://schemas.openxmlformats.org/officeDocument/2006/relationships/font" Target="fonts/Chivo-bold.fntdata"/><Relationship Id="rId6" Type="http://schemas.openxmlformats.org/officeDocument/2006/relationships/slide" Target="slides/slide2.xml"/><Relationship Id="rId18" Type="http://schemas.openxmlformats.org/officeDocument/2006/relationships/font" Target="fonts/Chiv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>
                <a:latin typeface="Chivo"/>
                <a:ea typeface="Chivo"/>
                <a:cs typeface="Chivo"/>
                <a:sym typeface="Chivo"/>
              </a:rPr>
              <a:t>Chivo</a:t>
            </a:r>
            <a:endParaRPr>
              <a:latin typeface="Chivo"/>
              <a:ea typeface="Chivo"/>
              <a:cs typeface="Chivo"/>
              <a:sym typeface="Chiv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>
                <a:latin typeface="Chivo"/>
                <a:ea typeface="Chivo"/>
                <a:cs typeface="Chivo"/>
                <a:sym typeface="Chivo"/>
              </a:rPr>
              <a:t>Chivo</a:t>
            </a:r>
            <a:endParaRPr>
              <a:latin typeface="Chivo"/>
              <a:ea typeface="Chivo"/>
              <a:cs typeface="Chivo"/>
              <a:sym typeface="Chiv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>
                <a:latin typeface="Chivo"/>
                <a:ea typeface="Chivo"/>
                <a:cs typeface="Chivo"/>
                <a:sym typeface="Chivo"/>
              </a:rPr>
              <a:t>Chivo</a:t>
            </a:r>
            <a:endParaRPr>
              <a:latin typeface="Chivo"/>
              <a:ea typeface="Chivo"/>
              <a:cs typeface="Chivo"/>
              <a:sym typeface="Chiv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>
                <a:latin typeface="Chivo"/>
                <a:ea typeface="Chivo"/>
                <a:cs typeface="Chivo"/>
                <a:sym typeface="Chivo"/>
              </a:rPr>
              <a:t>Chivo</a:t>
            </a:r>
            <a:endParaRPr>
              <a:latin typeface="Chivo"/>
              <a:ea typeface="Chivo"/>
              <a:cs typeface="Chivo"/>
              <a:sym typeface="Chiv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>
                <a:latin typeface="Chivo"/>
                <a:ea typeface="Chivo"/>
                <a:cs typeface="Chivo"/>
                <a:sym typeface="Chivo"/>
              </a:rPr>
              <a:t>Chivo</a:t>
            </a:r>
            <a:endParaRPr>
              <a:latin typeface="Chivo"/>
              <a:ea typeface="Chivo"/>
              <a:cs typeface="Chivo"/>
              <a:sym typeface="Chiv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10"/>
          <p:cNvGrpSpPr/>
          <p:nvPr/>
        </p:nvGrpSpPr>
        <p:grpSpPr>
          <a:xfrm>
            <a:off x="0" y="2656525"/>
            <a:ext cx="9144000" cy="2486943"/>
            <a:chOff x="0" y="2656525"/>
            <a:chExt cx="9144000" cy="2486943"/>
          </a:xfrm>
        </p:grpSpPr>
        <p:sp>
          <p:nvSpPr>
            <p:cNvPr id="10" name="Google Shape;10;p10"/>
            <p:cNvSpPr/>
            <p:nvPr/>
          </p:nvSpPr>
          <p:spPr>
            <a:xfrm>
              <a:off x="0" y="2656525"/>
              <a:ext cx="5497200" cy="1845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0"/>
            <p:cNvSpPr/>
            <p:nvPr/>
          </p:nvSpPr>
          <p:spPr>
            <a:xfrm>
              <a:off x="0" y="4501425"/>
              <a:ext cx="5497200" cy="64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0"/>
            <p:cNvSpPr/>
            <p:nvPr/>
          </p:nvSpPr>
          <p:spPr>
            <a:xfrm>
              <a:off x="5497200" y="2656525"/>
              <a:ext cx="1823400" cy="12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0"/>
            <p:cNvSpPr/>
            <p:nvPr/>
          </p:nvSpPr>
          <p:spPr>
            <a:xfrm>
              <a:off x="5497200" y="3899968"/>
              <a:ext cx="1823400" cy="12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0"/>
            <p:cNvSpPr/>
            <p:nvPr/>
          </p:nvSpPr>
          <p:spPr>
            <a:xfrm>
              <a:off x="7320600" y="2656525"/>
              <a:ext cx="1823400" cy="1243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0"/>
            <p:cNvSpPr/>
            <p:nvPr/>
          </p:nvSpPr>
          <p:spPr>
            <a:xfrm>
              <a:off x="7320600" y="3899968"/>
              <a:ext cx="1823400" cy="12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0"/>
            <p:cNvSpPr/>
            <p:nvPr/>
          </p:nvSpPr>
          <p:spPr>
            <a:xfrm>
              <a:off x="5305425" y="4501425"/>
              <a:ext cx="191700" cy="64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0"/>
            <p:cNvSpPr/>
            <p:nvPr/>
          </p:nvSpPr>
          <p:spPr>
            <a:xfrm>
              <a:off x="4921950" y="4501425"/>
              <a:ext cx="191700" cy="64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0"/>
            <p:cNvSpPr/>
            <p:nvPr/>
          </p:nvSpPr>
          <p:spPr>
            <a:xfrm>
              <a:off x="4538475" y="4501425"/>
              <a:ext cx="191700" cy="64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0"/>
            <p:cNvSpPr/>
            <p:nvPr/>
          </p:nvSpPr>
          <p:spPr>
            <a:xfrm>
              <a:off x="7320600" y="2657475"/>
              <a:ext cx="1823400" cy="12435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0"/>
            <p:cNvSpPr/>
            <p:nvPr/>
          </p:nvSpPr>
          <p:spPr>
            <a:xfrm>
              <a:off x="5764350" y="4164568"/>
              <a:ext cx="1289100" cy="7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10"/>
          <p:cNvSpPr txBox="1"/>
          <p:nvPr>
            <p:ph type="ctrTitle"/>
          </p:nvPr>
        </p:nvSpPr>
        <p:spPr>
          <a:xfrm>
            <a:off x="738450" y="539400"/>
            <a:ext cx="4020300" cy="176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" name="Google Shape;22;p10"/>
          <p:cNvSpPr txBox="1"/>
          <p:nvPr>
            <p:ph idx="1" type="subTitle"/>
          </p:nvPr>
        </p:nvSpPr>
        <p:spPr>
          <a:xfrm>
            <a:off x="738450" y="3117400"/>
            <a:ext cx="4043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7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/>
          <p:nvPr/>
        </p:nvSpPr>
        <p:spPr>
          <a:xfrm>
            <a:off x="4127550" y="0"/>
            <a:ext cx="50166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1"/>
          <p:cNvSpPr txBox="1"/>
          <p:nvPr>
            <p:ph type="title"/>
          </p:nvPr>
        </p:nvSpPr>
        <p:spPr>
          <a:xfrm>
            <a:off x="713100" y="1698300"/>
            <a:ext cx="29628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" type="subTitle"/>
          </p:nvPr>
        </p:nvSpPr>
        <p:spPr>
          <a:xfrm>
            <a:off x="5903800" y="553513"/>
            <a:ext cx="24312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2" type="subTitle"/>
          </p:nvPr>
        </p:nvSpPr>
        <p:spPr>
          <a:xfrm>
            <a:off x="5903808" y="958250"/>
            <a:ext cx="28128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3" type="title"/>
          </p:nvPr>
        </p:nvSpPr>
        <p:spPr>
          <a:xfrm>
            <a:off x="4970075" y="869163"/>
            <a:ext cx="777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11"/>
          <p:cNvSpPr txBox="1"/>
          <p:nvPr>
            <p:ph idx="4" type="subTitle"/>
          </p:nvPr>
        </p:nvSpPr>
        <p:spPr>
          <a:xfrm>
            <a:off x="5903750" y="3519840"/>
            <a:ext cx="2432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5" type="subTitle"/>
          </p:nvPr>
        </p:nvSpPr>
        <p:spPr>
          <a:xfrm>
            <a:off x="5903750" y="3924596"/>
            <a:ext cx="28143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6" type="title"/>
          </p:nvPr>
        </p:nvSpPr>
        <p:spPr>
          <a:xfrm>
            <a:off x="4970075" y="3835490"/>
            <a:ext cx="777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" name="Google Shape;32;p11"/>
          <p:cNvSpPr txBox="1"/>
          <p:nvPr>
            <p:ph idx="7" type="subTitle"/>
          </p:nvPr>
        </p:nvSpPr>
        <p:spPr>
          <a:xfrm>
            <a:off x="5903750" y="1890887"/>
            <a:ext cx="24312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" name="Google Shape;33;p11"/>
          <p:cNvSpPr txBox="1"/>
          <p:nvPr>
            <p:ph idx="8" type="subTitle"/>
          </p:nvPr>
        </p:nvSpPr>
        <p:spPr>
          <a:xfrm>
            <a:off x="5903750" y="2572235"/>
            <a:ext cx="28128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9" type="title"/>
          </p:nvPr>
        </p:nvSpPr>
        <p:spPr>
          <a:xfrm>
            <a:off x="4970075" y="2343613"/>
            <a:ext cx="777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idx="1" type="body"/>
          </p:nvPr>
        </p:nvSpPr>
        <p:spPr>
          <a:xfrm>
            <a:off x="1572600" y="2269200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/>
        </p:txBody>
      </p:sp>
      <p:grpSp>
        <p:nvGrpSpPr>
          <p:cNvPr id="38" name="Google Shape;38;p13"/>
          <p:cNvGrpSpPr/>
          <p:nvPr/>
        </p:nvGrpSpPr>
        <p:grpSpPr>
          <a:xfrm>
            <a:off x="-41" y="4603870"/>
            <a:ext cx="909797" cy="539382"/>
            <a:chOff x="4538475" y="4762550"/>
            <a:chExt cx="909797" cy="381000"/>
          </a:xfrm>
        </p:grpSpPr>
        <p:sp>
          <p:nvSpPr>
            <p:cNvPr id="39" name="Google Shape;39;p13"/>
            <p:cNvSpPr/>
            <p:nvPr/>
          </p:nvSpPr>
          <p:spPr>
            <a:xfrm>
              <a:off x="4538475" y="4762550"/>
              <a:ext cx="113700" cy="38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3"/>
            <p:cNvSpPr/>
            <p:nvPr/>
          </p:nvSpPr>
          <p:spPr>
            <a:xfrm>
              <a:off x="4652203" y="4762550"/>
              <a:ext cx="113700" cy="381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3"/>
            <p:cNvSpPr/>
            <p:nvPr/>
          </p:nvSpPr>
          <p:spPr>
            <a:xfrm>
              <a:off x="4765931" y="4762550"/>
              <a:ext cx="113700" cy="38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3"/>
            <p:cNvSpPr/>
            <p:nvPr/>
          </p:nvSpPr>
          <p:spPr>
            <a:xfrm>
              <a:off x="4879659" y="4762550"/>
              <a:ext cx="113700" cy="381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3"/>
            <p:cNvSpPr/>
            <p:nvPr/>
          </p:nvSpPr>
          <p:spPr>
            <a:xfrm>
              <a:off x="4993388" y="4762550"/>
              <a:ext cx="113700" cy="38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3"/>
            <p:cNvSpPr/>
            <p:nvPr/>
          </p:nvSpPr>
          <p:spPr>
            <a:xfrm>
              <a:off x="5107116" y="4762550"/>
              <a:ext cx="113700" cy="381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3"/>
            <p:cNvSpPr/>
            <p:nvPr/>
          </p:nvSpPr>
          <p:spPr>
            <a:xfrm>
              <a:off x="5220844" y="4762550"/>
              <a:ext cx="113700" cy="381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3"/>
            <p:cNvSpPr/>
            <p:nvPr/>
          </p:nvSpPr>
          <p:spPr>
            <a:xfrm>
              <a:off x="5334572" y="4762550"/>
              <a:ext cx="113700" cy="381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13"/>
          <p:cNvSpPr/>
          <p:nvPr/>
        </p:nvSpPr>
        <p:spPr>
          <a:xfrm>
            <a:off x="7562107" y="-4"/>
            <a:ext cx="790800" cy="53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3"/>
          <p:cNvSpPr/>
          <p:nvPr/>
        </p:nvSpPr>
        <p:spPr>
          <a:xfrm>
            <a:off x="8353054" y="-4"/>
            <a:ext cx="790800" cy="53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3"/>
          <p:cNvSpPr/>
          <p:nvPr/>
        </p:nvSpPr>
        <p:spPr>
          <a:xfrm>
            <a:off x="7761731" y="73846"/>
            <a:ext cx="391800" cy="391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hasCustomPrompt="1" type="title"/>
          </p:nvPr>
        </p:nvSpPr>
        <p:spPr>
          <a:xfrm>
            <a:off x="713400" y="1106125"/>
            <a:ext cx="77172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/>
          <p:nvPr>
            <p:ph idx="1" type="body"/>
          </p:nvPr>
        </p:nvSpPr>
        <p:spPr>
          <a:xfrm>
            <a:off x="713400" y="3152225"/>
            <a:ext cx="77172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71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4"/>
          <p:cNvSpPr/>
          <p:nvPr/>
        </p:nvSpPr>
        <p:spPr>
          <a:xfrm>
            <a:off x="0" y="0"/>
            <a:ext cx="12618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7882200" y="0"/>
            <a:ext cx="1261800" cy="71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1400175" y="0"/>
            <a:ext cx="285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1824400" y="0"/>
            <a:ext cx="285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2371725" y="0"/>
            <a:ext cx="162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2796050" y="0"/>
            <a:ext cx="162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3305175" y="0"/>
            <a:ext cx="780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3729400" y="0"/>
            <a:ext cx="780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 rot="10800000">
            <a:off x="0" y="4433400"/>
            <a:ext cx="9144000" cy="71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/>
          <p:nvPr/>
        </p:nvSpPr>
        <p:spPr>
          <a:xfrm rot="10800000">
            <a:off x="7882200" y="4433400"/>
            <a:ext cx="12618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 rot="10800000">
            <a:off x="0" y="4433400"/>
            <a:ext cx="1261800" cy="71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 rot="10800000">
            <a:off x="7457925" y="4433400"/>
            <a:ext cx="285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 rot="10800000">
            <a:off x="7033700" y="4433400"/>
            <a:ext cx="285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/>
          <p:nvPr/>
        </p:nvSpPr>
        <p:spPr>
          <a:xfrm rot="10800000">
            <a:off x="6609375" y="4433400"/>
            <a:ext cx="162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/>
          <p:nvPr/>
        </p:nvSpPr>
        <p:spPr>
          <a:xfrm rot="10800000">
            <a:off x="6185050" y="4433400"/>
            <a:ext cx="1629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/>
          <p:nvPr/>
        </p:nvSpPr>
        <p:spPr>
          <a:xfrm rot="10800000">
            <a:off x="5760825" y="4433400"/>
            <a:ext cx="780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/>
          <p:nvPr/>
        </p:nvSpPr>
        <p:spPr>
          <a:xfrm rot="10800000">
            <a:off x="5336600" y="4433400"/>
            <a:ext cx="78000" cy="71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5"/>
          <p:cNvGrpSpPr/>
          <p:nvPr/>
        </p:nvGrpSpPr>
        <p:grpSpPr>
          <a:xfrm>
            <a:off x="0" y="0"/>
            <a:ext cx="9150600" cy="261000"/>
            <a:chOff x="0" y="0"/>
            <a:chExt cx="9150600" cy="261000"/>
          </a:xfrm>
        </p:grpSpPr>
        <p:sp>
          <p:nvSpPr>
            <p:cNvPr id="73" name="Google Shape;73;p15"/>
            <p:cNvSpPr/>
            <p:nvPr/>
          </p:nvSpPr>
          <p:spPr>
            <a:xfrm>
              <a:off x="0" y="0"/>
              <a:ext cx="9150600" cy="26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0" y="0"/>
              <a:ext cx="12618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1400175" y="0"/>
              <a:ext cx="2859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1824400" y="0"/>
              <a:ext cx="2859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2371725" y="0"/>
              <a:ext cx="1629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2796050" y="0"/>
              <a:ext cx="1629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3305175" y="0"/>
              <a:ext cx="780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3729400" y="0"/>
              <a:ext cx="78000" cy="26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0" y="3885600"/>
            <a:ext cx="9144000" cy="125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0" y="3885600"/>
            <a:ext cx="1261800" cy="1257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261850" y="3882450"/>
            <a:ext cx="1261800" cy="1257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7882200" y="3885600"/>
            <a:ext cx="1261800" cy="125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713400" y="445025"/>
            <a:ext cx="771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b="0" i="0" sz="2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b="0" i="0" sz="2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b="0" i="0" sz="2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b="0" i="0" sz="2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b="0" i="0" sz="2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b="0" i="0" sz="2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b="0" i="0" sz="2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b="0" i="0" sz="2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b="0" i="0" sz="2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713400" y="1152475"/>
            <a:ext cx="7717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●"/>
              <a:defRPr b="0" i="0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○"/>
              <a:defRPr b="0" i="0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■"/>
              <a:defRPr b="0" i="0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●"/>
              <a:defRPr b="0" i="0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○"/>
              <a:defRPr b="0" i="0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■"/>
              <a:defRPr b="0" i="0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●"/>
              <a:defRPr b="0" i="0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○"/>
              <a:defRPr b="0" i="0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hivo"/>
              <a:buChar char="■"/>
              <a:defRPr b="0" i="0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01121" y="1152850"/>
            <a:ext cx="938700" cy="938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8640050" y="1152850"/>
            <a:ext cx="938700" cy="938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270600" y="646650"/>
            <a:ext cx="5302500" cy="19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IN"/>
              <a:t>Multi-dimensional</a:t>
            </a:r>
            <a:br>
              <a:rPr lang="en-IN"/>
            </a:br>
            <a:r>
              <a:rPr lang="en-IN"/>
              <a:t>Array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102561" y="3025468"/>
            <a:ext cx="2793038" cy="9909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en-IN" sz="1200" u="sng"/>
              <a:t>Submitted By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IN" sz="1200"/>
              <a:t>Khondokar Saim          – 221902353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IN" sz="1200"/>
              <a:t>Ashiful Haque Shihab – 221902321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IN" sz="1200"/>
              <a:t>Hasnat Zamil Sayad    – 221902001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200"/>
          </a:p>
        </p:txBody>
      </p:sp>
      <p:sp>
        <p:nvSpPr>
          <p:cNvPr id="94" name="Google Shape;94;p1"/>
          <p:cNvSpPr/>
          <p:nvPr/>
        </p:nvSpPr>
        <p:spPr>
          <a:xfrm>
            <a:off x="6762198" y="1152850"/>
            <a:ext cx="938700" cy="938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5823273" y="1152850"/>
            <a:ext cx="938700" cy="938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2520" y="0"/>
            <a:ext cx="1028656" cy="99865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2895599" y="3051951"/>
            <a:ext cx="3060549" cy="9909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</a:pPr>
            <a:r>
              <a:rPr b="1" i="1" lang="en-IN" sz="1200" u="sng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Submitted 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</a:pPr>
            <a:r>
              <a:rPr b="1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Mr. Mahbubur Rahman.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</a:pPr>
            <a:r>
              <a:rPr b="1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Lecturer</a:t>
            </a:r>
            <a:endParaRPr b="1" i="0" sz="1200" u="none" cap="none" strike="noStrike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</a:pPr>
            <a:r>
              <a:rPr b="1" i="0" lang="en-IN" sz="105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Email – mahbubur@cse.green.edu.bd</a:t>
            </a:r>
            <a:endParaRPr b="1" i="0" sz="1050" u="none" cap="none" strike="noStrike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hivo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4318117" y="2196507"/>
            <a:ext cx="846600" cy="84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318117" y="1216577"/>
            <a:ext cx="846600" cy="84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352592" y="211619"/>
            <a:ext cx="812125" cy="8121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>
            <p:ph type="title"/>
          </p:nvPr>
        </p:nvSpPr>
        <p:spPr>
          <a:xfrm>
            <a:off x="713100" y="1698300"/>
            <a:ext cx="29628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/>
              <a:t>TABLE OF CONTENTS</a:t>
            </a:r>
            <a:endParaRPr/>
          </a:p>
        </p:txBody>
      </p:sp>
      <p:sp>
        <p:nvSpPr>
          <p:cNvPr id="106" name="Google Shape;106;p2"/>
          <p:cNvSpPr txBox="1"/>
          <p:nvPr>
            <p:ph idx="1" type="subTitle"/>
          </p:nvPr>
        </p:nvSpPr>
        <p:spPr>
          <a:xfrm>
            <a:off x="5201016" y="84512"/>
            <a:ext cx="3892184" cy="7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What is Multi-dimensional arrays in C?</a:t>
            </a:r>
            <a:endParaRPr/>
          </a:p>
        </p:txBody>
      </p:sp>
      <p:sp>
        <p:nvSpPr>
          <p:cNvPr id="107" name="Google Shape;107;p2"/>
          <p:cNvSpPr txBox="1"/>
          <p:nvPr>
            <p:ph idx="3" type="title"/>
          </p:nvPr>
        </p:nvSpPr>
        <p:spPr>
          <a:xfrm>
            <a:off x="4352617" y="416479"/>
            <a:ext cx="777600" cy="452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/>
              <a:t>1</a:t>
            </a:r>
            <a:endParaRPr/>
          </a:p>
        </p:txBody>
      </p:sp>
      <p:sp>
        <p:nvSpPr>
          <p:cNvPr id="108" name="Google Shape;108;p2"/>
          <p:cNvSpPr txBox="1"/>
          <p:nvPr>
            <p:ph idx="4" type="subTitle"/>
          </p:nvPr>
        </p:nvSpPr>
        <p:spPr>
          <a:xfrm>
            <a:off x="5095717" y="2380581"/>
            <a:ext cx="2432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</a:pPr>
            <a:r>
              <a:rPr lang="en-IN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Example of 2D array..</a:t>
            </a:r>
            <a:endParaRPr/>
          </a:p>
        </p:txBody>
      </p:sp>
      <p:sp>
        <p:nvSpPr>
          <p:cNvPr id="109" name="Google Shape;109;p2"/>
          <p:cNvSpPr txBox="1"/>
          <p:nvPr>
            <p:ph idx="7" type="subTitle"/>
          </p:nvPr>
        </p:nvSpPr>
        <p:spPr>
          <a:xfrm>
            <a:off x="5095716" y="1331033"/>
            <a:ext cx="3335183" cy="5033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</a:pPr>
            <a:r>
              <a:rPr lang="en-IN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Two-dimensional array [2d]</a:t>
            </a:r>
            <a:endParaRPr/>
          </a:p>
        </p:txBody>
      </p:sp>
      <p:grpSp>
        <p:nvGrpSpPr>
          <p:cNvPr id="110" name="Google Shape;110;p2"/>
          <p:cNvGrpSpPr/>
          <p:nvPr/>
        </p:nvGrpSpPr>
        <p:grpSpPr>
          <a:xfrm>
            <a:off x="0" y="0"/>
            <a:ext cx="4127542" cy="5143500"/>
            <a:chOff x="0" y="0"/>
            <a:chExt cx="4127542" cy="5143500"/>
          </a:xfrm>
        </p:grpSpPr>
        <p:sp>
          <p:nvSpPr>
            <p:cNvPr id="111" name="Google Shape;111;p2"/>
            <p:cNvSpPr/>
            <p:nvPr/>
          </p:nvSpPr>
          <p:spPr>
            <a:xfrm rot="10800000">
              <a:off x="3381142" y="0"/>
              <a:ext cx="746400" cy="7464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 rot="10800000">
              <a:off x="2634658" y="0"/>
              <a:ext cx="746400" cy="7464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 rot="10800000">
              <a:off x="1888175" y="0"/>
              <a:ext cx="746400" cy="7464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 rot="10800000">
              <a:off x="2634650" y="322075"/>
              <a:ext cx="469800" cy="469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381142" y="0"/>
              <a:ext cx="746400" cy="7464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0" y="4397100"/>
              <a:ext cx="746400" cy="7464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746483" y="4397100"/>
              <a:ext cx="746400" cy="7464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492967" y="4397100"/>
              <a:ext cx="746400" cy="7464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023092" y="4351625"/>
              <a:ext cx="469800" cy="469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 rot="10800000">
              <a:off x="0" y="4397100"/>
              <a:ext cx="746400" cy="7464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2"/>
          <p:cNvSpPr/>
          <p:nvPr/>
        </p:nvSpPr>
        <p:spPr>
          <a:xfrm>
            <a:off x="4318117" y="3198433"/>
            <a:ext cx="846600" cy="84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4318117" y="4149639"/>
            <a:ext cx="846600" cy="84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>
            <p:ph idx="3" type="title"/>
          </p:nvPr>
        </p:nvSpPr>
        <p:spPr>
          <a:xfrm>
            <a:off x="4352617" y="1400392"/>
            <a:ext cx="777600" cy="452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/>
              <a:t>2</a:t>
            </a:r>
            <a:endParaRPr/>
          </a:p>
        </p:txBody>
      </p:sp>
      <p:sp>
        <p:nvSpPr>
          <p:cNvPr id="124" name="Google Shape;124;p2"/>
          <p:cNvSpPr txBox="1"/>
          <p:nvPr>
            <p:ph idx="3" type="title"/>
          </p:nvPr>
        </p:nvSpPr>
        <p:spPr>
          <a:xfrm>
            <a:off x="4352617" y="2403347"/>
            <a:ext cx="777600" cy="452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/>
              <a:t>3</a:t>
            </a:r>
            <a:endParaRPr/>
          </a:p>
        </p:txBody>
      </p:sp>
      <p:sp>
        <p:nvSpPr>
          <p:cNvPr id="125" name="Google Shape;125;p2"/>
          <p:cNvSpPr txBox="1"/>
          <p:nvPr>
            <p:ph idx="3" type="title"/>
          </p:nvPr>
        </p:nvSpPr>
        <p:spPr>
          <a:xfrm>
            <a:off x="4352617" y="3402502"/>
            <a:ext cx="777600" cy="452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/>
              <a:t>4</a:t>
            </a:r>
            <a:endParaRPr/>
          </a:p>
        </p:txBody>
      </p:sp>
      <p:sp>
        <p:nvSpPr>
          <p:cNvPr id="126" name="Google Shape;126;p2"/>
          <p:cNvSpPr txBox="1"/>
          <p:nvPr>
            <p:ph idx="3" type="title"/>
          </p:nvPr>
        </p:nvSpPr>
        <p:spPr>
          <a:xfrm>
            <a:off x="4352617" y="4364891"/>
            <a:ext cx="777600" cy="452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IN"/>
              <a:t>5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5095716" y="3385017"/>
            <a:ext cx="3335183" cy="5033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Three-dimensional array [3d]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5095717" y="4346718"/>
            <a:ext cx="2432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ton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Example of 3D array..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4" name="Google Shape;134;p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4951379" y="0"/>
              <a:ext cx="4192621" cy="5143500"/>
            </a:xfrm>
            <a:prstGeom prst="rect">
              <a:avLst/>
            </a:prstGeom>
            <a:solidFill>
              <a:srgbClr val="94B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</a:t>
              </a:r>
              <a:endParaRPr/>
            </a:p>
          </p:txBody>
        </p:sp>
      </p:grpSp>
      <p:sp>
        <p:nvSpPr>
          <p:cNvPr id="136" name="Google Shape;136;p3"/>
          <p:cNvSpPr txBox="1"/>
          <p:nvPr/>
        </p:nvSpPr>
        <p:spPr>
          <a:xfrm>
            <a:off x="68093" y="116157"/>
            <a:ext cx="5621507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800" u="none" cap="none" strike="noStrike">
                <a:solidFill>
                  <a:srgbClr val="4D3E26"/>
                </a:solidFill>
                <a:latin typeface="Anton"/>
                <a:ea typeface="Anton"/>
                <a:cs typeface="Anton"/>
                <a:sym typeface="Anton"/>
              </a:rPr>
              <a:t>What is </a:t>
            </a:r>
            <a:r>
              <a:rPr b="0" i="0" lang="en-IN" sz="2800" u="none" cap="none" strike="noStrike">
                <a:solidFill>
                  <a:srgbClr val="4E3E27"/>
                </a:solidFill>
                <a:latin typeface="Anton"/>
                <a:ea typeface="Anton"/>
                <a:cs typeface="Anton"/>
                <a:sym typeface="Anton"/>
              </a:rPr>
              <a:t>Multi-dimensional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800" u="none" cap="none" strike="noStrike">
                <a:solidFill>
                  <a:srgbClr val="4E3E27"/>
                </a:solidFill>
                <a:latin typeface="Anton"/>
                <a:ea typeface="Anton"/>
                <a:cs typeface="Anton"/>
                <a:sym typeface="Anton"/>
              </a:rPr>
              <a:t>Arrays in C </a:t>
            </a:r>
            <a:r>
              <a:rPr b="0" i="0" lang="en-IN" sz="2800" u="none" cap="none" strike="noStrike">
                <a:solidFill>
                  <a:srgbClr val="4D3E26"/>
                </a:solidFill>
                <a:latin typeface="Anton"/>
                <a:ea typeface="Anton"/>
                <a:cs typeface="Anton"/>
                <a:sym typeface="Anton"/>
              </a:rPr>
              <a:t>?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68094" y="1229704"/>
            <a:ext cx="4815191" cy="937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The C programming language allows us to create an array of arrays which is known as a multi-dimensional array.</a:t>
            </a:r>
            <a:endParaRPr b="0" i="0" sz="1600" u="none" cap="none" strike="noStrike">
              <a:solidFill>
                <a:srgbClr val="0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68093" y="2230918"/>
            <a:ext cx="4815191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There are various types of multi-dimensional arrays based on the number of dimensions. They are - </a:t>
            </a:r>
            <a:endParaRPr b="0" i="0" sz="1600" u="none" cap="none" strike="noStrike">
              <a:solidFill>
                <a:srgbClr val="0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8093" y="3219059"/>
            <a:ext cx="4883286" cy="9685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0" i="0" lang="en-IN" sz="16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Two-dimensional array [2d] 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0" i="0" lang="en-IN" sz="16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Three-dimensional array [3d].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      and so on…</a:t>
            </a:r>
            <a:endParaRPr b="0" i="0" sz="1600" u="none" cap="none" strike="noStrike">
              <a:solidFill>
                <a:srgbClr val="0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pic>
        <p:nvPicPr>
          <p:cNvPr id="140" name="Google Shape;1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4139" y="693490"/>
            <a:ext cx="3467100" cy="1323975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803"/>
              </a:srgbClr>
            </a:outerShdw>
          </a:effectLst>
        </p:spPr>
      </p:pic>
      <p:grpSp>
        <p:nvGrpSpPr>
          <p:cNvPr id="141" name="Google Shape;141;p3"/>
          <p:cNvGrpSpPr/>
          <p:nvPr/>
        </p:nvGrpSpPr>
        <p:grpSpPr>
          <a:xfrm>
            <a:off x="5406214" y="2340398"/>
            <a:ext cx="3181350" cy="2409825"/>
            <a:chOff x="5406214" y="2571750"/>
            <a:chExt cx="3181350" cy="2409825"/>
          </a:xfrm>
        </p:grpSpPr>
        <p:pic>
          <p:nvPicPr>
            <p:cNvPr id="142" name="Google Shape;142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06214" y="2571750"/>
              <a:ext cx="3181350" cy="2409825"/>
            </a:xfrm>
            <a:prstGeom prst="rect">
              <a:avLst/>
            </a:prstGeom>
            <a:noFill/>
            <a:ln>
              <a:noFill/>
            </a:ln>
            <a:effectLst>
              <a:outerShdw blurRad="190500" rotWithShape="0" algn="tl">
                <a:srgbClr val="000000">
                  <a:alpha val="69803"/>
                </a:srgbClr>
              </a:outerShdw>
            </a:effectLst>
          </p:spPr>
        </p:pic>
        <p:cxnSp>
          <p:nvCxnSpPr>
            <p:cNvPr id="143" name="Google Shape;143;p3"/>
            <p:cNvCxnSpPr/>
            <p:nvPr/>
          </p:nvCxnSpPr>
          <p:spPr>
            <a:xfrm>
              <a:off x="7770018" y="3519487"/>
              <a:ext cx="0" cy="81676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3"/>
            <p:cNvCxnSpPr/>
            <p:nvPr/>
          </p:nvCxnSpPr>
          <p:spPr>
            <a:xfrm>
              <a:off x="6286499" y="3519487"/>
              <a:ext cx="0" cy="81676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5" name="Google Shape;145;p3"/>
          <p:cNvSpPr txBox="1"/>
          <p:nvPr/>
        </p:nvSpPr>
        <p:spPr>
          <a:xfrm>
            <a:off x="6572238" y="2067448"/>
            <a:ext cx="13292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4E3E27"/>
                </a:solidFill>
                <a:latin typeface="Chivo"/>
                <a:ea typeface="Chivo"/>
                <a:cs typeface="Chivo"/>
                <a:sym typeface="Chivo"/>
              </a:rPr>
              <a:t>Fig : 2D Array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6572238" y="4668463"/>
            <a:ext cx="13292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4E3E27"/>
                </a:solidFill>
                <a:latin typeface="Chivo"/>
                <a:ea typeface="Chivo"/>
                <a:cs typeface="Chivo"/>
                <a:sym typeface="Chivo"/>
              </a:rPr>
              <a:t>Fig : 3D Array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7523139" y="2593119"/>
            <a:ext cx="99738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rPr>
              <a:t>First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rPr>
              <a:t>Dimensional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7658269" y="4235957"/>
            <a:ext cx="99738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rPr>
              <a:t>Third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rPr>
              <a:t>Dimensional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5574849" y="4187610"/>
            <a:ext cx="99738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rPr>
              <a:t>Second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rPr>
              <a:t>Dimensional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5" name="Google Shape;155;p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4951379" y="0"/>
              <a:ext cx="4192621" cy="5143500"/>
            </a:xfrm>
            <a:prstGeom prst="rect">
              <a:avLst/>
            </a:prstGeom>
            <a:solidFill>
              <a:srgbClr val="94B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</a:t>
              </a:r>
              <a:endParaRPr/>
            </a:p>
          </p:txBody>
        </p:sp>
      </p:grpSp>
      <p:sp>
        <p:nvSpPr>
          <p:cNvPr id="157" name="Google Shape;157;p4"/>
          <p:cNvSpPr txBox="1"/>
          <p:nvPr/>
        </p:nvSpPr>
        <p:spPr>
          <a:xfrm>
            <a:off x="0" y="106737"/>
            <a:ext cx="5306232" cy="5560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800" u="none" cap="none" strike="noStrike">
                <a:solidFill>
                  <a:srgbClr val="4E3E27"/>
                </a:solidFill>
                <a:latin typeface="Anton"/>
                <a:ea typeface="Anton"/>
                <a:cs typeface="Anton"/>
                <a:sym typeface="Anton"/>
              </a:rPr>
              <a:t>Two-dimensional array [2d] 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36195" y="855149"/>
            <a:ext cx="4883285" cy="27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0" i="0" lang="en-IN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Two dimensional array is the simplest form of a Multidimensional array.</a:t>
            </a:r>
            <a:endParaRPr/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0" i="0" lang="en-IN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It can be visualized as an array of arrays.</a:t>
            </a:r>
            <a:endParaRPr/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0" i="0" lang="en-IN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2D array is also called a matrix, we are going to discuss how we can initialize 2D array.</a:t>
            </a:r>
            <a:endParaRPr/>
          </a:p>
          <a:p>
            <a:pPr indent="-1841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0" i="0" lang="en-IN" sz="16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It can be of any type like integer, character, float, etc. depending on the Initialization.</a:t>
            </a:r>
            <a:endParaRPr b="0" i="0" sz="1600" u="none" cap="none" strike="noStrike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5135526" y="494227"/>
            <a:ext cx="4208295" cy="7736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Two-dimensional array </a:t>
            </a:r>
            <a:r>
              <a:rPr b="0" i="0" lang="en-IN" sz="14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declaration and Initialization </a:t>
            </a:r>
            <a:r>
              <a:rPr b="0" i="0" lang="en-IN" sz="14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Syntax:</a:t>
            </a:r>
            <a:endParaRPr b="0" i="0" sz="1400" u="none" cap="none" strike="noStrike">
              <a:solidFill>
                <a:srgbClr val="164924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grpSp>
        <p:nvGrpSpPr>
          <p:cNvPr id="160" name="Google Shape;160;p4"/>
          <p:cNvGrpSpPr/>
          <p:nvPr/>
        </p:nvGrpSpPr>
        <p:grpSpPr>
          <a:xfrm>
            <a:off x="5114972" y="1528218"/>
            <a:ext cx="3992833" cy="2309484"/>
            <a:chOff x="4944840" y="904976"/>
            <a:chExt cx="4162966" cy="2407890"/>
          </a:xfrm>
        </p:grpSpPr>
        <p:sp>
          <p:nvSpPr>
            <p:cNvPr id="161" name="Google Shape;161;p4"/>
            <p:cNvSpPr txBox="1"/>
            <p:nvPr/>
          </p:nvSpPr>
          <p:spPr>
            <a:xfrm>
              <a:off x="5486754" y="1830634"/>
              <a:ext cx="3621052" cy="1482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400" u="none" cap="none" strike="noStrike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int students[4][2] = 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400" u="none" cap="none" strike="noStrike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{ 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400" u="none" cap="none" strike="noStrike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{101, 102, 103, 104}, {89, 95, 75, 82} 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400" u="none" cap="none" strike="noStrike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}</a:t>
              </a:r>
              <a:r>
                <a:rPr b="0" i="0" lang="en-IN" sz="1400" u="none" cap="none" strike="noStrike">
                  <a:solidFill>
                    <a:schemeClr val="dk1"/>
                  </a:solidFill>
                  <a:latin typeface="Chivo"/>
                  <a:ea typeface="Chivo"/>
                  <a:cs typeface="Chivo"/>
                  <a:sym typeface="Chivo"/>
                </a:rPr>
                <a:t>;</a:t>
              </a:r>
              <a:endParaRPr b="0" i="0" sz="1400" u="none" cap="none" strike="noStrike">
                <a:solidFill>
                  <a:srgbClr val="164924"/>
                </a:solidFill>
                <a:latin typeface="Chivo"/>
                <a:ea typeface="Chivo"/>
                <a:cs typeface="Chivo"/>
                <a:sym typeface="Chivo"/>
              </a:endParaRPr>
            </a:p>
          </p:txBody>
        </p:sp>
        <p:sp>
          <p:nvSpPr>
            <p:cNvPr id="162" name="Google Shape;162;p4"/>
            <p:cNvSpPr txBox="1"/>
            <p:nvPr/>
          </p:nvSpPr>
          <p:spPr>
            <a:xfrm>
              <a:off x="4944840" y="1079069"/>
              <a:ext cx="1111031" cy="4197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200" u="none" cap="none" strike="noStrike">
                  <a:solidFill>
                    <a:srgbClr val="C00000"/>
                  </a:solidFill>
                  <a:latin typeface="Chivo"/>
                  <a:ea typeface="Chivo"/>
                  <a:cs typeface="Chivo"/>
                  <a:sym typeface="Chivo"/>
                </a:rPr>
                <a:t>data_type</a:t>
              </a:r>
              <a:endParaRPr b="0" i="0" sz="12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endParaRPr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5869534" y="965354"/>
              <a:ext cx="1237072" cy="4197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200" u="none" cap="none" strike="noStrike">
                  <a:solidFill>
                    <a:srgbClr val="C00000"/>
                  </a:solidFill>
                  <a:latin typeface="Chivo"/>
                  <a:ea typeface="Chivo"/>
                  <a:cs typeface="Chivo"/>
                  <a:sym typeface="Chivo"/>
                </a:rPr>
                <a:t>array_name</a:t>
              </a:r>
              <a:endParaRPr b="0" i="0" sz="12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7164455" y="904976"/>
              <a:ext cx="1169531" cy="4197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200" u="none" cap="none" strike="noStrike">
                  <a:solidFill>
                    <a:srgbClr val="C00000"/>
                  </a:solidFill>
                  <a:latin typeface="Chivo"/>
                  <a:ea typeface="Chivo"/>
                  <a:cs typeface="Chivo"/>
                  <a:sym typeface="Chivo"/>
                </a:rPr>
                <a:t>[row_size]</a:t>
              </a:r>
              <a:endParaRPr b="0" i="0" sz="12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endParaRPr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7772720" y="1266507"/>
              <a:ext cx="1331273" cy="4197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200" u="none" cap="none" strike="noStrike">
                  <a:solidFill>
                    <a:srgbClr val="C00000"/>
                  </a:solidFill>
                  <a:latin typeface="Chivo"/>
                  <a:ea typeface="Chivo"/>
                  <a:cs typeface="Chivo"/>
                  <a:sym typeface="Chivo"/>
                </a:rPr>
                <a:t>[column_size]</a:t>
              </a:r>
              <a:endParaRPr b="0" i="0" sz="12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endParaRPr>
            </a:p>
          </p:txBody>
        </p:sp>
        <p:cxnSp>
          <p:nvCxnSpPr>
            <p:cNvPr id="166" name="Google Shape;166;p4"/>
            <p:cNvCxnSpPr/>
            <p:nvPr/>
          </p:nvCxnSpPr>
          <p:spPr>
            <a:xfrm rot="10800000">
              <a:off x="5398344" y="1408910"/>
              <a:ext cx="292697" cy="520315"/>
            </a:xfrm>
            <a:prstGeom prst="straightConnector1">
              <a:avLst/>
            </a:prstGeom>
            <a:noFill/>
            <a:ln cap="flat" cmpd="sng" w="9525">
              <a:solidFill>
                <a:srgbClr val="00206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7" name="Google Shape;167;p4"/>
            <p:cNvCxnSpPr/>
            <p:nvPr/>
          </p:nvCxnSpPr>
          <p:spPr>
            <a:xfrm flipH="1" rot="10800000">
              <a:off x="6200590" y="1326082"/>
              <a:ext cx="50462" cy="561597"/>
            </a:xfrm>
            <a:prstGeom prst="straightConnector1">
              <a:avLst/>
            </a:prstGeom>
            <a:noFill/>
            <a:ln cap="flat" cmpd="sng" w="9525">
              <a:solidFill>
                <a:srgbClr val="00206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8" name="Google Shape;168;p4"/>
            <p:cNvCxnSpPr/>
            <p:nvPr/>
          </p:nvCxnSpPr>
          <p:spPr>
            <a:xfrm flipH="1" rot="10800000">
              <a:off x="6615882" y="1274695"/>
              <a:ext cx="793263" cy="654530"/>
            </a:xfrm>
            <a:prstGeom prst="straightConnector1">
              <a:avLst/>
            </a:prstGeom>
            <a:noFill/>
            <a:ln cap="flat" cmpd="sng" w="9525">
              <a:solidFill>
                <a:srgbClr val="00206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9" name="Google Shape;169;p4"/>
            <p:cNvCxnSpPr/>
            <p:nvPr/>
          </p:nvCxnSpPr>
          <p:spPr>
            <a:xfrm flipH="1" rot="10800000">
              <a:off x="6862561" y="1556572"/>
              <a:ext cx="1106595" cy="372653"/>
            </a:xfrm>
            <a:prstGeom prst="straightConnector1">
              <a:avLst/>
            </a:prstGeom>
            <a:noFill/>
            <a:ln cap="flat" cmpd="sng" w="9525">
              <a:solidFill>
                <a:srgbClr val="00206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70" name="Google Shape;170;p4"/>
          <p:cNvGrpSpPr/>
          <p:nvPr/>
        </p:nvGrpSpPr>
        <p:grpSpPr>
          <a:xfrm>
            <a:off x="6428162" y="3425742"/>
            <a:ext cx="1520456" cy="447870"/>
            <a:chOff x="1509823" y="3880232"/>
            <a:chExt cx="1520456" cy="447870"/>
          </a:xfrm>
        </p:grpSpPr>
        <p:cxnSp>
          <p:nvCxnSpPr>
            <p:cNvPr id="171" name="Google Shape;171;p4"/>
            <p:cNvCxnSpPr/>
            <p:nvPr/>
          </p:nvCxnSpPr>
          <p:spPr>
            <a:xfrm>
              <a:off x="1509823" y="4104167"/>
              <a:ext cx="1520456" cy="0"/>
            </a:xfrm>
            <a:prstGeom prst="straightConnector1">
              <a:avLst/>
            </a:prstGeom>
            <a:noFill/>
            <a:ln cap="flat" cmpd="sng" w="9525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4"/>
            <p:cNvCxnSpPr/>
            <p:nvPr/>
          </p:nvCxnSpPr>
          <p:spPr>
            <a:xfrm>
              <a:off x="1509823" y="3880232"/>
              <a:ext cx="0" cy="223935"/>
            </a:xfrm>
            <a:prstGeom prst="straightConnector1">
              <a:avLst/>
            </a:prstGeom>
            <a:noFill/>
            <a:ln cap="flat" cmpd="sng" w="9525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" name="Google Shape;173;p4"/>
            <p:cNvCxnSpPr/>
            <p:nvPr/>
          </p:nvCxnSpPr>
          <p:spPr>
            <a:xfrm>
              <a:off x="3030279" y="3880232"/>
              <a:ext cx="0" cy="223935"/>
            </a:xfrm>
            <a:prstGeom prst="straightConnector1">
              <a:avLst/>
            </a:prstGeom>
            <a:noFill/>
            <a:ln cap="flat" cmpd="sng" w="9525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" name="Google Shape;174;p4"/>
            <p:cNvCxnSpPr/>
            <p:nvPr/>
          </p:nvCxnSpPr>
          <p:spPr>
            <a:xfrm>
              <a:off x="2287329" y="4104167"/>
              <a:ext cx="0" cy="223935"/>
            </a:xfrm>
            <a:prstGeom prst="straightConnector1">
              <a:avLst/>
            </a:prstGeom>
            <a:noFill/>
            <a:ln cap="flat" cmpd="sng" w="9525">
              <a:solidFill>
                <a:srgbClr val="00206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5" name="Google Shape;175;p4"/>
          <p:cNvSpPr txBox="1"/>
          <p:nvPr/>
        </p:nvSpPr>
        <p:spPr>
          <a:xfrm>
            <a:off x="5846687" y="3806252"/>
            <a:ext cx="3049169" cy="10770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Here, an array students[4][2] can hold a total of 4×2 = 8 elements. You can imagine a two-dimensional array as a matrix. A matrix of 4 rows and each row has 2 columns.</a:t>
            </a:r>
            <a:endParaRPr b="0" i="0" sz="1000" u="none" cap="none" strike="noStrike">
              <a:solidFill>
                <a:srgbClr val="164924"/>
              </a:solidFill>
              <a:latin typeface="Chivo"/>
              <a:ea typeface="Chivo"/>
              <a:cs typeface="Chivo"/>
              <a:sym typeface="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81" name="Google Shape;181;p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4951379" y="0"/>
              <a:ext cx="4192621" cy="5143500"/>
            </a:xfrm>
            <a:prstGeom prst="rect">
              <a:avLst/>
            </a:prstGeom>
            <a:solidFill>
              <a:srgbClr val="94B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</a:t>
              </a:r>
              <a:endParaRPr/>
            </a:p>
          </p:txBody>
        </p:sp>
      </p:grpSp>
      <p:sp>
        <p:nvSpPr>
          <p:cNvPr id="183" name="Google Shape;183;p5"/>
          <p:cNvSpPr txBox="1"/>
          <p:nvPr/>
        </p:nvSpPr>
        <p:spPr>
          <a:xfrm>
            <a:off x="95693" y="106737"/>
            <a:ext cx="4476307" cy="5560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4E3E27"/>
                </a:solidFill>
                <a:latin typeface="Anton"/>
                <a:ea typeface="Anton"/>
                <a:cs typeface="Anton"/>
                <a:sym typeface="Anton"/>
              </a:rPr>
              <a:t>Example of 2D array ..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95693" y="489393"/>
            <a:ext cx="5099331" cy="47608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#include&lt;stdio.h&gt;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int 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int arr[10][10], row, col, i, j;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printf("Enter Row Size of Array (max. 10): ");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scanf("%d", &amp;row);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printf("Enter Column Size of Array (max. 10): ");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scanf("%d", &amp;col);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printf("\nEnter %d Array Elements:\n", row*col);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printf("-------------------------------\n");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for(i=0; i&lt;row; i++)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  for(j=0; j&lt;col; j++)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      scanf("%d", &amp;arr[i][j]);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printf("\nThe Array is:\n");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printf("-------------------------------\n");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for(i=0; i&lt;row; i++)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  for(j=0; j&lt;col; j++)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      printf("%d ", arr[i][j]);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  printf("\n");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getch();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return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9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}</a:t>
            </a:r>
            <a:endParaRPr/>
          </a:p>
        </p:txBody>
      </p:sp>
      <p:pic>
        <p:nvPicPr>
          <p:cNvPr id="185" name="Google Shape;1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1371" y="762955"/>
            <a:ext cx="3172636" cy="380238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91" name="Google Shape;191;p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4951379" y="0"/>
              <a:ext cx="4192621" cy="5143500"/>
            </a:xfrm>
            <a:prstGeom prst="rect">
              <a:avLst/>
            </a:prstGeom>
            <a:solidFill>
              <a:srgbClr val="94B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</a:t>
              </a:r>
              <a:endParaRPr/>
            </a:p>
          </p:txBody>
        </p:sp>
      </p:grpSp>
      <p:sp>
        <p:nvSpPr>
          <p:cNvPr id="193" name="Google Shape;193;p6"/>
          <p:cNvSpPr txBox="1"/>
          <p:nvPr/>
        </p:nvSpPr>
        <p:spPr>
          <a:xfrm>
            <a:off x="0" y="106737"/>
            <a:ext cx="5306232" cy="5560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800" u="none" cap="none" strike="noStrike">
                <a:solidFill>
                  <a:srgbClr val="4E3E27"/>
                </a:solidFill>
                <a:latin typeface="Anton"/>
                <a:ea typeface="Anton"/>
                <a:cs typeface="Anton"/>
                <a:sym typeface="Anton"/>
              </a:rPr>
              <a:t>Three-dimensional array [3d] 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36195" y="855149"/>
            <a:ext cx="4883285" cy="34854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0" i="0" lang="en-IN" sz="16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Three dimensional array is form of a Multidimensional array.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252525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0" i="0" lang="en-IN" sz="16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3D array is a multi-dimensional array used to store 3-dimensional information.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252525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0" i="0" lang="en-IN" sz="16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3D array is essentially an array of arrays of arrays : it's an array or collection  2D array. and a 2D array is an array of 1D array.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252525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0" i="0" lang="en-IN" sz="16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It can be of any type like integer, character, float, etc. depending on the Initialization.</a:t>
            </a:r>
            <a:endParaRPr b="0" i="0" sz="1600" u="none" cap="none" strike="noStrike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5135526" y="494227"/>
            <a:ext cx="4208295" cy="7736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Three-dimensional array </a:t>
            </a:r>
            <a:r>
              <a:rPr b="0" i="0" lang="en-IN" sz="14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declaration and Initialization </a:t>
            </a:r>
            <a:r>
              <a:rPr b="0" i="0" lang="en-IN" sz="14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Syntax:</a:t>
            </a:r>
            <a:endParaRPr b="0" i="0" sz="1400" u="none" cap="none" strike="noStrike">
              <a:solidFill>
                <a:srgbClr val="164924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5571039" y="2333724"/>
            <a:ext cx="2924375" cy="16886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int arr[3][4][2] =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rPr>
              <a:t>{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5252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rPr>
              <a:t>{2, 4}, {7, 8}, {3, 4}, {5, 6} },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rPr>
              <a:t>{ {7, 6}, {3, 4}, {5, 3}, {2, 3} },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rPr>
              <a:t>{ {8, 9}, {7, 2}, {3, 4}, {5, 1} }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5252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rPr>
              <a:t>};</a:t>
            </a:r>
            <a:r>
              <a:rPr b="0" i="0" lang="en-IN" sz="1400" u="none" cap="none" strike="noStrike">
                <a:solidFill>
                  <a:srgbClr val="252525"/>
                </a:solidFill>
                <a:latin typeface="Chivo"/>
                <a:ea typeface="Chivo"/>
                <a:cs typeface="Chivo"/>
                <a:sym typeface="Chivo"/>
              </a:rPr>
              <a:t> 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5051272" y="1612873"/>
            <a:ext cx="1065624" cy="4026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rPr>
              <a:t>data_type</a:t>
            </a:r>
            <a:endParaRPr b="0" i="0" sz="1200" u="none" cap="none" strike="noStrike">
              <a:solidFill>
                <a:srgbClr val="C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5799365" y="1337971"/>
            <a:ext cx="1186515" cy="4026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rPr>
              <a:t>array_name</a:t>
            </a:r>
            <a:endParaRPr b="0" i="0" sz="1200" u="none" cap="none" strike="noStrike">
              <a:solidFill>
                <a:srgbClr val="C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7598559" y="1432224"/>
            <a:ext cx="1276865" cy="4026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rPr>
              <a:t>[row_size]</a:t>
            </a:r>
            <a:endParaRPr b="0" i="0" sz="1200" u="none" cap="none" strike="noStrike">
              <a:solidFill>
                <a:srgbClr val="C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7763583" y="1792649"/>
            <a:ext cx="1276866" cy="4026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rPr>
              <a:t>[column_size]</a:t>
            </a:r>
            <a:endParaRPr b="0" i="0" sz="1200" u="none" cap="none" strike="noStrike">
              <a:solidFill>
                <a:srgbClr val="C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cxnSp>
        <p:nvCxnSpPr>
          <p:cNvPr id="201" name="Google Shape;201;p6"/>
          <p:cNvCxnSpPr/>
          <p:nvPr/>
        </p:nvCxnSpPr>
        <p:spPr>
          <a:xfrm rot="10800000">
            <a:off x="5486244" y="1929232"/>
            <a:ext cx="280735" cy="499051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6"/>
          <p:cNvCxnSpPr/>
          <p:nvPr/>
        </p:nvCxnSpPr>
        <p:spPr>
          <a:xfrm flipH="1" rot="10800000">
            <a:off x="6116896" y="1655374"/>
            <a:ext cx="65928" cy="73372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6"/>
          <p:cNvCxnSpPr/>
          <p:nvPr/>
        </p:nvCxnSpPr>
        <p:spPr>
          <a:xfrm flipH="1" rot="10800000">
            <a:off x="6551868" y="1729520"/>
            <a:ext cx="1120286" cy="698456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6"/>
          <p:cNvCxnSpPr/>
          <p:nvPr/>
        </p:nvCxnSpPr>
        <p:spPr>
          <a:xfrm flipH="1" rot="10800000">
            <a:off x="6755546" y="2070859"/>
            <a:ext cx="1196447" cy="368174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" name="Google Shape;205;p6"/>
          <p:cNvCxnSpPr/>
          <p:nvPr/>
        </p:nvCxnSpPr>
        <p:spPr>
          <a:xfrm flipH="1" rot="10800000">
            <a:off x="6294974" y="1406354"/>
            <a:ext cx="921145" cy="1021928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6" name="Google Shape;206;p6"/>
          <p:cNvSpPr txBox="1"/>
          <p:nvPr/>
        </p:nvSpPr>
        <p:spPr>
          <a:xfrm>
            <a:off x="7041291" y="1121104"/>
            <a:ext cx="1121734" cy="4026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rgbClr val="C00000"/>
                </a:solidFill>
                <a:latin typeface="Chivo"/>
                <a:ea typeface="Chivo"/>
                <a:cs typeface="Chivo"/>
                <a:sym typeface="Chivo"/>
              </a:rPr>
              <a:t>[block_size]</a:t>
            </a:r>
            <a:endParaRPr b="0" i="0" sz="1200" u="none" cap="none" strike="noStrike">
              <a:solidFill>
                <a:srgbClr val="C00000"/>
              </a:solidFill>
              <a:latin typeface="Chivo"/>
              <a:ea typeface="Chivo"/>
              <a:cs typeface="Chivo"/>
              <a:sym typeface="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12" name="Google Shape;212;p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4951379" y="0"/>
              <a:ext cx="4192621" cy="5143500"/>
            </a:xfrm>
            <a:prstGeom prst="rect">
              <a:avLst/>
            </a:prstGeom>
            <a:solidFill>
              <a:srgbClr val="94B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</a:t>
              </a:r>
              <a:endParaRPr/>
            </a:p>
          </p:txBody>
        </p:sp>
      </p:grpSp>
      <p:sp>
        <p:nvSpPr>
          <p:cNvPr id="214" name="Google Shape;214;p7"/>
          <p:cNvSpPr txBox="1"/>
          <p:nvPr/>
        </p:nvSpPr>
        <p:spPr>
          <a:xfrm>
            <a:off x="95693" y="106737"/>
            <a:ext cx="4476307" cy="5560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4E3E27"/>
                </a:solidFill>
                <a:latin typeface="Anton"/>
                <a:ea typeface="Anton"/>
                <a:cs typeface="Anton"/>
                <a:sym typeface="Anton"/>
              </a:rPr>
              <a:t>Example of 3D array ..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95693" y="489393"/>
            <a:ext cx="5099331" cy="47608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#include&lt;stdio.h&gt;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#include&lt;conio.h&gt;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int main()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int i, j, k;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int arr[3][4][2] =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{ {2, 4}, {7, 8}, {3, 4}, {5, 6} },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{ {7, 6}, {3, 4}, {5, 3}, {2, 3} },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{ {8, 9}, {7, 2}, {3, 4}, {5, 1}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};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for(i=0; i&lt;3; i++)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for(j=0; j&lt;4; j++)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   for(k=0; k&lt;2; k++)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      printf("%d  ", arr[i][j][k]);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   printf("\n");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   printf("\n");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getch();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  return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}</a:t>
            </a:r>
            <a:endParaRPr/>
          </a:p>
        </p:txBody>
      </p:sp>
      <p:pic>
        <p:nvPicPr>
          <p:cNvPr id="216" name="Google Shape;2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2341" y="793323"/>
            <a:ext cx="3314342" cy="3556854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22" name="Google Shape;222;p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4951379" y="0"/>
              <a:ext cx="4192621" cy="5143500"/>
            </a:xfrm>
            <a:prstGeom prst="rect">
              <a:avLst/>
            </a:prstGeom>
            <a:solidFill>
              <a:srgbClr val="94BEB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</a:t>
              </a:r>
              <a:endParaRPr/>
            </a:p>
          </p:txBody>
        </p:sp>
      </p:grpSp>
      <p:sp>
        <p:nvSpPr>
          <p:cNvPr id="224" name="Google Shape;224;p8"/>
          <p:cNvSpPr txBox="1"/>
          <p:nvPr/>
        </p:nvSpPr>
        <p:spPr>
          <a:xfrm>
            <a:off x="3485486" y="1993901"/>
            <a:ext cx="3410614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400" u="none" cap="none" strike="noStrike">
                <a:solidFill>
                  <a:srgbClr val="4D3E26"/>
                </a:solidFill>
                <a:latin typeface="Anton"/>
                <a:ea typeface="Anton"/>
                <a:cs typeface="Anton"/>
                <a:sym typeface="Anton"/>
              </a:rPr>
              <a:t>Thank You !</a:t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0" y="4397100"/>
            <a:ext cx="746400" cy="746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46483" y="4397100"/>
            <a:ext cx="746400" cy="746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492967" y="4397100"/>
            <a:ext cx="746400" cy="746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023092" y="4351625"/>
            <a:ext cx="469800" cy="469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 rot="10800000">
            <a:off x="0" y="4397100"/>
            <a:ext cx="746400" cy="7464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 rot="10800000">
            <a:off x="8389067" y="0"/>
            <a:ext cx="746400" cy="746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 rot="10800000">
            <a:off x="7642583" y="0"/>
            <a:ext cx="746400" cy="746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 rot="10800000">
            <a:off x="6896100" y="0"/>
            <a:ext cx="746400" cy="7464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 rot="10800000">
            <a:off x="7642575" y="322075"/>
            <a:ext cx="469800" cy="469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389067" y="0"/>
            <a:ext cx="746400" cy="7464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hs for Middle School - 6th Grade: Number Sense and Operations by Slidesgo">
  <a:themeElements>
    <a:clrScheme name="Simple Light">
      <a:dk1>
        <a:srgbClr val="31221F"/>
      </a:dk1>
      <a:lt1>
        <a:srgbClr val="FFFFFF"/>
      </a:lt1>
      <a:dk2>
        <a:srgbClr val="595959"/>
      </a:dk2>
      <a:lt2>
        <a:srgbClr val="EEEEEE"/>
      </a:lt2>
      <a:accent1>
        <a:srgbClr val="F0EAE1"/>
      </a:accent1>
      <a:accent2>
        <a:srgbClr val="EAC304"/>
      </a:accent2>
      <a:accent3>
        <a:srgbClr val="E36729"/>
      </a:accent3>
      <a:accent4>
        <a:srgbClr val="94BEBA"/>
      </a:accent4>
      <a:accent5>
        <a:srgbClr val="2E9249"/>
      </a:accent5>
      <a:accent6>
        <a:srgbClr val="31221F"/>
      </a:accent6>
      <a:hlink>
        <a:srgbClr val="31221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Khondokar Saim</dc:creator>
</cp:coreProperties>
</file>