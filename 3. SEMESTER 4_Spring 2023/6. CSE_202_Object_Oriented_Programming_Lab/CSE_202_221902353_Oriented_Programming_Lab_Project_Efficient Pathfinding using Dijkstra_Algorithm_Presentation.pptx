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1"/>
  </p:notesMasterIdLst>
  <p:sldIdLst>
    <p:sldId id="256" r:id="rId2"/>
    <p:sldId id="297" r:id="rId3"/>
    <p:sldId id="262" r:id="rId4"/>
    <p:sldId id="293" r:id="rId5"/>
    <p:sldId id="294" r:id="rId6"/>
    <p:sldId id="295" r:id="rId7"/>
    <p:sldId id="292" r:id="rId8"/>
    <p:sldId id="296" r:id="rId9"/>
    <p:sldId id="291" r:id="rId10"/>
  </p:sldIdLst>
  <p:sldSz cx="9144000" cy="5143500" type="screen16x9"/>
  <p:notesSz cx="6858000" cy="9144000"/>
  <p:embeddedFontLst>
    <p:embeddedFont>
      <p:font typeface="Catamaran" panose="020B0604020202020204" charset="0"/>
      <p:regular r:id="rId12"/>
      <p:bold r:id="rId13"/>
    </p:embeddedFont>
    <p:embeddedFont>
      <p:font typeface="Quantico" panose="020B0604020202020204" charset="0"/>
      <p:regular r:id="rId14"/>
      <p:bold r:id="rId15"/>
      <p:italic r:id="rId16"/>
      <p:boldItalic r:id="rId17"/>
    </p:embeddedFont>
    <p:embeddedFont>
      <p:font typeface="Bebas Neue" panose="020B060402020202020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200FC4-9149-46CE-8A2E-97B2C3FCE71E}">
  <a:tblStyle styleId="{90200FC4-9149-46CE-8A2E-97B2C3FCE7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93776" autoAdjust="0"/>
  </p:normalViewPr>
  <p:slideViewPr>
    <p:cSldViewPr snapToGrid="0">
      <p:cViewPr>
        <p:scale>
          <a:sx n="75" d="100"/>
          <a:sy n="75" d="100"/>
        </p:scale>
        <p:origin x="1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989f454a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1989f454a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2087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5460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4299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7081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8682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5669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10a7be6e973_0_1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10a7be6e973_0_1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05300" y="539500"/>
            <a:ext cx="77334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82945" y="3943275"/>
            <a:ext cx="2516700" cy="6561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750550" y="1626076"/>
            <a:ext cx="3821400" cy="11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-7200" y="-14375"/>
            <a:ext cx="9151200" cy="51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1101000" y="539500"/>
            <a:ext cx="385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066800" y="1615000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4948250" y="122397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066800" y="1225017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066800" y="2445956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5" hasCustomPrompt="1"/>
          </p:nvPr>
        </p:nvSpPr>
        <p:spPr>
          <a:xfrm>
            <a:off x="4948250" y="2062050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1066800" y="2053951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1066800" y="3293178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8" hasCustomPrompt="1"/>
          </p:nvPr>
        </p:nvSpPr>
        <p:spPr>
          <a:xfrm>
            <a:off x="4948250" y="2900125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1066800" y="2902441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1066800" y="4128938"/>
            <a:ext cx="3852000" cy="37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4948250" y="3738200"/>
            <a:ext cx="7314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1066800" y="3738200"/>
            <a:ext cx="3852000" cy="3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200" b="1"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996750" y="3122507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title" idx="2"/>
          </p:nvPr>
        </p:nvSpPr>
        <p:spPr>
          <a:xfrm>
            <a:off x="5166450" y="3122507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1"/>
          </p:nvPr>
        </p:nvSpPr>
        <p:spPr>
          <a:xfrm>
            <a:off x="5166150" y="3534315"/>
            <a:ext cx="29814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3"/>
          </p:nvPr>
        </p:nvSpPr>
        <p:spPr>
          <a:xfrm>
            <a:off x="996750" y="3534315"/>
            <a:ext cx="29808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title" idx="4"/>
          </p:nvPr>
        </p:nvSpPr>
        <p:spPr>
          <a:xfrm>
            <a:off x="720000" y="53949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975100" y="539498"/>
            <a:ext cx="4294800" cy="1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3"/>
          <p:cNvSpPr txBox="1">
            <a:spLocks noGrp="1"/>
          </p:cNvSpPr>
          <p:nvPr>
            <p:ph type="subTitle" idx="1"/>
          </p:nvPr>
        </p:nvSpPr>
        <p:spPr>
          <a:xfrm>
            <a:off x="975093" y="1753036"/>
            <a:ext cx="34347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3"/>
          <p:cNvSpPr txBox="1"/>
          <p:nvPr/>
        </p:nvSpPr>
        <p:spPr>
          <a:xfrm>
            <a:off x="975100" y="4217050"/>
            <a:ext cx="3690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34"/>
          <p:cNvGrpSpPr/>
          <p:nvPr/>
        </p:nvGrpSpPr>
        <p:grpSpPr>
          <a:xfrm rot="-5400000" flipH="1">
            <a:off x="687433" y="4099490"/>
            <a:ext cx="302065" cy="1520982"/>
            <a:chOff x="-108754" y="2690919"/>
            <a:chExt cx="302065" cy="1520982"/>
          </a:xfrm>
        </p:grpSpPr>
        <p:sp>
          <p:nvSpPr>
            <p:cNvPr id="318" name="Google Shape;318;p3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34"/>
          <p:cNvGrpSpPr/>
          <p:nvPr/>
        </p:nvGrpSpPr>
        <p:grpSpPr>
          <a:xfrm rot="-5400000" flipH="1">
            <a:off x="8129358" y="-431685"/>
            <a:ext cx="302065" cy="1520982"/>
            <a:chOff x="-108754" y="2690919"/>
            <a:chExt cx="302065" cy="1520982"/>
          </a:xfrm>
        </p:grpSpPr>
        <p:sp>
          <p:nvSpPr>
            <p:cNvPr id="324" name="Google Shape;324;p3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34"/>
          <p:cNvGrpSpPr/>
          <p:nvPr/>
        </p:nvGrpSpPr>
        <p:grpSpPr>
          <a:xfrm rot="5400000" flipH="1">
            <a:off x="8503950" y="153833"/>
            <a:ext cx="98902" cy="553090"/>
            <a:chOff x="4898850" y="4820550"/>
            <a:chExt cx="98902" cy="553090"/>
          </a:xfrm>
        </p:grpSpPr>
        <p:sp>
          <p:nvSpPr>
            <p:cNvPr id="330" name="Google Shape;330;p3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5"/>
          <p:cNvGrpSpPr/>
          <p:nvPr/>
        </p:nvGrpSpPr>
        <p:grpSpPr>
          <a:xfrm>
            <a:off x="7348717" y="137479"/>
            <a:ext cx="1823016" cy="296643"/>
            <a:chOff x="7857346" y="3902355"/>
            <a:chExt cx="1823016" cy="296643"/>
          </a:xfrm>
        </p:grpSpPr>
        <p:sp>
          <p:nvSpPr>
            <p:cNvPr id="337" name="Google Shape;337;p3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-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17750" y="539496"/>
            <a:ext cx="770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Quantico"/>
              <a:buNone/>
              <a:defRPr sz="3200" b="1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●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○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■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●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○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■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●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○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tamaran"/>
              <a:buChar char="■"/>
              <a:defRPr sz="15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1" r:id="rId4"/>
    <p:sldLayoutId id="2147483679" r:id="rId5"/>
    <p:sldLayoutId id="2147483680" r:id="rId6"/>
    <p:sldLayoutId id="214748368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>
            <a:spLocks noGrp="1"/>
          </p:cNvSpPr>
          <p:nvPr>
            <p:ph type="ctrTitle"/>
          </p:nvPr>
        </p:nvSpPr>
        <p:spPr>
          <a:xfrm>
            <a:off x="557004" y="1557381"/>
            <a:ext cx="4127084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CSE 202 </a:t>
            </a:r>
            <a:r>
              <a:rPr lang="en-US" dirty="0" smtClean="0"/>
              <a:t>LAB Project</a:t>
            </a:r>
            <a:endParaRPr dirty="0"/>
          </a:p>
        </p:txBody>
      </p:sp>
      <p:sp>
        <p:nvSpPr>
          <p:cNvPr id="355" name="Google Shape;355;p39"/>
          <p:cNvSpPr txBox="1">
            <a:spLocks noGrp="1"/>
          </p:cNvSpPr>
          <p:nvPr>
            <p:ph type="ctrTitle" idx="2"/>
          </p:nvPr>
        </p:nvSpPr>
        <p:spPr>
          <a:xfrm>
            <a:off x="602176" y="2040081"/>
            <a:ext cx="4081912" cy="14436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Efficient Pathfinding </a:t>
            </a:r>
            <a:r>
              <a:rPr lang="en-US" sz="2400" dirty="0" smtClean="0"/>
              <a:t>using </a:t>
            </a:r>
            <a:r>
              <a:rPr lang="en-US" sz="2400" dirty="0" err="1" smtClean="0"/>
              <a:t>Dijkstra's</a:t>
            </a:r>
            <a:r>
              <a:rPr lang="en-US" sz="2400" dirty="0" smtClean="0"/>
              <a:t> </a:t>
            </a:r>
            <a:r>
              <a:rPr lang="en-US" sz="2400" dirty="0"/>
              <a:t>Algorithm</a:t>
            </a:r>
            <a:endParaRPr sz="2400" dirty="0"/>
          </a:p>
        </p:txBody>
      </p:sp>
      <p:pic>
        <p:nvPicPr>
          <p:cNvPr id="357" name="Google Shape;357;p39"/>
          <p:cNvPicPr preferRelativeResize="0"/>
          <p:nvPr/>
        </p:nvPicPr>
        <p:blipFill rotWithShape="1">
          <a:blip r:embed="rId3">
            <a:alphaModFix/>
          </a:blip>
          <a:srcRect l="6369" r="6369"/>
          <a:stretch/>
        </p:blipFill>
        <p:spPr>
          <a:xfrm>
            <a:off x="5014200" y="1188341"/>
            <a:ext cx="4126500" cy="3151899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8" name="Google Shape;358;p39"/>
          <p:cNvSpPr/>
          <p:nvPr/>
        </p:nvSpPr>
        <p:spPr>
          <a:xfrm>
            <a:off x="628103" y="2227230"/>
            <a:ext cx="3991091" cy="86299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00" y="1188340"/>
            <a:ext cx="4126499" cy="3151899"/>
          </a:xfrm>
          <a:prstGeom prst="rect">
            <a:avLst/>
          </a:prstGeom>
        </p:spPr>
      </p:pic>
      <p:sp>
        <p:nvSpPr>
          <p:cNvPr id="9" name="Google Shape;358;p39"/>
          <p:cNvSpPr/>
          <p:nvPr/>
        </p:nvSpPr>
        <p:spPr>
          <a:xfrm>
            <a:off x="628103" y="3188825"/>
            <a:ext cx="3991091" cy="86299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53;p39"/>
          <p:cNvSpPr txBox="1">
            <a:spLocks/>
          </p:cNvSpPr>
          <p:nvPr/>
        </p:nvSpPr>
        <p:spPr>
          <a:xfrm>
            <a:off x="557004" y="3386539"/>
            <a:ext cx="4127084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Quantico"/>
              <a:buNone/>
              <a:defRPr sz="28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dirty="0" smtClean="0"/>
              <a:t>KHONDOKAR SAIM</a:t>
            </a:r>
          </a:p>
          <a:p>
            <a:r>
              <a:rPr lang="en-US" sz="1800" dirty="0" smtClean="0"/>
              <a:t>221902353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/>
          <p:nvPr/>
        </p:nvSpPr>
        <p:spPr>
          <a:xfrm flipH="1">
            <a:off x="1483360" y="697320"/>
            <a:ext cx="3337560" cy="45719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2" name="Google Shape;402;p42"/>
          <p:cNvPicPr preferRelativeResize="0"/>
          <p:nvPr/>
        </p:nvPicPr>
        <p:blipFill rotWithShape="1">
          <a:blip r:embed="rId3">
            <a:alphaModFix/>
          </a:blip>
          <a:srcRect t="7418" b="7409"/>
          <a:stretch/>
        </p:blipFill>
        <p:spPr>
          <a:xfrm rot="5400000">
            <a:off x="5260188" y="1423112"/>
            <a:ext cx="4039249" cy="2292875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3" name="Google Shape;403;p42"/>
          <p:cNvSpPr txBox="1">
            <a:spLocks noGrp="1"/>
          </p:cNvSpPr>
          <p:nvPr>
            <p:ph type="title"/>
          </p:nvPr>
        </p:nvSpPr>
        <p:spPr>
          <a:xfrm>
            <a:off x="1101000" y="240120"/>
            <a:ext cx="3852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04" name="Google Shape;404;p42"/>
          <p:cNvSpPr txBox="1">
            <a:spLocks noGrp="1"/>
          </p:cNvSpPr>
          <p:nvPr>
            <p:ph type="title" idx="2"/>
          </p:nvPr>
        </p:nvSpPr>
        <p:spPr>
          <a:xfrm>
            <a:off x="474238" y="1016326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05" name="Google Shape;405;p42"/>
          <p:cNvSpPr txBox="1">
            <a:spLocks noGrp="1"/>
          </p:cNvSpPr>
          <p:nvPr>
            <p:ph type="title" idx="5"/>
          </p:nvPr>
        </p:nvSpPr>
        <p:spPr>
          <a:xfrm>
            <a:off x="474238" y="1718167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06" name="Google Shape;406;p42"/>
          <p:cNvSpPr txBox="1">
            <a:spLocks noGrp="1"/>
          </p:cNvSpPr>
          <p:nvPr>
            <p:ph type="title" idx="8"/>
          </p:nvPr>
        </p:nvSpPr>
        <p:spPr>
          <a:xfrm>
            <a:off x="474238" y="2375056"/>
            <a:ext cx="7314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07" name="Google Shape;407;p42"/>
          <p:cNvSpPr txBox="1">
            <a:spLocks noGrp="1"/>
          </p:cNvSpPr>
          <p:nvPr>
            <p:ph type="title" idx="14"/>
          </p:nvPr>
        </p:nvSpPr>
        <p:spPr>
          <a:xfrm>
            <a:off x="474238" y="3031526"/>
            <a:ext cx="7314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9" name="Google Shape;407;p42"/>
          <p:cNvSpPr txBox="1">
            <a:spLocks/>
          </p:cNvSpPr>
          <p:nvPr/>
        </p:nvSpPr>
        <p:spPr>
          <a:xfrm>
            <a:off x="474238" y="3736798"/>
            <a:ext cx="7314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Quantico"/>
              <a:buNone/>
              <a:defRPr sz="3000" b="1" i="0" u="none" strike="noStrike" cap="none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 smtClean="0"/>
              <a:t>05</a:t>
            </a:r>
            <a:endParaRPr lang="en" dirty="0"/>
          </a:p>
        </p:txBody>
      </p:sp>
      <p:sp>
        <p:nvSpPr>
          <p:cNvPr id="22" name="TextBox 21"/>
          <p:cNvSpPr txBox="1"/>
          <p:nvPr/>
        </p:nvSpPr>
        <p:spPr>
          <a:xfrm>
            <a:off x="1205638" y="1087509"/>
            <a:ext cx="52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What is Efficient Pathfinding using </a:t>
            </a:r>
            <a:r>
              <a:rPr lang="en-US" sz="1800" dirty="0" err="1">
                <a:solidFill>
                  <a:schemeClr val="bg1"/>
                </a:solidFill>
              </a:rPr>
              <a:t>Dijkstra's</a:t>
            </a:r>
            <a:r>
              <a:rPr lang="en-US" sz="1800" dirty="0">
                <a:solidFill>
                  <a:schemeClr val="bg1"/>
                </a:solidFill>
              </a:rPr>
              <a:t> Algorithm?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124" y="549924"/>
            <a:ext cx="2295613" cy="4039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5638" y="1921205"/>
            <a:ext cx="527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Implementation Procedure of this </a:t>
            </a:r>
            <a:r>
              <a:rPr lang="en-US" sz="1800" dirty="0" smtClean="0">
                <a:solidFill>
                  <a:schemeClr val="bg1"/>
                </a:solidFill>
              </a:rPr>
              <a:t>project.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05638" y="2560788"/>
            <a:ext cx="527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Project Mechanism - How it </a:t>
            </a:r>
            <a:r>
              <a:rPr lang="en-US" sz="1800" dirty="0" smtClean="0">
                <a:solidFill>
                  <a:schemeClr val="bg1"/>
                </a:solidFill>
              </a:rPr>
              <a:t>works. 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05638" y="3228869"/>
            <a:ext cx="527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How </a:t>
            </a:r>
            <a:r>
              <a:rPr lang="en-US" sz="1800" dirty="0" err="1">
                <a:solidFill>
                  <a:schemeClr val="bg1"/>
                </a:solidFill>
              </a:rPr>
              <a:t>Dijkstra's</a:t>
            </a:r>
            <a:r>
              <a:rPr lang="en-US" sz="1800" dirty="0">
                <a:solidFill>
                  <a:schemeClr val="bg1"/>
                </a:solidFill>
              </a:rPr>
              <a:t> Algorithm </a:t>
            </a:r>
            <a:r>
              <a:rPr lang="en-US" sz="1800" dirty="0" smtClean="0">
                <a:solidFill>
                  <a:schemeClr val="bg1"/>
                </a:solidFill>
              </a:rPr>
              <a:t>work.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05638" y="3882939"/>
            <a:ext cx="527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dirty="0">
                <a:solidFill>
                  <a:schemeClr val="bg1"/>
                </a:solidFill>
              </a:rPr>
              <a:t>Real life scenarios of this </a:t>
            </a:r>
            <a:r>
              <a:rPr lang="en-US" sz="1800" dirty="0" smtClean="0">
                <a:solidFill>
                  <a:schemeClr val="bg1"/>
                </a:solidFill>
              </a:rPr>
              <a:t>project.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11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267315" y="176077"/>
            <a:ext cx="873694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What is Efficient Pathfinding using </a:t>
            </a:r>
            <a:r>
              <a:rPr lang="en-US" sz="2400" dirty="0" err="1"/>
              <a:t>Dijkstra's</a:t>
            </a:r>
            <a:r>
              <a:rPr lang="en-US" sz="2400" dirty="0"/>
              <a:t> Algorithm?</a:t>
            </a:r>
            <a:endParaRPr lang="en-US" sz="2400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6845300" y="47778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Page 01</a:t>
            </a:r>
            <a:endParaRPr sz="1400"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379" y="1446469"/>
            <a:ext cx="47659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Efficient pathfinding using </a:t>
            </a:r>
            <a:r>
              <a:rPr lang="en-US" dirty="0" err="1">
                <a:solidFill>
                  <a:schemeClr val="bg1"/>
                </a:solidFill>
              </a:rPr>
              <a:t>Dijkstra's</a:t>
            </a:r>
            <a:r>
              <a:rPr lang="en-US" dirty="0">
                <a:solidFill>
                  <a:schemeClr val="bg1"/>
                </a:solidFill>
              </a:rPr>
              <a:t> algorithm is a technique used to find the shortest path between two nodes in a graph.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3379" y="2456338"/>
            <a:ext cx="47659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The project focuses on finding the shortest route between two points and provides a </a:t>
            </a:r>
            <a:r>
              <a:rPr lang="en-US" dirty="0">
                <a:solidFill>
                  <a:srgbClr val="FF0000"/>
                </a:solidFill>
              </a:rPr>
              <a:t>visual representation </a:t>
            </a:r>
            <a:r>
              <a:rPr lang="en-US" dirty="0">
                <a:solidFill>
                  <a:schemeClr val="bg1"/>
                </a:solidFill>
              </a:rPr>
              <a:t>of the path for enhanced understanding and user experience.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00" y="1320800"/>
            <a:ext cx="2590800" cy="2590800"/>
          </a:xfrm>
          <a:prstGeom prst="rect">
            <a:avLst/>
          </a:prstGeom>
        </p:spPr>
      </p:pic>
      <p:sp>
        <p:nvSpPr>
          <p:cNvPr id="8" name="Google Shape;1813;p82"/>
          <p:cNvSpPr/>
          <p:nvPr/>
        </p:nvSpPr>
        <p:spPr>
          <a:xfrm>
            <a:off x="376757" y="1523412"/>
            <a:ext cx="106622" cy="146683"/>
          </a:xfrm>
          <a:custGeom>
            <a:avLst/>
            <a:gdLst/>
            <a:ahLst/>
            <a:cxnLst/>
            <a:rect l="l" t="t" r="r" b="b"/>
            <a:pathLst>
              <a:path w="1043" h="1435" extrusionOk="0">
                <a:moveTo>
                  <a:pt x="326" y="1"/>
                </a:moveTo>
                <a:cubicBezTo>
                  <a:pt x="152" y="1"/>
                  <a:pt x="1" y="234"/>
                  <a:pt x="177" y="388"/>
                </a:cubicBezTo>
                <a:lnTo>
                  <a:pt x="516" y="720"/>
                </a:lnTo>
                <a:lnTo>
                  <a:pt x="177" y="1059"/>
                </a:lnTo>
                <a:cubicBezTo>
                  <a:pt x="21" y="1215"/>
                  <a:pt x="165" y="1435"/>
                  <a:pt x="336" y="1435"/>
                </a:cubicBezTo>
                <a:cubicBezTo>
                  <a:pt x="386" y="1435"/>
                  <a:pt x="439" y="1415"/>
                  <a:pt x="487" y="1369"/>
                </a:cubicBezTo>
                <a:lnTo>
                  <a:pt x="977" y="886"/>
                </a:lnTo>
                <a:cubicBezTo>
                  <a:pt x="1020" y="843"/>
                  <a:pt x="1042" y="785"/>
                  <a:pt x="1042" y="720"/>
                </a:cubicBezTo>
                <a:cubicBezTo>
                  <a:pt x="1042" y="662"/>
                  <a:pt x="1013" y="605"/>
                  <a:pt x="977" y="561"/>
                </a:cubicBezTo>
                <a:lnTo>
                  <a:pt x="487" y="78"/>
                </a:lnTo>
                <a:cubicBezTo>
                  <a:pt x="437" y="23"/>
                  <a:pt x="380" y="1"/>
                  <a:pt x="326" y="1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813;p82"/>
          <p:cNvSpPr/>
          <p:nvPr/>
        </p:nvSpPr>
        <p:spPr>
          <a:xfrm>
            <a:off x="376757" y="2529336"/>
            <a:ext cx="106622" cy="146683"/>
          </a:xfrm>
          <a:custGeom>
            <a:avLst/>
            <a:gdLst/>
            <a:ahLst/>
            <a:cxnLst/>
            <a:rect l="l" t="t" r="r" b="b"/>
            <a:pathLst>
              <a:path w="1043" h="1435" extrusionOk="0">
                <a:moveTo>
                  <a:pt x="326" y="1"/>
                </a:moveTo>
                <a:cubicBezTo>
                  <a:pt x="152" y="1"/>
                  <a:pt x="1" y="234"/>
                  <a:pt x="177" y="388"/>
                </a:cubicBezTo>
                <a:lnTo>
                  <a:pt x="516" y="720"/>
                </a:lnTo>
                <a:lnTo>
                  <a:pt x="177" y="1059"/>
                </a:lnTo>
                <a:cubicBezTo>
                  <a:pt x="21" y="1215"/>
                  <a:pt x="165" y="1435"/>
                  <a:pt x="336" y="1435"/>
                </a:cubicBezTo>
                <a:cubicBezTo>
                  <a:pt x="386" y="1435"/>
                  <a:pt x="439" y="1415"/>
                  <a:pt x="487" y="1369"/>
                </a:cubicBezTo>
                <a:lnTo>
                  <a:pt x="977" y="886"/>
                </a:lnTo>
                <a:cubicBezTo>
                  <a:pt x="1020" y="843"/>
                  <a:pt x="1042" y="785"/>
                  <a:pt x="1042" y="720"/>
                </a:cubicBezTo>
                <a:cubicBezTo>
                  <a:pt x="1042" y="662"/>
                  <a:pt x="1013" y="605"/>
                  <a:pt x="977" y="561"/>
                </a:cubicBezTo>
                <a:lnTo>
                  <a:pt x="487" y="78"/>
                </a:lnTo>
                <a:cubicBezTo>
                  <a:pt x="437" y="23"/>
                  <a:pt x="380" y="1"/>
                  <a:pt x="326" y="1"/>
                </a:cubicBez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267315" y="176077"/>
            <a:ext cx="873694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Implementation </a:t>
            </a:r>
            <a:r>
              <a:rPr lang="en-US" sz="2400" dirty="0" smtClean="0"/>
              <a:t>Procedure of this project</a:t>
            </a:r>
            <a:endParaRPr lang="en-US" sz="2400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256" y="1252945"/>
            <a:ext cx="6460006" cy="318358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Google Shape;459;p45"/>
          <p:cNvSpPr txBox="1">
            <a:spLocks noGrp="1"/>
          </p:cNvSpPr>
          <p:nvPr>
            <p:ph type="title"/>
          </p:nvPr>
        </p:nvSpPr>
        <p:spPr>
          <a:xfrm>
            <a:off x="6845300" y="47778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Page 02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10061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267315" y="176077"/>
            <a:ext cx="873694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Project Mechanism </a:t>
            </a:r>
            <a:r>
              <a:rPr lang="en-US" sz="2400" dirty="0" smtClean="0"/>
              <a:t>- How </a:t>
            </a:r>
            <a:r>
              <a:rPr lang="en-US" sz="2400" dirty="0"/>
              <a:t>it works </a:t>
            </a: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712803" y="1059484"/>
            <a:ext cx="1410965" cy="369332"/>
            <a:chOff x="712803" y="1265962"/>
            <a:chExt cx="1410965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819425" y="1265962"/>
              <a:ext cx="1304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u="sng" dirty="0" smtClean="0">
                  <a:solidFill>
                    <a:schemeClr val="bg1"/>
                  </a:solidFill>
                </a:rPr>
                <a:t>Step 1: </a:t>
              </a:r>
              <a:endParaRPr lang="en-US" sz="1800" u="sng" dirty="0">
                <a:solidFill>
                  <a:schemeClr val="bg1"/>
                </a:solidFill>
              </a:endParaRPr>
            </a:p>
          </p:txBody>
        </p:sp>
        <p:sp>
          <p:nvSpPr>
            <p:cNvPr id="8" name="Google Shape;1813;p82"/>
            <p:cNvSpPr/>
            <p:nvPr/>
          </p:nvSpPr>
          <p:spPr>
            <a:xfrm>
              <a:off x="712803" y="1377286"/>
              <a:ext cx="106622" cy="146683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358007" y="1638491"/>
            <a:ext cx="6555558" cy="3212587"/>
            <a:chOff x="1710013" y="1638491"/>
            <a:chExt cx="6555558" cy="3212587"/>
          </a:xfrm>
        </p:grpSpPr>
        <p:grpSp>
          <p:nvGrpSpPr>
            <p:cNvPr id="7" name="Group 6"/>
            <p:cNvGrpSpPr/>
            <p:nvPr/>
          </p:nvGrpSpPr>
          <p:grpSpPr>
            <a:xfrm>
              <a:off x="1710013" y="1638491"/>
              <a:ext cx="6555558" cy="2755705"/>
              <a:chOff x="1710013" y="1638491"/>
              <a:chExt cx="6555558" cy="2755705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0013" y="1638491"/>
                <a:ext cx="2885258" cy="2755705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0313" y="1638491"/>
                <a:ext cx="2885258" cy="2755705"/>
              </a:xfrm>
              <a:prstGeom prst="rect">
                <a:avLst/>
              </a:prstGeom>
            </p:spPr>
          </p:pic>
        </p:grpSp>
        <p:sp>
          <p:nvSpPr>
            <p:cNvPr id="14" name="TextBox 13"/>
            <p:cNvSpPr txBox="1"/>
            <p:nvPr/>
          </p:nvSpPr>
          <p:spPr>
            <a:xfrm>
              <a:off x="2500470" y="4481746"/>
              <a:ext cx="20122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A</a:t>
              </a:r>
              <a:r>
                <a:rPr lang="en-US" sz="1800" dirty="0" smtClean="0">
                  <a:solidFill>
                    <a:schemeClr val="bg1"/>
                  </a:solidFill>
                </a:rPr>
                <a:t>dd </a:t>
              </a:r>
              <a:r>
                <a:rPr lang="en-US" sz="1800" dirty="0">
                  <a:solidFill>
                    <a:schemeClr val="bg1"/>
                  </a:solidFill>
                </a:rPr>
                <a:t>vertex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18937" y="4481746"/>
              <a:ext cx="1946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 smtClean="0">
                  <a:solidFill>
                    <a:schemeClr val="bg1"/>
                  </a:solidFill>
                </a:rPr>
                <a:t>Add Edges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3" idx="3"/>
              <a:endCxn id="4" idx="1"/>
            </p:cNvCxnSpPr>
            <p:nvPr/>
          </p:nvCxnSpPr>
          <p:spPr>
            <a:xfrm>
              <a:off x="4595271" y="3016344"/>
              <a:ext cx="785042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Google Shape;459;p45"/>
          <p:cNvSpPr txBox="1">
            <a:spLocks noGrp="1"/>
          </p:cNvSpPr>
          <p:nvPr>
            <p:ph type="title"/>
          </p:nvPr>
        </p:nvSpPr>
        <p:spPr>
          <a:xfrm>
            <a:off x="6845300" y="47778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Page 03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60501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267315" y="176077"/>
            <a:ext cx="873694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Project Mechanism </a:t>
            </a:r>
            <a:r>
              <a:rPr lang="en-US" sz="2400" dirty="0" smtClean="0"/>
              <a:t>- How </a:t>
            </a:r>
            <a:r>
              <a:rPr lang="en-US" sz="2400" dirty="0"/>
              <a:t>it works </a:t>
            </a: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712803" y="1059484"/>
            <a:ext cx="1410965" cy="369332"/>
            <a:chOff x="712803" y="1265962"/>
            <a:chExt cx="1410965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819425" y="1265962"/>
              <a:ext cx="1304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u="sng" dirty="0" smtClean="0">
                  <a:solidFill>
                    <a:schemeClr val="bg1"/>
                  </a:solidFill>
                </a:rPr>
                <a:t>Step 2: </a:t>
              </a:r>
              <a:endParaRPr lang="en-US" sz="1800" u="sng" dirty="0">
                <a:solidFill>
                  <a:schemeClr val="bg1"/>
                </a:solidFill>
              </a:endParaRPr>
            </a:p>
          </p:txBody>
        </p:sp>
        <p:sp>
          <p:nvSpPr>
            <p:cNvPr id="8" name="Google Shape;1813;p82"/>
            <p:cNvSpPr/>
            <p:nvPr/>
          </p:nvSpPr>
          <p:spPr>
            <a:xfrm>
              <a:off x="712803" y="1377286"/>
              <a:ext cx="106622" cy="146683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290836" y="1604447"/>
            <a:ext cx="7042797" cy="3356698"/>
            <a:chOff x="1451703" y="1604447"/>
            <a:chExt cx="7042797" cy="3356698"/>
          </a:xfrm>
        </p:grpSpPr>
        <p:grpSp>
          <p:nvGrpSpPr>
            <p:cNvPr id="9" name="Group 8"/>
            <p:cNvGrpSpPr/>
            <p:nvPr/>
          </p:nvGrpSpPr>
          <p:grpSpPr>
            <a:xfrm>
              <a:off x="1451703" y="1604447"/>
              <a:ext cx="7042797" cy="2949252"/>
              <a:chOff x="1471596" y="1604447"/>
              <a:chExt cx="7042797" cy="2949252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71596" y="1604447"/>
                <a:ext cx="3081866" cy="2949252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32527" y="1604447"/>
                <a:ext cx="3081866" cy="2949252"/>
              </a:xfrm>
              <a:prstGeom prst="rect">
                <a:avLst/>
              </a:prstGeom>
            </p:spPr>
          </p:pic>
        </p:grpSp>
        <p:sp>
          <p:nvSpPr>
            <p:cNvPr id="14" name="TextBox 13"/>
            <p:cNvSpPr txBox="1"/>
            <p:nvPr/>
          </p:nvSpPr>
          <p:spPr>
            <a:xfrm>
              <a:off x="2360357" y="4591813"/>
              <a:ext cx="2118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bg1"/>
                  </a:solidFill>
                </a:rPr>
                <a:t>A</a:t>
              </a:r>
              <a:r>
                <a:rPr lang="en-US" sz="1800" dirty="0" smtClean="0">
                  <a:solidFill>
                    <a:schemeClr val="bg1"/>
                  </a:solidFill>
                </a:rPr>
                <a:t>dd </a:t>
              </a:r>
              <a:r>
                <a:rPr lang="en-US" sz="1800" dirty="0">
                  <a:solidFill>
                    <a:schemeClr val="bg1"/>
                  </a:solidFill>
                </a:rPr>
                <a:t>all E</a:t>
              </a:r>
              <a:r>
                <a:rPr lang="en-US" sz="1800" dirty="0" smtClean="0">
                  <a:solidFill>
                    <a:schemeClr val="bg1"/>
                  </a:solidFill>
                </a:rPr>
                <a:t>dges 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37451" y="4591813"/>
              <a:ext cx="237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800" dirty="0" smtClean="0">
                  <a:solidFill>
                    <a:schemeClr val="bg1"/>
                  </a:solidFill>
                </a:rPr>
                <a:t>Shortest </a:t>
              </a:r>
              <a:r>
                <a:rPr lang="en-US" sz="1800" dirty="0">
                  <a:solidFill>
                    <a:schemeClr val="bg1"/>
                  </a:solidFill>
                </a:rPr>
                <a:t>path found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4595271" y="3016344"/>
              <a:ext cx="755662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Google Shape;459;p45"/>
          <p:cNvSpPr txBox="1">
            <a:spLocks noGrp="1"/>
          </p:cNvSpPr>
          <p:nvPr>
            <p:ph type="title"/>
          </p:nvPr>
        </p:nvSpPr>
        <p:spPr>
          <a:xfrm>
            <a:off x="6964992" y="47778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Page 04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53117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267315" y="176077"/>
            <a:ext cx="873694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How </a:t>
            </a:r>
            <a:r>
              <a:rPr lang="en-US" sz="2400" dirty="0" err="1"/>
              <a:t>Dijkstra's</a:t>
            </a:r>
            <a:r>
              <a:rPr lang="en-US" sz="2400" dirty="0"/>
              <a:t> Algorithm work</a:t>
            </a:r>
            <a:endParaRPr lang="en-US" sz="2400" dirty="0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511692" y="1217869"/>
            <a:ext cx="4839241" cy="2945789"/>
            <a:chOff x="325425" y="1217869"/>
            <a:chExt cx="4923908" cy="2945789"/>
          </a:xfrm>
        </p:grpSpPr>
        <p:grpSp>
          <p:nvGrpSpPr>
            <p:cNvPr id="4" name="Group 3"/>
            <p:cNvGrpSpPr/>
            <p:nvPr/>
          </p:nvGrpSpPr>
          <p:grpSpPr>
            <a:xfrm>
              <a:off x="483379" y="1217869"/>
              <a:ext cx="4765954" cy="2945789"/>
              <a:chOff x="483379" y="1217869"/>
              <a:chExt cx="4765954" cy="2945789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483379" y="1217869"/>
                <a:ext cx="4765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Start with a weighted graph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83379" y="1525646"/>
                <a:ext cx="47659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Choose a starting vertex and assign infinity path values to all other devices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83379" y="2058979"/>
                <a:ext cx="4765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Go to each vertex and update its path length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83379" y="2388245"/>
                <a:ext cx="47659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If the path length of the adjacent vertex is lesser than new path length, don't update it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83379" y="2932954"/>
                <a:ext cx="47659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Avoid updating path lengths of already visited vertices</a:t>
                </a:r>
              </a:p>
              <a:p>
                <a:pPr algn="just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83379" y="3313954"/>
                <a:ext cx="47659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After each iteration, we pick the unvisited vertex with the least path length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83379" y="3855881"/>
                <a:ext cx="47659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Repeat until all the vertices have been visited</a:t>
                </a: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325425" y="1263107"/>
              <a:ext cx="157954" cy="2894707"/>
              <a:chOff x="325425" y="1263107"/>
              <a:chExt cx="157954" cy="2894707"/>
            </a:xfrm>
          </p:grpSpPr>
          <p:sp>
            <p:nvSpPr>
              <p:cNvPr id="8" name="Google Shape;1813;p82"/>
              <p:cNvSpPr/>
              <p:nvPr/>
            </p:nvSpPr>
            <p:spPr>
              <a:xfrm>
                <a:off x="325425" y="1263107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813;p82"/>
              <p:cNvSpPr/>
              <p:nvPr/>
            </p:nvSpPr>
            <p:spPr>
              <a:xfrm>
                <a:off x="325425" y="1607495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13;p82"/>
              <p:cNvSpPr/>
              <p:nvPr/>
            </p:nvSpPr>
            <p:spPr>
              <a:xfrm>
                <a:off x="325425" y="2116336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813;p82"/>
              <p:cNvSpPr/>
              <p:nvPr/>
            </p:nvSpPr>
            <p:spPr>
              <a:xfrm>
                <a:off x="325425" y="2448605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813;p82"/>
              <p:cNvSpPr/>
              <p:nvPr/>
            </p:nvSpPr>
            <p:spPr>
              <a:xfrm>
                <a:off x="325425" y="2993314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813;p82"/>
              <p:cNvSpPr/>
              <p:nvPr/>
            </p:nvSpPr>
            <p:spPr>
              <a:xfrm>
                <a:off x="325425" y="3364588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813;p82"/>
              <p:cNvSpPr/>
              <p:nvPr/>
            </p:nvSpPr>
            <p:spPr>
              <a:xfrm>
                <a:off x="325425" y="3940512"/>
                <a:ext cx="157954" cy="217302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435" extrusionOk="0">
                    <a:moveTo>
                      <a:pt x="326" y="1"/>
                    </a:moveTo>
                    <a:cubicBezTo>
                      <a:pt x="152" y="1"/>
                      <a:pt x="1" y="234"/>
                      <a:pt x="177" y="388"/>
                    </a:cubicBezTo>
                    <a:lnTo>
                      <a:pt x="516" y="720"/>
                    </a:lnTo>
                    <a:lnTo>
                      <a:pt x="177" y="1059"/>
                    </a:lnTo>
                    <a:cubicBezTo>
                      <a:pt x="21" y="1215"/>
                      <a:pt x="165" y="1435"/>
                      <a:pt x="336" y="1435"/>
                    </a:cubicBezTo>
                    <a:cubicBezTo>
                      <a:pt x="386" y="1435"/>
                      <a:pt x="439" y="1415"/>
                      <a:pt x="487" y="1369"/>
                    </a:cubicBezTo>
                    <a:lnTo>
                      <a:pt x="977" y="886"/>
                    </a:lnTo>
                    <a:cubicBezTo>
                      <a:pt x="1020" y="843"/>
                      <a:pt x="1042" y="785"/>
                      <a:pt x="1042" y="720"/>
                    </a:cubicBezTo>
                    <a:cubicBezTo>
                      <a:pt x="1042" y="662"/>
                      <a:pt x="1013" y="605"/>
                      <a:pt x="977" y="561"/>
                    </a:cubicBezTo>
                    <a:lnTo>
                      <a:pt x="487" y="78"/>
                    </a:lnTo>
                    <a:cubicBezTo>
                      <a:pt x="437" y="23"/>
                      <a:pt x="380" y="1"/>
                      <a:pt x="3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171" y="1217869"/>
            <a:ext cx="3186471" cy="3046635"/>
          </a:xfrm>
          <a:prstGeom prst="rect">
            <a:avLst/>
          </a:prstGeom>
        </p:spPr>
      </p:pic>
      <p:sp>
        <p:nvSpPr>
          <p:cNvPr id="26" name="Google Shape;459;p45"/>
          <p:cNvSpPr txBox="1">
            <a:spLocks noGrp="1"/>
          </p:cNvSpPr>
          <p:nvPr>
            <p:ph type="title"/>
          </p:nvPr>
        </p:nvSpPr>
        <p:spPr>
          <a:xfrm>
            <a:off x="6845300" y="47778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Page 05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73990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>
            <a:spLocks noGrp="1"/>
          </p:cNvSpPr>
          <p:nvPr>
            <p:ph type="title" idx="4"/>
          </p:nvPr>
        </p:nvSpPr>
        <p:spPr>
          <a:xfrm>
            <a:off x="267315" y="176077"/>
            <a:ext cx="873694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Real life scenarios of this project</a:t>
            </a: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5937451" y="-4402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Theory &amp; design</a:t>
            </a:r>
            <a:endParaRPr dirty="0"/>
          </a:p>
        </p:txBody>
      </p:sp>
      <p:sp>
        <p:nvSpPr>
          <p:cNvPr id="461" name="Google Shape;461;p45"/>
          <p:cNvSpPr/>
          <p:nvPr/>
        </p:nvSpPr>
        <p:spPr>
          <a:xfrm flipV="1">
            <a:off x="0" y="749915"/>
            <a:ext cx="9143999" cy="133938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69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511692" y="1565075"/>
            <a:ext cx="4839241" cy="2271379"/>
            <a:chOff x="511692" y="1565075"/>
            <a:chExt cx="4839241" cy="2271379"/>
          </a:xfrm>
        </p:grpSpPr>
        <p:sp>
          <p:nvSpPr>
            <p:cNvPr id="8" name="Google Shape;1813;p82"/>
            <p:cNvSpPr/>
            <p:nvPr/>
          </p:nvSpPr>
          <p:spPr>
            <a:xfrm>
              <a:off x="511692" y="1610312"/>
              <a:ext cx="155238" cy="217302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66930" y="1565075"/>
              <a:ext cx="4684003" cy="2271379"/>
              <a:chOff x="666930" y="1217869"/>
              <a:chExt cx="4684003" cy="2271379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666930" y="1217869"/>
                <a:ext cx="468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Digital Mapping Services in Google Maps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66930" y="1597123"/>
                <a:ext cx="468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Social Networking Applications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66930" y="1993210"/>
                <a:ext cx="468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Telephone Network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66930" y="2389297"/>
                <a:ext cx="468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IP routing to find Open shortest Path First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666930" y="2785384"/>
                <a:ext cx="468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 err="1">
                    <a:solidFill>
                      <a:schemeClr val="bg1"/>
                    </a:solidFill>
                  </a:rPr>
                  <a:t>Flighting</a:t>
                </a:r>
                <a:r>
                  <a:rPr lang="en-US" dirty="0">
                    <a:solidFill>
                      <a:schemeClr val="bg1"/>
                    </a:solidFill>
                  </a:rPr>
                  <a:t> Agenda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66930" y="3181471"/>
                <a:ext cx="468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solidFill>
                      <a:schemeClr val="bg1"/>
                    </a:solidFill>
                  </a:rPr>
                  <a:t>Robotic Path</a:t>
                </a:r>
              </a:p>
            </p:txBody>
          </p:sp>
        </p:grpSp>
        <p:sp>
          <p:nvSpPr>
            <p:cNvPr id="29" name="Google Shape;1813;p82"/>
            <p:cNvSpPr/>
            <p:nvPr/>
          </p:nvSpPr>
          <p:spPr>
            <a:xfrm>
              <a:off x="511692" y="1988963"/>
              <a:ext cx="155238" cy="217302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13;p82"/>
            <p:cNvSpPr/>
            <p:nvPr/>
          </p:nvSpPr>
          <p:spPr>
            <a:xfrm>
              <a:off x="511692" y="2380169"/>
              <a:ext cx="155238" cy="217302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13;p82"/>
            <p:cNvSpPr/>
            <p:nvPr/>
          </p:nvSpPr>
          <p:spPr>
            <a:xfrm>
              <a:off x="511692" y="2800981"/>
              <a:ext cx="155238" cy="217302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13;p82"/>
            <p:cNvSpPr/>
            <p:nvPr/>
          </p:nvSpPr>
          <p:spPr>
            <a:xfrm>
              <a:off x="511692" y="3190826"/>
              <a:ext cx="155238" cy="217302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13;p82"/>
            <p:cNvSpPr/>
            <p:nvPr/>
          </p:nvSpPr>
          <p:spPr>
            <a:xfrm>
              <a:off x="511692" y="3580671"/>
              <a:ext cx="155238" cy="217302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734" y="1260048"/>
            <a:ext cx="3081866" cy="3081866"/>
          </a:xfrm>
          <a:prstGeom prst="rect">
            <a:avLst/>
          </a:prstGeom>
        </p:spPr>
      </p:pic>
      <p:sp>
        <p:nvSpPr>
          <p:cNvPr id="50" name="Google Shape;459;p45"/>
          <p:cNvSpPr txBox="1">
            <a:spLocks noGrp="1"/>
          </p:cNvSpPr>
          <p:nvPr>
            <p:ph type="title"/>
          </p:nvPr>
        </p:nvSpPr>
        <p:spPr>
          <a:xfrm>
            <a:off x="6845300" y="4777800"/>
            <a:ext cx="29808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/>
              <a:t>Page 06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7271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4"/>
          <p:cNvSpPr txBox="1">
            <a:spLocks noGrp="1"/>
          </p:cNvSpPr>
          <p:nvPr>
            <p:ph type="subTitle" idx="1"/>
          </p:nvPr>
        </p:nvSpPr>
        <p:spPr>
          <a:xfrm>
            <a:off x="975093" y="1753036"/>
            <a:ext cx="34347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1129" name="Google Shape;1129;p74"/>
          <p:cNvSpPr txBox="1">
            <a:spLocks noGrp="1"/>
          </p:cNvSpPr>
          <p:nvPr>
            <p:ph type="title"/>
          </p:nvPr>
        </p:nvSpPr>
        <p:spPr>
          <a:xfrm>
            <a:off x="975100" y="539498"/>
            <a:ext cx="4294800" cy="1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1131" name="Google Shape;1131;p74"/>
          <p:cNvPicPr preferRelativeResize="0"/>
          <p:nvPr/>
        </p:nvPicPr>
        <p:blipFill rotWithShape="1">
          <a:blip r:embed="rId3">
            <a:alphaModFix/>
          </a:blip>
          <a:srcRect l="49785" r="10196"/>
          <a:stretch/>
        </p:blipFill>
        <p:spPr>
          <a:xfrm>
            <a:off x="6055749" y="0"/>
            <a:ext cx="3088248" cy="5143501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2" name="Google Shape;1132;p74"/>
          <p:cNvSpPr/>
          <p:nvPr/>
        </p:nvSpPr>
        <p:spPr>
          <a:xfrm>
            <a:off x="967700" y="1536625"/>
            <a:ext cx="3604200" cy="8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74"/>
          <p:cNvSpPr/>
          <p:nvPr/>
        </p:nvSpPr>
        <p:spPr>
          <a:xfrm>
            <a:off x="967700" y="3452251"/>
            <a:ext cx="3604200" cy="84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90000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4" name="Google Shape;1134;p74"/>
          <p:cNvGrpSpPr/>
          <p:nvPr/>
        </p:nvGrpSpPr>
        <p:grpSpPr>
          <a:xfrm>
            <a:off x="2334912" y="2857515"/>
            <a:ext cx="410400" cy="410400"/>
            <a:chOff x="4741087" y="2465740"/>
            <a:chExt cx="410400" cy="410400"/>
          </a:xfrm>
        </p:grpSpPr>
        <p:grpSp>
          <p:nvGrpSpPr>
            <p:cNvPr id="1135" name="Google Shape;1135;p74"/>
            <p:cNvGrpSpPr/>
            <p:nvPr/>
          </p:nvGrpSpPr>
          <p:grpSpPr>
            <a:xfrm>
              <a:off x="4815243" y="2528978"/>
              <a:ext cx="262089" cy="283924"/>
              <a:chOff x="1385007" y="2621430"/>
              <a:chExt cx="293262" cy="317659"/>
            </a:xfrm>
          </p:grpSpPr>
          <p:sp>
            <p:nvSpPr>
              <p:cNvPr id="1136" name="Google Shape;1136;p74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10537" extrusionOk="0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74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514" extrusionOk="0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74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avLst/>
                <a:gdLst/>
                <a:ahLst/>
                <a:cxnLst/>
                <a:rect l="l" t="t" r="r" b="b"/>
                <a:pathLst>
                  <a:path w="9368" h="10556" extrusionOk="0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39" name="Google Shape;1139;p74"/>
            <p:cNvSpPr/>
            <p:nvPr/>
          </p:nvSpPr>
          <p:spPr>
            <a:xfrm>
              <a:off x="4741087" y="2465740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0" name="Google Shape;1140;p74"/>
          <p:cNvGrpSpPr/>
          <p:nvPr/>
        </p:nvGrpSpPr>
        <p:grpSpPr>
          <a:xfrm>
            <a:off x="1655000" y="2857515"/>
            <a:ext cx="410400" cy="410400"/>
            <a:chOff x="4741100" y="2963915"/>
            <a:chExt cx="410400" cy="410400"/>
          </a:xfrm>
        </p:grpSpPr>
        <p:sp>
          <p:nvSpPr>
            <p:cNvPr id="1141" name="Google Shape;1141;p74"/>
            <p:cNvSpPr/>
            <p:nvPr/>
          </p:nvSpPr>
          <p:spPr>
            <a:xfrm>
              <a:off x="4815276" y="3062260"/>
              <a:ext cx="262057" cy="213720"/>
            </a:xfrm>
            <a:custGeom>
              <a:avLst/>
              <a:gdLst/>
              <a:ahLst/>
              <a:cxnLst/>
              <a:rect l="l" t="t" r="r" b="b"/>
              <a:pathLst>
                <a:path w="20081" h="16377" extrusionOk="0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4"/>
            <p:cNvSpPr/>
            <p:nvPr/>
          </p:nvSpPr>
          <p:spPr>
            <a:xfrm>
              <a:off x="4741100" y="2963915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74"/>
          <p:cNvGrpSpPr/>
          <p:nvPr/>
        </p:nvGrpSpPr>
        <p:grpSpPr>
          <a:xfrm>
            <a:off x="975100" y="2857515"/>
            <a:ext cx="410400" cy="410400"/>
            <a:chOff x="4741100" y="3462090"/>
            <a:chExt cx="410400" cy="410400"/>
          </a:xfrm>
        </p:grpSpPr>
        <p:grpSp>
          <p:nvGrpSpPr>
            <p:cNvPr id="1144" name="Google Shape;1144;p74"/>
            <p:cNvGrpSpPr/>
            <p:nvPr/>
          </p:nvGrpSpPr>
          <p:grpSpPr>
            <a:xfrm>
              <a:off x="4815255" y="3536273"/>
              <a:ext cx="262090" cy="262073"/>
              <a:chOff x="860977" y="2620616"/>
              <a:chExt cx="319311" cy="319290"/>
            </a:xfrm>
          </p:grpSpPr>
          <p:sp>
            <p:nvSpPr>
              <p:cNvPr id="1145" name="Google Shape;1145;p74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8197" extrusionOk="0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74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avLst/>
                <a:gdLst/>
                <a:ahLst/>
                <a:cxnLst/>
                <a:rect l="l" t="t" r="r" b="b"/>
                <a:pathLst>
                  <a:path w="15300" h="15299" extrusionOk="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74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343" extrusionOk="0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8" name="Google Shape;1148;p74"/>
            <p:cNvSpPr/>
            <p:nvPr/>
          </p:nvSpPr>
          <p:spPr>
            <a:xfrm>
              <a:off x="4741100" y="3462090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74"/>
          <p:cNvGrpSpPr/>
          <p:nvPr/>
        </p:nvGrpSpPr>
        <p:grpSpPr>
          <a:xfrm>
            <a:off x="3014812" y="2857515"/>
            <a:ext cx="410400" cy="410400"/>
            <a:chOff x="5361337" y="3462090"/>
            <a:chExt cx="410400" cy="410400"/>
          </a:xfrm>
        </p:grpSpPr>
        <p:sp>
          <p:nvSpPr>
            <p:cNvPr id="1150" name="Google Shape;1150;p74"/>
            <p:cNvSpPr/>
            <p:nvPr/>
          </p:nvSpPr>
          <p:spPr>
            <a:xfrm>
              <a:off x="5362839" y="3463615"/>
              <a:ext cx="407383" cy="407383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4"/>
            <p:cNvSpPr/>
            <p:nvPr/>
          </p:nvSpPr>
          <p:spPr>
            <a:xfrm>
              <a:off x="5361337" y="3462090"/>
              <a:ext cx="410400" cy="410400"/>
            </a:xfrm>
            <a:prstGeom prst="frame">
              <a:avLst>
                <a:gd name="adj1" fmla="val 9152"/>
              </a:avLst>
            </a:prstGeom>
            <a:gradFill>
              <a:gsLst>
                <a:gs pos="0">
                  <a:schemeClr val="dk2"/>
                </a:gs>
                <a:gs pos="100000">
                  <a:schemeClr val="accent2"/>
                </a:gs>
              </a:gsLst>
              <a:lin ang="90069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964" y="0"/>
            <a:ext cx="3069137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uter Science &amp; Mathematics Major for College: Data Management Technology by Slidesgo">
  <a:themeElements>
    <a:clrScheme name="Simple Light">
      <a:dk1>
        <a:srgbClr val="161616"/>
      </a:dk1>
      <a:lt1>
        <a:srgbClr val="FFFFFF"/>
      </a:lt1>
      <a:dk2>
        <a:srgbClr val="0D008E"/>
      </a:dk2>
      <a:lt2>
        <a:srgbClr val="0FE0E0"/>
      </a:lt2>
      <a:accent1>
        <a:srgbClr val="2C4ED7"/>
      </a:accent1>
      <a:accent2>
        <a:srgbClr val="50FFB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291</Words>
  <Application>Microsoft Office PowerPoint</Application>
  <PresentationFormat>On-screen Show (16:9)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Teko</vt:lpstr>
      <vt:lpstr>Catamaran</vt:lpstr>
      <vt:lpstr>Quantico</vt:lpstr>
      <vt:lpstr>Bebas Neue</vt:lpstr>
      <vt:lpstr>Arial</vt:lpstr>
      <vt:lpstr>Computer Science &amp; Mathematics Major for College: Data Management Technology by Slidesgo</vt:lpstr>
      <vt:lpstr>CSE 202 LAB Project</vt:lpstr>
      <vt:lpstr>Table of contents</vt:lpstr>
      <vt:lpstr>What is Efficient Pathfinding using Dijkstra's Algorithm?</vt:lpstr>
      <vt:lpstr>Implementation Procedure of this project</vt:lpstr>
      <vt:lpstr>Project Mechanism - How it works </vt:lpstr>
      <vt:lpstr>Project Mechanism - How it works </vt:lpstr>
      <vt:lpstr>How Dijkstra's Algorithm work</vt:lpstr>
      <vt:lpstr>Real life scenarios of this project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&amp; MATHEMATICS MAJOR FOR COLLEGE:</dc:title>
  <dc:creator>Farisa Joardar</dc:creator>
  <cp:lastModifiedBy>YoutechBD</cp:lastModifiedBy>
  <cp:revision>18</cp:revision>
  <dcterms:modified xsi:type="dcterms:W3CDTF">2023-06-21T04:39:59Z</dcterms:modified>
</cp:coreProperties>
</file>