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35" r:id="rId1"/>
  </p:sldMasterIdLst>
  <p:notesMasterIdLst>
    <p:notesMasterId r:id="rId14"/>
  </p:notesMasterIdLst>
  <p:sldIdLst>
    <p:sldId id="256" r:id="rId2"/>
    <p:sldId id="257" r:id="rId3"/>
    <p:sldId id="258" r:id="rId4"/>
    <p:sldId id="301" r:id="rId5"/>
    <p:sldId id="259" r:id="rId6"/>
    <p:sldId id="295" r:id="rId7"/>
    <p:sldId id="297" r:id="rId8"/>
    <p:sldId id="298" r:id="rId9"/>
    <p:sldId id="299" r:id="rId10"/>
    <p:sldId id="300" r:id="rId11"/>
    <p:sldId id="260" r:id="rId12"/>
    <p:sldId id="294" r:id="rId13"/>
  </p:sldIdLst>
  <p:sldSz cx="9144000" cy="5143500" type="screen16x9"/>
  <p:notesSz cx="6858000" cy="9144000"/>
  <p:embeddedFontLst>
    <p:embeddedFont>
      <p:font typeface="Catamaran" panose="020B0604020202020204" charset="0"/>
      <p:regular r:id="rId15"/>
      <p:bold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  <p:embeddedFont>
      <p:font typeface="MV Boli" panose="02000500030200090000" pitchFamily="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1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8572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342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16133"/>
            <a:ext cx="3505200" cy="1734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6" y="2031357"/>
            <a:ext cx="3313355" cy="127662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6" y="3315810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1"/>
            <a:ext cx="2133600" cy="563236"/>
          </a:xfrm>
        </p:spPr>
        <p:txBody>
          <a:bodyPr anchor="b"/>
          <a:lstStyle>
            <a:lvl1pPr algn="l">
              <a:defRPr sz="2400"/>
            </a:lvl1pPr>
          </a:lstStyle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5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4289975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89" name="Rectangle 88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175622"/>
            <a:ext cx="6637468" cy="1021556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6" y="3200400"/>
            <a:ext cx="6637467" cy="114031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1737007"/>
            <a:ext cx="3057148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8" y="1737007"/>
            <a:ext cx="3055717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58" name="Rectangle 57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642395"/>
            <a:ext cx="3090440" cy="386305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6"/>
            <a:ext cx="3304572" cy="109736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9" y="520346"/>
            <a:ext cx="3359623" cy="4101084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1" y="3099816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772610"/>
            <a:ext cx="1484453" cy="358525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772610"/>
            <a:ext cx="5423704" cy="35852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3981304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077669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376238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2753950" y="839775"/>
            <a:ext cx="3636000" cy="363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  <a:defRPr i="1">
                <a:solidFill>
                  <a:schemeClr val="lt1"/>
                </a:solidFill>
              </a:defRPr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3pPr>
            <a:lvl4pPr marL="1828800" lvl="3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4pPr>
            <a:lvl5pPr marL="2286000" lvl="4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5pPr>
            <a:lvl6pPr marL="2743200" lvl="5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6pPr>
            <a:lvl7pPr marL="3200400" lvl="6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7pPr>
            <a:lvl8pPr marL="3657600" lvl="7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8pPr>
            <a:lvl9pPr marL="4114800" lvl="8" indent="-381000" algn="ctr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 - Color background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7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6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3" y="1742739"/>
            <a:ext cx="6777317" cy="263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6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8D887B3B-ACCF-49A6-831D-97EAF8471326}" type="datetimeFigureOut">
              <a:rPr lang="en-US" smtClean="0"/>
              <a:t>6/8/2023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0"/>
            <a:ext cx="35021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</p:sldLayoutIdLst>
  <p:transition>
    <p:fade thruBlk="1"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5750"/>
            <a:ext cx="8229600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990600" y="1139134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W</a:t>
            </a:r>
            <a:r>
              <a:rPr lang="en" sz="3200" b="1" dirty="0">
                <a:solidFill>
                  <a:schemeClr val="accent1">
                    <a:lumMod val="75000"/>
                  </a:schemeClr>
                </a:solidFill>
              </a:rPr>
              <a:t>hat is Thread ?</a:t>
            </a:r>
            <a:endParaRPr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83043" y="1809750"/>
            <a:ext cx="7755326" cy="1905000"/>
          </a:xfrm>
        </p:spPr>
        <p:txBody>
          <a:bodyPr/>
          <a:lstStyle/>
          <a:p>
            <a:pPr marL="139700" indent="0">
              <a:buNone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lightweight sub-process.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smallest unit of processing.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Multiprocessing and multithreading.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/>
              <a:t> Achieve multitasking</a:t>
            </a:r>
            <a:r>
              <a:rPr lang="en-US" dirty="0"/>
              <a:t>.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subTitle" idx="4294967295"/>
          </p:nvPr>
        </p:nvSpPr>
        <p:spPr>
          <a:xfrm>
            <a:off x="2895601" y="2038350"/>
            <a:ext cx="4800600" cy="22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en-US" dirty="0"/>
              <a:t>1.Extends Thread class.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Override run () method.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Call the Start method.</a:t>
            </a:r>
          </a:p>
          <a:p>
            <a:pPr algn="just"/>
            <a:endParaRPr lang="en-US" dirty="0"/>
          </a:p>
          <a:p>
            <a:pPr marL="68580" indent="0" algn="just">
              <a:buNone/>
            </a:pPr>
            <a:endParaRPr lang="en-U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66750"/>
            <a:ext cx="1295401" cy="1555462"/>
          </a:xfrm>
          <a:prstGeom prst="rect">
            <a:avLst/>
          </a:prstGeom>
        </p:spPr>
      </p:pic>
      <p:sp>
        <p:nvSpPr>
          <p:cNvPr id="7" name="Google Shape;226;p15"/>
          <p:cNvSpPr txBox="1">
            <a:spLocks/>
          </p:cNvSpPr>
          <p:nvPr/>
        </p:nvSpPr>
        <p:spPr>
          <a:xfrm>
            <a:off x="2702681" y="1200150"/>
            <a:ext cx="5578560" cy="65439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dirty="0">
                <a:solidFill>
                  <a:schemeClr val="accent5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Ways to achieve Thread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subTitle" idx="4294967295"/>
          </p:nvPr>
        </p:nvSpPr>
        <p:spPr>
          <a:xfrm>
            <a:off x="1295400" y="1809750"/>
            <a:ext cx="5029200" cy="25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en-US" dirty="0"/>
              <a:t> increase performance.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operate more efficiently.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Doing multiple things at same time.</a:t>
            </a:r>
          </a:p>
          <a:p>
            <a:pPr algn="just"/>
            <a:endParaRPr lang="en-US" dirty="0"/>
          </a:p>
          <a:p>
            <a:pPr marL="68580" indent="0" algn="just">
              <a:buNone/>
            </a:pPr>
            <a:endParaRPr lang="en-U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226;p15"/>
          <p:cNvSpPr txBox="1">
            <a:spLocks/>
          </p:cNvSpPr>
          <p:nvPr/>
        </p:nvSpPr>
        <p:spPr>
          <a:xfrm>
            <a:off x="1143000" y="964478"/>
            <a:ext cx="5578560" cy="65439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dirty="0">
                <a:solidFill>
                  <a:schemeClr val="accent5">
                    <a:lumMod val="75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Why is thread used?</a:t>
            </a:r>
          </a:p>
        </p:txBody>
      </p:sp>
    </p:spTree>
    <p:extLst>
      <p:ext uri="{BB962C8B-B14F-4D97-AF65-F5344CB8AC3E}">
        <p14:creationId xmlns:p14="http://schemas.microsoft.com/office/powerpoint/2010/main" val="245814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762000" y="438150"/>
            <a:ext cx="7024744" cy="85725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accent3">
                    <a:lumMod val="50000"/>
                  </a:schemeClr>
                </a:solidFill>
              </a:rPr>
              <a:t>Way to achive Thread</a:t>
            </a:r>
            <a:endParaRPr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4294967295"/>
          </p:nvPr>
        </p:nvSpPr>
        <p:spPr>
          <a:xfrm>
            <a:off x="893762" y="1238250"/>
            <a:ext cx="5811838" cy="4095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2800" dirty="0"/>
              <a:t>1.</a:t>
            </a:r>
            <a:r>
              <a:rPr lang="en" dirty="0"/>
              <a:t> </a:t>
            </a:r>
            <a:r>
              <a:rPr lang="en-US" dirty="0"/>
              <a:t> By extending Thread class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079537" y="1885950"/>
            <a:ext cx="5867400" cy="30480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>
                <a:solidFill>
                  <a:schemeClr val="accent2"/>
                </a:solidFill>
              </a:rPr>
              <a:t>class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A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extends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Thread</a:t>
            </a:r>
            <a:r>
              <a:rPr lang="en-US" altLang="en-US" sz="1600" dirty="0"/>
              <a:t> {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chemeClr val="accent2"/>
                </a:solidFill>
              </a:rPr>
              <a:t>public</a:t>
            </a:r>
            <a:r>
              <a:rPr lang="en-US" altLang="en-US" sz="1600" dirty="0"/>
              <a:t> A (</a:t>
            </a:r>
            <a:r>
              <a:rPr lang="en-US" altLang="en-US" sz="1600" dirty="0">
                <a:solidFill>
                  <a:srgbClr val="008000"/>
                </a:solidFill>
              </a:rPr>
              <a:t>String</a:t>
            </a:r>
            <a:r>
              <a:rPr lang="en-US" altLang="en-US" sz="1600" dirty="0"/>
              <a:t> name) { </a:t>
            </a:r>
            <a:r>
              <a:rPr lang="en-US" altLang="en-US" sz="1600" dirty="0">
                <a:solidFill>
                  <a:schemeClr val="accent2"/>
                </a:solidFill>
              </a:rPr>
              <a:t>super</a:t>
            </a:r>
            <a:r>
              <a:rPr lang="en-US" altLang="en-US" sz="1600" dirty="0"/>
              <a:t> (name); }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chemeClr val="accent2"/>
                </a:solidFill>
              </a:rPr>
              <a:t>public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void</a:t>
            </a:r>
            <a:r>
              <a:rPr lang="en-US" altLang="en-US" sz="1600" dirty="0"/>
              <a:t> run () {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 err="1"/>
              <a:t>System.out.println</a:t>
            </a:r>
            <a:r>
              <a:rPr lang="en-US" altLang="en-US" sz="1600" dirty="0"/>
              <a:t>(“My name is ” + </a:t>
            </a:r>
            <a:r>
              <a:rPr lang="en-US" altLang="en-US" sz="1600" dirty="0" err="1"/>
              <a:t>getName</a:t>
            </a:r>
            <a:r>
              <a:rPr lang="en-US" altLang="en-US" sz="1600" dirty="0"/>
              <a:t>());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}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}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>
                <a:solidFill>
                  <a:schemeClr val="accent2"/>
                </a:solidFill>
              </a:rPr>
              <a:t>class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B</a:t>
            </a:r>
            <a:r>
              <a:rPr lang="en-US" altLang="en-US" sz="1600" dirty="0"/>
              <a:t> {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chemeClr val="accent2"/>
                </a:solidFill>
              </a:rPr>
              <a:t>public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static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void</a:t>
            </a:r>
            <a:r>
              <a:rPr lang="en-US" altLang="en-US" sz="1600" dirty="0"/>
              <a:t> main (</a:t>
            </a:r>
            <a:r>
              <a:rPr lang="en-US" altLang="en-US" sz="1600" dirty="0">
                <a:solidFill>
                  <a:srgbClr val="008000"/>
                </a:solidFill>
              </a:rPr>
              <a:t>String</a:t>
            </a:r>
            <a:r>
              <a:rPr lang="en-US" altLang="en-US" sz="1600" dirty="0"/>
              <a:t> [] </a:t>
            </a:r>
            <a:r>
              <a:rPr lang="en-US" altLang="en-US" sz="1600" dirty="0" err="1"/>
              <a:t>args</a:t>
            </a:r>
            <a:r>
              <a:rPr lang="en-US" altLang="en-US" sz="1600" dirty="0"/>
              <a:t>) {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>
                <a:solidFill>
                  <a:srgbClr val="008000"/>
                </a:solidFill>
              </a:rPr>
              <a:t>A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</a:t>
            </a:r>
            <a:r>
              <a:rPr lang="en-US" altLang="en-US" sz="1600" dirty="0"/>
              <a:t> = </a:t>
            </a:r>
            <a:r>
              <a:rPr lang="en-US" altLang="en-US" sz="1600" dirty="0">
                <a:solidFill>
                  <a:schemeClr val="accent2"/>
                </a:solidFill>
              </a:rPr>
              <a:t>new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A</a:t>
            </a:r>
            <a:r>
              <a:rPr lang="en-US" altLang="en-US" sz="1600" dirty="0"/>
              <a:t> (“mud”);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 err="1"/>
              <a:t>a.start</a:t>
            </a:r>
            <a:r>
              <a:rPr lang="en-US" altLang="en-US" sz="1600" dirty="0"/>
              <a:t> ();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	}</a:t>
            </a:r>
          </a:p>
          <a:p>
            <a:pPr>
              <a:spcBef>
                <a:spcPct val="0"/>
              </a:spcBef>
              <a:tabLst>
                <a:tab pos="463550" algn="l"/>
                <a:tab pos="914400" algn="l"/>
              </a:tabLst>
            </a:pPr>
            <a:r>
              <a:rPr lang="en-US" altLang="en-US" sz="1600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>
            <a:off x="609600" y="545159"/>
            <a:ext cx="7024744" cy="85725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Way to achive Thread</a:t>
            </a:r>
            <a:endParaRPr sz="3200" b="1" dirty="0"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4294967295"/>
          </p:nvPr>
        </p:nvSpPr>
        <p:spPr>
          <a:xfrm>
            <a:off x="990600" y="1276350"/>
            <a:ext cx="7788275" cy="4095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2800" dirty="0"/>
              <a:t>2 .</a:t>
            </a:r>
            <a:r>
              <a:rPr lang="en" dirty="0"/>
              <a:t> </a:t>
            </a:r>
            <a:r>
              <a:rPr lang="en-US" dirty="0"/>
              <a:t>  By implementing Runnable interface.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039510" y="1962150"/>
            <a:ext cx="5791200" cy="307816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>
                <a:solidFill>
                  <a:schemeClr val="accent2"/>
                </a:solidFill>
              </a:rPr>
              <a:t>class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A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extends</a:t>
            </a:r>
            <a:r>
              <a:rPr lang="en-US" altLang="en-US" sz="1600" dirty="0"/>
              <a:t> ... </a:t>
            </a:r>
            <a:r>
              <a:rPr lang="en-US" altLang="en-US" sz="1600" dirty="0">
                <a:solidFill>
                  <a:schemeClr val="accent2"/>
                </a:solidFill>
              </a:rPr>
              <a:t>implements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Runnable</a:t>
            </a:r>
            <a:r>
              <a:rPr lang="en-US" altLang="en-US" sz="1600" dirty="0"/>
              <a:t> {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chemeClr val="accent2"/>
                </a:solidFill>
              </a:rPr>
              <a:t>public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void</a:t>
            </a:r>
            <a:r>
              <a:rPr lang="en-US" altLang="en-US" sz="1600" dirty="0"/>
              <a:t> run () {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 err="1"/>
              <a:t>System.out.println</a:t>
            </a:r>
            <a:r>
              <a:rPr lang="en-US" altLang="en-US" sz="1600" dirty="0"/>
              <a:t>(“My name is ” + </a:t>
            </a:r>
            <a:r>
              <a:rPr lang="en-US" altLang="en-US" sz="1600" dirty="0" err="1"/>
              <a:t>getName</a:t>
            </a:r>
            <a:r>
              <a:rPr lang="en-US" altLang="en-US" sz="1600" dirty="0"/>
              <a:t> () );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}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}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>
                <a:solidFill>
                  <a:schemeClr val="accent2"/>
                </a:solidFill>
              </a:rPr>
              <a:t>class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B</a:t>
            </a:r>
            <a:r>
              <a:rPr lang="en-US" altLang="en-US" sz="1600" dirty="0"/>
              <a:t> {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chemeClr val="accent2"/>
                </a:solidFill>
              </a:rPr>
              <a:t>public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static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chemeClr val="accent2"/>
                </a:solidFill>
              </a:rPr>
              <a:t>void</a:t>
            </a:r>
            <a:r>
              <a:rPr lang="en-US" altLang="en-US" sz="1600" dirty="0"/>
              <a:t> main (</a:t>
            </a:r>
            <a:r>
              <a:rPr lang="en-US" altLang="en-US" sz="1600" dirty="0">
                <a:solidFill>
                  <a:srgbClr val="008000"/>
                </a:solidFill>
              </a:rPr>
              <a:t>String</a:t>
            </a:r>
            <a:r>
              <a:rPr lang="en-US" altLang="en-US" sz="1600" dirty="0"/>
              <a:t> [] </a:t>
            </a:r>
            <a:r>
              <a:rPr lang="en-US" altLang="en-US" sz="1600" dirty="0" err="1"/>
              <a:t>args</a:t>
            </a:r>
            <a:r>
              <a:rPr lang="en-US" altLang="en-US" sz="1600" dirty="0"/>
              <a:t>) {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>
                <a:solidFill>
                  <a:srgbClr val="008000"/>
                </a:solidFill>
              </a:rPr>
              <a:t>A</a:t>
            </a:r>
            <a:r>
              <a:rPr lang="en-US" altLang="en-US" sz="1600" dirty="0"/>
              <a:t> </a:t>
            </a:r>
            <a:r>
              <a:rPr lang="en-US" altLang="en-US" sz="1600" dirty="0" err="1"/>
              <a:t>a</a:t>
            </a:r>
            <a:r>
              <a:rPr lang="en-US" altLang="en-US" sz="1600" dirty="0"/>
              <a:t> = </a:t>
            </a:r>
            <a:r>
              <a:rPr lang="en-US" altLang="en-US" sz="1600" dirty="0">
                <a:solidFill>
                  <a:schemeClr val="accent2"/>
                </a:solidFill>
              </a:rPr>
              <a:t>new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A</a:t>
            </a:r>
            <a:r>
              <a:rPr lang="en-US" altLang="en-US" sz="1600" dirty="0"/>
              <a:t> ();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>
                <a:solidFill>
                  <a:srgbClr val="008000"/>
                </a:solidFill>
              </a:rPr>
              <a:t>Thread</a:t>
            </a:r>
            <a:r>
              <a:rPr lang="en-US" altLang="en-US" sz="1600" dirty="0"/>
              <a:t> t = </a:t>
            </a:r>
            <a:r>
              <a:rPr lang="en-US" altLang="en-US" sz="1600" dirty="0">
                <a:solidFill>
                  <a:schemeClr val="accent2"/>
                </a:solidFill>
              </a:rPr>
              <a:t>new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8000"/>
                </a:solidFill>
              </a:rPr>
              <a:t>Thread</a:t>
            </a:r>
            <a:r>
              <a:rPr lang="en-US" altLang="en-US" sz="1600" dirty="0"/>
              <a:t> (a, “mud, too”);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	</a:t>
            </a:r>
            <a:r>
              <a:rPr lang="en-US" altLang="en-US" sz="1600" dirty="0" err="1"/>
              <a:t>t.start</a:t>
            </a:r>
            <a:r>
              <a:rPr lang="en-US" altLang="en-US" sz="1600" dirty="0"/>
              <a:t> ();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	}</a:t>
            </a:r>
          </a:p>
          <a:p>
            <a:pPr>
              <a:spcBef>
                <a:spcPct val="0"/>
              </a:spcBef>
              <a:tabLst>
                <a:tab pos="463550" algn="l"/>
              </a:tabLst>
            </a:pPr>
            <a:r>
              <a:rPr lang="en-US" altLang="en-US" sz="1600" dirty="0"/>
              <a:t>}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396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838200" y="880050"/>
            <a:ext cx="75438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Life cycle of a Thread (ThreadStates)</a:t>
            </a:r>
            <a:endParaRPr b="1" dirty="0"/>
          </a:p>
        </p:txBody>
      </p:sp>
      <p:sp>
        <p:nvSpPr>
          <p:cNvPr id="241" name="Google Shape;241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79" b="14346"/>
          <a:stretch/>
        </p:blipFill>
        <p:spPr>
          <a:xfrm>
            <a:off x="1295400" y="2190750"/>
            <a:ext cx="6400800" cy="235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1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3200" b="1" dirty="0"/>
              <a:t>Java Thread </a:t>
            </a:r>
            <a:r>
              <a:rPr lang="en-US" sz="3200" b="1" dirty="0" err="1"/>
              <a:t>setPriority</a:t>
            </a:r>
            <a:r>
              <a:rPr lang="en-US" sz="3200" b="1" dirty="0"/>
              <a:t>() method</a:t>
            </a:r>
            <a:endParaRPr sz="3200" b="1" dirty="0"/>
          </a:p>
        </p:txBody>
      </p:sp>
      <p:sp>
        <p:nvSpPr>
          <p:cNvPr id="286" name="Google Shape;286;p20"/>
          <p:cNvSpPr txBox="1">
            <a:spLocks noGrp="1"/>
          </p:cNvSpPr>
          <p:nvPr>
            <p:ph type="body" idx="1"/>
          </p:nvPr>
        </p:nvSpPr>
        <p:spPr>
          <a:xfrm>
            <a:off x="779100" y="2571750"/>
            <a:ext cx="2079900" cy="21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US" sz="1600" b="1" dirty="0"/>
              <a:t>public static </a:t>
            </a:r>
            <a:r>
              <a:rPr lang="en-US" sz="1600" b="1" dirty="0" err="1"/>
              <a:t>intMIN_PRIORITY</a:t>
            </a:r>
            <a:r>
              <a:rPr lang="en-US" sz="1600" b="1" dirty="0"/>
              <a:t>:</a:t>
            </a:r>
            <a:endParaRPr sz="1600" b="1" dirty="0"/>
          </a:p>
          <a:p>
            <a:endParaRPr lang="en-US" sz="1600" dirty="0"/>
          </a:p>
          <a:p>
            <a:pPr marL="139700" indent="0">
              <a:buNone/>
            </a:pPr>
            <a:r>
              <a:rPr lang="en-US" sz="1600" dirty="0"/>
              <a:t>It is the maximum priority of a thread. The value of it is 1.</a:t>
            </a:r>
          </a:p>
        </p:txBody>
      </p:sp>
      <p:sp>
        <p:nvSpPr>
          <p:cNvPr id="287" name="Google Shape;287;p20"/>
          <p:cNvSpPr txBox="1">
            <a:spLocks noGrp="1"/>
          </p:cNvSpPr>
          <p:nvPr>
            <p:ph type="body" idx="2"/>
          </p:nvPr>
        </p:nvSpPr>
        <p:spPr>
          <a:xfrm>
            <a:off x="3077669" y="25798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600" b="1" dirty="0"/>
              <a:t>public static </a:t>
            </a:r>
            <a:r>
              <a:rPr lang="en-US" sz="1600" b="1" dirty="0" err="1"/>
              <a:t>intNORM_PRIORITY</a:t>
            </a: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/>
          </a:p>
          <a:p>
            <a:pPr marL="139700" indent="0">
              <a:buNone/>
            </a:pPr>
            <a:r>
              <a:rPr lang="en-US" sz="1600" dirty="0"/>
              <a:t>It is the normal priority of a thread. The value of it is 5. </a:t>
            </a:r>
          </a:p>
        </p:txBody>
      </p:sp>
      <p:sp>
        <p:nvSpPr>
          <p:cNvPr id="288" name="Google Shape;288;p20"/>
          <p:cNvSpPr txBox="1">
            <a:spLocks noGrp="1"/>
          </p:cNvSpPr>
          <p:nvPr>
            <p:ph type="body" idx="3"/>
          </p:nvPr>
        </p:nvSpPr>
        <p:spPr>
          <a:xfrm>
            <a:off x="5540100" y="25798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39700" indent="0">
              <a:buNone/>
            </a:pPr>
            <a:r>
              <a:rPr lang="en-US" sz="1600" b="1" dirty="0"/>
              <a:t>public static </a:t>
            </a:r>
            <a:r>
              <a:rPr lang="en-US" sz="1600" b="1" dirty="0" err="1"/>
              <a:t>intMAX_PRIORITY</a:t>
            </a:r>
            <a:r>
              <a:rPr lang="en-US" sz="1600" b="1" dirty="0"/>
              <a:t>:</a:t>
            </a:r>
            <a:endParaRPr lang="en-US" sz="1600" dirty="0"/>
          </a:p>
          <a:p>
            <a:pPr marL="139700" indent="0">
              <a:buNone/>
            </a:pPr>
            <a:endParaRPr lang="en-US" sz="1600" b="1" dirty="0"/>
          </a:p>
          <a:p>
            <a:pPr marL="139700" indent="0">
              <a:buNone/>
            </a:pPr>
            <a:r>
              <a:rPr lang="en-US" sz="1600" dirty="0"/>
              <a:t>It is the minimum priority of a thread. The value of it is 10.</a:t>
            </a: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1600" dirty="0"/>
          </a:p>
        </p:txBody>
      </p:sp>
      <p:sp>
        <p:nvSpPr>
          <p:cNvPr id="289" name="Google Shape;289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2" name="Google Shape;285;p20"/>
          <p:cNvSpPr txBox="1">
            <a:spLocks/>
          </p:cNvSpPr>
          <p:nvPr/>
        </p:nvSpPr>
        <p:spPr>
          <a:xfrm>
            <a:off x="838200" y="1428750"/>
            <a:ext cx="80010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r>
              <a:rPr lang="en-US" sz="2000" b="0" dirty="0">
                <a:solidFill>
                  <a:schemeClr val="tx2">
                    <a:lumMod val="25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tx2">
                    <a:lumMod val="25000"/>
                  </a:schemeClr>
                </a:solidFill>
              </a:rPr>
              <a:t>setPriority</a:t>
            </a:r>
            <a:r>
              <a:rPr lang="en-US" sz="2000" dirty="0">
                <a:solidFill>
                  <a:schemeClr val="tx2">
                    <a:lumMod val="25000"/>
                  </a:schemeClr>
                </a:solidFill>
              </a:rPr>
              <a:t>()</a:t>
            </a:r>
            <a:r>
              <a:rPr lang="en-US" sz="2000" b="0" dirty="0">
                <a:solidFill>
                  <a:schemeClr val="tx2">
                    <a:lumMod val="25000"/>
                  </a:schemeClr>
                </a:solidFill>
              </a:rPr>
              <a:t>method of thread class is used to change the thread's priority. Every thread has a priority which is represented by the integer </a:t>
            </a:r>
            <a:endParaRPr lang="en-US" sz="2000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683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3200" b="1" dirty="0"/>
              <a:t>Thread Scheduler in Java</a:t>
            </a:r>
            <a:endParaRPr sz="3200" b="1" dirty="0"/>
          </a:p>
        </p:txBody>
      </p:sp>
      <p:sp>
        <p:nvSpPr>
          <p:cNvPr id="240" name="Google Shape;240;p17"/>
          <p:cNvSpPr txBox="1">
            <a:spLocks noGrp="1"/>
          </p:cNvSpPr>
          <p:nvPr>
            <p:ph type="body" idx="1"/>
          </p:nvPr>
        </p:nvSpPr>
        <p:spPr>
          <a:xfrm>
            <a:off x="762000" y="1733550"/>
            <a:ext cx="6688500" cy="25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-US" dirty="0"/>
              <a:t>1 .  Thread scheduler in java is the part of the JVM that decides which thread should run.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endParaRPr lang="en-US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-US" dirty="0"/>
              <a:t>2 .  Only one thread at a time can run in a 	single process.</a:t>
            </a:r>
            <a:endParaRPr dirty="0"/>
          </a:p>
        </p:txBody>
      </p:sp>
      <p:sp>
        <p:nvSpPr>
          <p:cNvPr id="241" name="Google Shape;241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2315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3200" b="1" dirty="0"/>
              <a:t>Thread Synchronization</a:t>
            </a:r>
            <a:endParaRPr sz="3200" b="1" dirty="0"/>
          </a:p>
        </p:txBody>
      </p:sp>
      <p:sp>
        <p:nvSpPr>
          <p:cNvPr id="240" name="Google Shape;240;p17"/>
          <p:cNvSpPr txBox="1">
            <a:spLocks noGrp="1"/>
          </p:cNvSpPr>
          <p:nvPr>
            <p:ph type="body" idx="1"/>
          </p:nvPr>
        </p:nvSpPr>
        <p:spPr>
          <a:xfrm>
            <a:off x="779100" y="1657350"/>
            <a:ext cx="6917100" cy="29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It’s a technic to control multiple thread.</a:t>
            </a:r>
          </a:p>
          <a:p>
            <a:endParaRPr lang="en-US" sz="2000" dirty="0"/>
          </a:p>
          <a:p>
            <a:r>
              <a:rPr lang="en-US" sz="2000" dirty="0"/>
              <a:t>Allow one thread at a time.</a:t>
            </a:r>
          </a:p>
          <a:p>
            <a:endParaRPr lang="en-US" sz="2000" dirty="0"/>
          </a:p>
          <a:p>
            <a:r>
              <a:rPr lang="en" sz="2000" dirty="0"/>
              <a:t>2 .   </a:t>
            </a:r>
            <a:r>
              <a:rPr lang="en-US" sz="2000" dirty="0"/>
              <a:t>Synchronized block is used to lock an 	object for any shared resource.</a:t>
            </a:r>
          </a:p>
          <a:p>
            <a:pPr marL="0" lvl="0" indent="0" rtl="0">
              <a:spcBef>
                <a:spcPts val="800"/>
              </a:spcBef>
              <a:spcAft>
                <a:spcPts val="800"/>
              </a:spcAft>
              <a:buNone/>
            </a:pPr>
            <a:endParaRPr sz="2000" dirty="0"/>
          </a:p>
        </p:txBody>
      </p:sp>
      <p:sp>
        <p:nvSpPr>
          <p:cNvPr id="241" name="Google Shape;241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231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5400" b="1" dirty="0">
                <a:solidFill>
                  <a:srgbClr val="92D050"/>
                </a:solidFill>
              </a:rPr>
              <a:t>Any Question    </a:t>
            </a:r>
          </a:p>
          <a:p>
            <a:pPr marL="0" lvl="0" indent="0" algn="ctr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5400" b="1" dirty="0">
                <a:solidFill>
                  <a:srgbClr val="92D050"/>
                </a:solidFill>
              </a:rPr>
              <a:t>?</a:t>
            </a:r>
            <a:endParaRPr sz="5400" b="1" dirty="0">
              <a:solidFill>
                <a:srgbClr val="92D050"/>
              </a:solidFill>
            </a:endParaRPr>
          </a:p>
        </p:txBody>
      </p:sp>
      <p:sp>
        <p:nvSpPr>
          <p:cNvPr id="234" name="Google Shape;234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819400" y="1969353"/>
            <a:ext cx="48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6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Thank You…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149</TotalTime>
  <Words>405</Words>
  <Application>Microsoft Office PowerPoint</Application>
  <PresentationFormat>On-screen Show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Catamaran</vt:lpstr>
      <vt:lpstr>Arial</vt:lpstr>
      <vt:lpstr>Century Gothic</vt:lpstr>
      <vt:lpstr>Wingdings 2</vt:lpstr>
      <vt:lpstr>MV Boli</vt:lpstr>
      <vt:lpstr>Austin</vt:lpstr>
      <vt:lpstr>PowerPoint Presentation</vt:lpstr>
      <vt:lpstr>What is Thread ?</vt:lpstr>
      <vt:lpstr>PowerPoint Presentation</vt:lpstr>
      <vt:lpstr>PowerPoint Presentation</vt:lpstr>
      <vt:lpstr>Way to achive Thread</vt:lpstr>
      <vt:lpstr>Way to achive Thread</vt:lpstr>
      <vt:lpstr>Life cycle of a Thread (ThreadStates)</vt:lpstr>
      <vt:lpstr>Java Thread setPriority() method</vt:lpstr>
      <vt:lpstr>Thread Scheduler in Java</vt:lpstr>
      <vt:lpstr>Thread Synchronization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YoutechBD</cp:lastModifiedBy>
  <cp:revision>14</cp:revision>
  <dcterms:modified xsi:type="dcterms:W3CDTF">2023-06-07T19:47:31Z</dcterms:modified>
</cp:coreProperties>
</file>