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0"/>
  </p:notesMasterIdLst>
  <p:sldIdLst>
    <p:sldId id="256" r:id="rId2"/>
    <p:sldId id="259" r:id="rId3"/>
    <p:sldId id="262" r:id="rId4"/>
    <p:sldId id="292" r:id="rId5"/>
    <p:sldId id="295" r:id="rId6"/>
    <p:sldId id="293" r:id="rId7"/>
    <p:sldId id="294" r:id="rId8"/>
    <p:sldId id="291" r:id="rId9"/>
  </p:sldIdLst>
  <p:sldSz cx="9144000" cy="5143500" type="screen16x9"/>
  <p:notesSz cx="6858000" cy="9144000"/>
  <p:embeddedFontLst>
    <p:embeddedFont>
      <p:font typeface="Bebas Neue" panose="020B0604020202020204" charset="0"/>
      <p:regular r:id="rId11"/>
    </p:embeddedFont>
    <p:embeddedFont>
      <p:font typeface="Catamaran" panose="020B0604020202020204" charset="0"/>
      <p:regular r:id="rId12"/>
      <p:bold r:id="rId13"/>
    </p:embeddedFont>
    <p:embeddedFont>
      <p:font typeface="Quantico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B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200FC4-9149-46CE-8A2E-97B2C3FCE71E}">
  <a:tblStyle styleId="{90200FC4-9149-46CE-8A2E-97B2C3FCE7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8" autoAdjust="0"/>
    <p:restoredTop sz="93776" autoAdjust="0"/>
  </p:normalViewPr>
  <p:slideViewPr>
    <p:cSldViewPr snapToGrid="0">
      <p:cViewPr>
        <p:scale>
          <a:sx n="100" d="100"/>
          <a:sy n="100" d="100"/>
        </p:scale>
        <p:origin x="46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1989f454a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1989f454a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0909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7286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8497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567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10a7be6e973_0_1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10a7be6e973_0_1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05300" y="539500"/>
            <a:ext cx="77334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82945" y="3943275"/>
            <a:ext cx="2516700" cy="6561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idx="2"/>
          </p:nvPr>
        </p:nvSpPr>
        <p:spPr>
          <a:xfrm>
            <a:off x="750550" y="1626076"/>
            <a:ext cx="3821400" cy="11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/>
          <p:nvPr/>
        </p:nvSpPr>
        <p:spPr>
          <a:xfrm>
            <a:off x="-7200" y="-14375"/>
            <a:ext cx="9151200" cy="51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1101000" y="539500"/>
            <a:ext cx="385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"/>
          </p:nvPr>
        </p:nvSpPr>
        <p:spPr>
          <a:xfrm>
            <a:off x="1066800" y="1615000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 hasCustomPrompt="1"/>
          </p:nvPr>
        </p:nvSpPr>
        <p:spPr>
          <a:xfrm>
            <a:off x="4948250" y="1223975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3"/>
          </p:nvPr>
        </p:nvSpPr>
        <p:spPr>
          <a:xfrm>
            <a:off x="1066800" y="1225017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4"/>
          </p:nvPr>
        </p:nvSpPr>
        <p:spPr>
          <a:xfrm>
            <a:off x="1066800" y="2445956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5" hasCustomPrompt="1"/>
          </p:nvPr>
        </p:nvSpPr>
        <p:spPr>
          <a:xfrm>
            <a:off x="4948250" y="2062050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6"/>
          </p:nvPr>
        </p:nvSpPr>
        <p:spPr>
          <a:xfrm>
            <a:off x="1066800" y="2053951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7"/>
          </p:nvPr>
        </p:nvSpPr>
        <p:spPr>
          <a:xfrm>
            <a:off x="1066800" y="3293178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8" hasCustomPrompt="1"/>
          </p:nvPr>
        </p:nvSpPr>
        <p:spPr>
          <a:xfrm>
            <a:off x="4948250" y="2900125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9"/>
          </p:nvPr>
        </p:nvSpPr>
        <p:spPr>
          <a:xfrm>
            <a:off x="1066800" y="2902441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3"/>
          </p:nvPr>
        </p:nvSpPr>
        <p:spPr>
          <a:xfrm>
            <a:off x="1066800" y="4128938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4" hasCustomPrompt="1"/>
          </p:nvPr>
        </p:nvSpPr>
        <p:spPr>
          <a:xfrm>
            <a:off x="4948250" y="3738200"/>
            <a:ext cx="731400" cy="7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5"/>
          </p:nvPr>
        </p:nvSpPr>
        <p:spPr>
          <a:xfrm>
            <a:off x="1066800" y="3738200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996750" y="3122507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title" idx="2"/>
          </p:nvPr>
        </p:nvSpPr>
        <p:spPr>
          <a:xfrm>
            <a:off x="5166450" y="3122507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ubTitle" idx="1"/>
          </p:nvPr>
        </p:nvSpPr>
        <p:spPr>
          <a:xfrm>
            <a:off x="5166150" y="3534315"/>
            <a:ext cx="29814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subTitle" idx="3"/>
          </p:nvPr>
        </p:nvSpPr>
        <p:spPr>
          <a:xfrm>
            <a:off x="996750" y="3534315"/>
            <a:ext cx="29808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>
            <a:spLocks noGrp="1"/>
          </p:cNvSpPr>
          <p:nvPr>
            <p:ph type="title"/>
          </p:nvPr>
        </p:nvSpPr>
        <p:spPr>
          <a:xfrm>
            <a:off x="975100" y="539498"/>
            <a:ext cx="4294800" cy="10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33"/>
          <p:cNvSpPr txBox="1">
            <a:spLocks noGrp="1"/>
          </p:cNvSpPr>
          <p:nvPr>
            <p:ph type="subTitle" idx="1"/>
          </p:nvPr>
        </p:nvSpPr>
        <p:spPr>
          <a:xfrm>
            <a:off x="975093" y="1753036"/>
            <a:ext cx="3434700" cy="10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3"/>
          <p:cNvSpPr txBox="1"/>
          <p:nvPr/>
        </p:nvSpPr>
        <p:spPr>
          <a:xfrm>
            <a:off x="975100" y="4217050"/>
            <a:ext cx="3690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and includes icons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34"/>
          <p:cNvGrpSpPr/>
          <p:nvPr/>
        </p:nvGrpSpPr>
        <p:grpSpPr>
          <a:xfrm rot="-5400000" flipH="1">
            <a:off x="687433" y="4099490"/>
            <a:ext cx="302065" cy="1520982"/>
            <a:chOff x="-108754" y="2690919"/>
            <a:chExt cx="302065" cy="1520982"/>
          </a:xfrm>
        </p:grpSpPr>
        <p:sp>
          <p:nvSpPr>
            <p:cNvPr id="318" name="Google Shape;318;p3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" name="Google Shape;323;p34"/>
          <p:cNvGrpSpPr/>
          <p:nvPr/>
        </p:nvGrpSpPr>
        <p:grpSpPr>
          <a:xfrm rot="-5400000" flipH="1">
            <a:off x="8129358" y="-431685"/>
            <a:ext cx="302065" cy="1520982"/>
            <a:chOff x="-108754" y="2690919"/>
            <a:chExt cx="302065" cy="1520982"/>
          </a:xfrm>
        </p:grpSpPr>
        <p:sp>
          <p:nvSpPr>
            <p:cNvPr id="324" name="Google Shape;324;p3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34"/>
          <p:cNvGrpSpPr/>
          <p:nvPr/>
        </p:nvGrpSpPr>
        <p:grpSpPr>
          <a:xfrm rot="5400000" flipH="1">
            <a:off x="8503950" y="153833"/>
            <a:ext cx="98902" cy="553090"/>
            <a:chOff x="4898850" y="4820550"/>
            <a:chExt cx="98902" cy="553090"/>
          </a:xfrm>
        </p:grpSpPr>
        <p:sp>
          <p:nvSpPr>
            <p:cNvPr id="330" name="Google Shape;330;p3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35"/>
          <p:cNvGrpSpPr/>
          <p:nvPr/>
        </p:nvGrpSpPr>
        <p:grpSpPr>
          <a:xfrm>
            <a:off x="7348717" y="137479"/>
            <a:ext cx="1823016" cy="296643"/>
            <a:chOff x="7857346" y="3902355"/>
            <a:chExt cx="1823016" cy="296643"/>
          </a:xfrm>
        </p:grpSpPr>
        <p:sp>
          <p:nvSpPr>
            <p:cNvPr id="337" name="Google Shape;337;p3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-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17750" y="539496"/>
            <a:ext cx="770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Quantico"/>
              <a:buNone/>
              <a:defRPr sz="3200" b="1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●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○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■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●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○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■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●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○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■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71" r:id="rId4"/>
    <p:sldLayoutId id="2147483679" r:id="rId5"/>
    <p:sldLayoutId id="2147483680" r:id="rId6"/>
    <p:sldLayoutId id="214748368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"/>
          <p:cNvSpPr txBox="1">
            <a:spLocks noGrp="1"/>
          </p:cNvSpPr>
          <p:nvPr>
            <p:ph type="ctrTitle"/>
          </p:nvPr>
        </p:nvSpPr>
        <p:spPr>
          <a:xfrm>
            <a:off x="669092" y="1198539"/>
            <a:ext cx="2594267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CSE 201</a:t>
            </a:r>
            <a:endParaRPr dirty="0"/>
          </a:p>
        </p:txBody>
      </p:sp>
      <p:sp>
        <p:nvSpPr>
          <p:cNvPr id="355" name="Google Shape;355;p39"/>
          <p:cNvSpPr txBox="1">
            <a:spLocks noGrp="1"/>
          </p:cNvSpPr>
          <p:nvPr>
            <p:ph type="ctrTitle" idx="2"/>
          </p:nvPr>
        </p:nvSpPr>
        <p:spPr>
          <a:xfrm>
            <a:off x="714263" y="2046989"/>
            <a:ext cx="4554421" cy="14436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Object </a:t>
            </a:r>
            <a:r>
              <a:rPr lang="en-US" dirty="0"/>
              <a:t>Oriented Programming</a:t>
            </a:r>
            <a:endParaRPr dirty="0"/>
          </a:p>
        </p:txBody>
      </p:sp>
      <p:sp>
        <p:nvSpPr>
          <p:cNvPr id="356" name="Google Shape;356;p39"/>
          <p:cNvSpPr/>
          <p:nvPr/>
        </p:nvSpPr>
        <p:spPr>
          <a:xfrm>
            <a:off x="746659" y="3466959"/>
            <a:ext cx="3663149" cy="4046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 smtClean="0"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Quantico"/>
              </a:rPr>
              <a:t>ABSTRACTION</a:t>
            </a:r>
            <a:endParaRPr b="1" i="0" dirty="0"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Quantico"/>
            </a:endParaRPr>
          </a:p>
        </p:txBody>
      </p:sp>
      <p:pic>
        <p:nvPicPr>
          <p:cNvPr id="357" name="Google Shape;357;p39"/>
          <p:cNvPicPr preferRelativeResize="0"/>
          <p:nvPr/>
        </p:nvPicPr>
        <p:blipFill rotWithShape="1">
          <a:blip r:embed="rId3">
            <a:alphaModFix/>
          </a:blip>
          <a:srcRect l="6369" r="6369"/>
          <a:stretch/>
        </p:blipFill>
        <p:spPr>
          <a:xfrm>
            <a:off x="5014200" y="1447475"/>
            <a:ext cx="4126500" cy="3151899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8" name="Google Shape;358;p39"/>
          <p:cNvSpPr/>
          <p:nvPr/>
        </p:nvSpPr>
        <p:spPr>
          <a:xfrm>
            <a:off x="740192" y="1868389"/>
            <a:ext cx="3795600" cy="84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9"/>
          <p:cNvSpPr/>
          <p:nvPr/>
        </p:nvSpPr>
        <p:spPr>
          <a:xfrm>
            <a:off x="740192" y="3985314"/>
            <a:ext cx="3795600" cy="84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200" y="1447474"/>
            <a:ext cx="4126499" cy="3151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2"/>
          <p:cNvSpPr txBox="1">
            <a:spLocks noGrp="1"/>
          </p:cNvSpPr>
          <p:nvPr>
            <p:ph type="subTitle" idx="3"/>
          </p:nvPr>
        </p:nvSpPr>
        <p:spPr>
          <a:xfrm>
            <a:off x="1066800" y="901963"/>
            <a:ext cx="3852000" cy="10403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/>
              <a:t>What is </a:t>
            </a:r>
            <a:r>
              <a:rPr lang="en-US" b="0" dirty="0" smtClean="0"/>
              <a:t>an Abstraction?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subTitle" idx="6"/>
          </p:nvPr>
        </p:nvSpPr>
        <p:spPr>
          <a:xfrm>
            <a:off x="-463638" y="1705321"/>
            <a:ext cx="5411888" cy="13912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/>
              <a:t>Implementing abstraction in </a:t>
            </a:r>
            <a:r>
              <a:rPr lang="en-US" b="0" dirty="0" smtClean="0"/>
              <a:t>Java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396" name="Google Shape;396;p42"/>
          <p:cNvSpPr txBox="1">
            <a:spLocks noGrp="1"/>
          </p:cNvSpPr>
          <p:nvPr>
            <p:ph type="subTitle" idx="9"/>
          </p:nvPr>
        </p:nvSpPr>
        <p:spPr>
          <a:xfrm>
            <a:off x="1066800" y="2902441"/>
            <a:ext cx="38520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0" dirty="0"/>
              <a:t>A</a:t>
            </a:r>
            <a:r>
              <a:rPr lang="en-US" b="0" dirty="0" smtClean="0"/>
              <a:t>bstract </a:t>
            </a:r>
            <a:r>
              <a:rPr lang="en-US" b="0" dirty="0"/>
              <a:t>method</a:t>
            </a:r>
            <a:endParaRPr dirty="0"/>
          </a:p>
        </p:txBody>
      </p:sp>
      <p:sp>
        <p:nvSpPr>
          <p:cNvPr id="397" name="Google Shape;397;p42"/>
          <p:cNvSpPr txBox="1">
            <a:spLocks noGrp="1"/>
          </p:cNvSpPr>
          <p:nvPr>
            <p:ph type="subTitle" idx="15"/>
          </p:nvPr>
        </p:nvSpPr>
        <p:spPr>
          <a:xfrm>
            <a:off x="0" y="3738200"/>
            <a:ext cx="49188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0" dirty="0"/>
              <a:t>Advantages of Java </a:t>
            </a:r>
            <a:r>
              <a:rPr lang="en-US" b="0" dirty="0" smtClean="0"/>
              <a:t>Abstraction</a:t>
            </a:r>
            <a:endParaRPr dirty="0"/>
          </a:p>
        </p:txBody>
      </p:sp>
      <p:sp>
        <p:nvSpPr>
          <p:cNvPr id="398" name="Google Shape;398;p42"/>
          <p:cNvSpPr/>
          <p:nvPr/>
        </p:nvSpPr>
        <p:spPr>
          <a:xfrm flipH="1">
            <a:off x="3127500" y="1608976"/>
            <a:ext cx="1715100" cy="459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42"/>
          <p:cNvSpPr/>
          <p:nvPr/>
        </p:nvSpPr>
        <p:spPr>
          <a:xfrm flipH="1">
            <a:off x="3127500" y="2431110"/>
            <a:ext cx="1715100" cy="459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2"/>
          <p:cNvSpPr/>
          <p:nvPr/>
        </p:nvSpPr>
        <p:spPr>
          <a:xfrm flipH="1">
            <a:off x="3127500" y="3283013"/>
            <a:ext cx="1715100" cy="459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2"/>
          <p:cNvSpPr/>
          <p:nvPr/>
        </p:nvSpPr>
        <p:spPr>
          <a:xfrm flipH="1">
            <a:off x="3127500" y="4115384"/>
            <a:ext cx="1715100" cy="459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2" name="Google Shape;402;p42"/>
          <p:cNvPicPr preferRelativeResize="0"/>
          <p:nvPr/>
        </p:nvPicPr>
        <p:blipFill rotWithShape="1">
          <a:blip r:embed="rId3">
            <a:alphaModFix/>
          </a:blip>
          <a:srcRect t="7418" b="7409"/>
          <a:stretch/>
        </p:blipFill>
        <p:spPr>
          <a:xfrm rot="5400000">
            <a:off x="5260188" y="1423112"/>
            <a:ext cx="4039249" cy="2292875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3" name="Google Shape;403;p42"/>
          <p:cNvSpPr txBox="1">
            <a:spLocks noGrp="1"/>
          </p:cNvSpPr>
          <p:nvPr>
            <p:ph type="title"/>
          </p:nvPr>
        </p:nvSpPr>
        <p:spPr>
          <a:xfrm>
            <a:off x="1101000" y="539500"/>
            <a:ext cx="385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04" name="Google Shape;404;p42"/>
          <p:cNvSpPr txBox="1">
            <a:spLocks noGrp="1"/>
          </p:cNvSpPr>
          <p:nvPr>
            <p:ph type="title" idx="2"/>
          </p:nvPr>
        </p:nvSpPr>
        <p:spPr>
          <a:xfrm>
            <a:off x="4948250" y="1223975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05" name="Google Shape;405;p42"/>
          <p:cNvSpPr txBox="1">
            <a:spLocks noGrp="1"/>
          </p:cNvSpPr>
          <p:nvPr>
            <p:ph type="title" idx="5"/>
          </p:nvPr>
        </p:nvSpPr>
        <p:spPr>
          <a:xfrm>
            <a:off x="4948250" y="2062050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6" name="Google Shape;406;p42"/>
          <p:cNvSpPr txBox="1">
            <a:spLocks noGrp="1"/>
          </p:cNvSpPr>
          <p:nvPr>
            <p:ph type="title" idx="8"/>
          </p:nvPr>
        </p:nvSpPr>
        <p:spPr>
          <a:xfrm>
            <a:off x="4948250" y="2900125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07" name="Google Shape;407;p42"/>
          <p:cNvSpPr txBox="1">
            <a:spLocks noGrp="1"/>
          </p:cNvSpPr>
          <p:nvPr>
            <p:ph type="title" idx="14"/>
          </p:nvPr>
        </p:nvSpPr>
        <p:spPr>
          <a:xfrm>
            <a:off x="4948250" y="3738200"/>
            <a:ext cx="731400" cy="7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124" y="549924"/>
            <a:ext cx="2295613" cy="40392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720000" y="292715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What is abstraction?</a:t>
            </a:r>
            <a:endParaRPr lang="en-US" dirty="0"/>
          </a:p>
        </p:txBody>
      </p:sp>
      <p:sp>
        <p:nvSpPr>
          <p:cNvPr id="457" name="Google Shape;457;p45"/>
          <p:cNvSpPr txBox="1">
            <a:spLocks noGrp="1"/>
          </p:cNvSpPr>
          <p:nvPr>
            <p:ph type="subTitle" idx="3"/>
          </p:nvPr>
        </p:nvSpPr>
        <p:spPr>
          <a:xfrm>
            <a:off x="482869" y="1341053"/>
            <a:ext cx="4608896" cy="10107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just"/>
            <a:r>
              <a:rPr lang="en-US" dirty="0"/>
              <a:t>Abstraction is a process of hiding the implementation details from the </a:t>
            </a:r>
            <a:r>
              <a:rPr lang="en-US" dirty="0" smtClean="0"/>
              <a:t>user and only </a:t>
            </a:r>
            <a:r>
              <a:rPr lang="en-US" dirty="0"/>
              <a:t>the highlighted set of services provided to the user.</a:t>
            </a:r>
            <a:endParaRPr dirty="0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5937451" y="-4402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Theory &amp; design</a:t>
            </a:r>
            <a:endParaRPr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57;p45"/>
          <p:cNvSpPr txBox="1">
            <a:spLocks noGrp="1"/>
          </p:cNvSpPr>
          <p:nvPr>
            <p:ph type="subTitle" idx="3"/>
          </p:nvPr>
        </p:nvSpPr>
        <p:spPr>
          <a:xfrm>
            <a:off x="482868" y="2464067"/>
            <a:ext cx="4608897" cy="1244848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just"/>
            <a:r>
              <a:rPr lang="en-US" dirty="0"/>
              <a:t>By using the abstraction concept, the back end code will be hidden from the user. As a result, users can't see or </a:t>
            </a:r>
            <a:r>
              <a:rPr lang="en-US" dirty="0" smtClean="0"/>
              <a:t>don't know anything </a:t>
            </a:r>
            <a:r>
              <a:rPr lang="en-US" dirty="0"/>
              <a:t>about </a:t>
            </a:r>
            <a:r>
              <a:rPr lang="en-US" dirty="0" smtClean="0"/>
              <a:t>Backend </a:t>
            </a:r>
            <a:r>
              <a:rPr lang="en-US" dirty="0"/>
              <a:t>code whether it is written in Java or other programming languages.</a:t>
            </a:r>
            <a:endParaRPr dirty="0"/>
          </a:p>
        </p:txBody>
      </p:sp>
      <p:grpSp>
        <p:nvGrpSpPr>
          <p:cNvPr id="14" name="Group 13"/>
          <p:cNvGrpSpPr/>
          <p:nvPr/>
        </p:nvGrpSpPr>
        <p:grpSpPr>
          <a:xfrm>
            <a:off x="5187217" y="1542753"/>
            <a:ext cx="3482650" cy="2275714"/>
            <a:chOff x="2511748" y="1215622"/>
            <a:chExt cx="5497720" cy="3674012"/>
          </a:xfrm>
        </p:grpSpPr>
        <p:grpSp>
          <p:nvGrpSpPr>
            <p:cNvPr id="7" name="Group 6"/>
            <p:cNvGrpSpPr/>
            <p:nvPr/>
          </p:nvGrpSpPr>
          <p:grpSpPr>
            <a:xfrm>
              <a:off x="2511748" y="1215622"/>
              <a:ext cx="5497720" cy="3674012"/>
              <a:chOff x="2511748" y="1215622"/>
              <a:chExt cx="5497720" cy="3674012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2511748" y="1215622"/>
                <a:ext cx="5497720" cy="3674012"/>
                <a:chOff x="1714100" y="575984"/>
                <a:chExt cx="7093015" cy="4953288"/>
              </a:xfrm>
            </p:grpSpPr>
            <p:pic>
              <p:nvPicPr>
                <p:cNvPr id="2" name="Picture 1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4100" y="575984"/>
                  <a:ext cx="7093015" cy="4953288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</p:spPr>
            </p:pic>
            <p:sp>
              <p:nvSpPr>
                <p:cNvPr id="4" name="Rectangle 3"/>
                <p:cNvSpPr/>
                <p:nvPr/>
              </p:nvSpPr>
              <p:spPr>
                <a:xfrm>
                  <a:off x="3445844" y="1001027"/>
                  <a:ext cx="1771049" cy="340026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 rot="17398271">
                  <a:off x="3824779" y="1656115"/>
                  <a:ext cx="611170" cy="25654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" name="Rectangle 2"/>
              <p:cNvSpPr/>
              <p:nvPr/>
            </p:nvSpPr>
            <p:spPr>
              <a:xfrm>
                <a:off x="6162864" y="4533900"/>
                <a:ext cx="1778536" cy="29392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817533" y="3869267"/>
              <a:ext cx="2853267" cy="733770"/>
              <a:chOff x="4817533" y="3869267"/>
              <a:chExt cx="2853267" cy="733770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 flipV="1">
                <a:off x="4817533" y="3869267"/>
                <a:ext cx="2853267" cy="733770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 rot="20707946">
                <a:off x="5396528" y="4260478"/>
                <a:ext cx="1396536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Backend code</a:t>
                </a:r>
                <a:endPara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719999" y="142487"/>
            <a:ext cx="7704000" cy="5098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/>
              <a:t>Implementing abstraction in </a:t>
            </a:r>
            <a:r>
              <a:rPr lang="en-US" b="0" dirty="0" smtClean="0"/>
              <a:t>Java</a:t>
            </a:r>
            <a:endParaRPr lang="en-US" dirty="0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955458" y="1525418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/>
              <a:t>Abstract class</a:t>
            </a:r>
            <a:endParaRPr sz="1600"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79" y="1167213"/>
            <a:ext cx="3879987" cy="3616454"/>
          </a:xfrm>
          <a:prstGeom prst="rect">
            <a:avLst/>
          </a:prstGeom>
        </p:spPr>
      </p:pic>
      <p:sp>
        <p:nvSpPr>
          <p:cNvPr id="18" name="Right Brace 17"/>
          <p:cNvSpPr/>
          <p:nvPr/>
        </p:nvSpPr>
        <p:spPr>
          <a:xfrm>
            <a:off x="3114859" y="1315961"/>
            <a:ext cx="253673" cy="784614"/>
          </a:xfrm>
          <a:prstGeom prst="rightBrac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0" name="Straight Connector 19"/>
          <p:cNvCxnSpPr>
            <a:stCxn id="18" idx="1"/>
          </p:cNvCxnSpPr>
          <p:nvPr/>
        </p:nvCxnSpPr>
        <p:spPr>
          <a:xfrm>
            <a:off x="3368532" y="1708268"/>
            <a:ext cx="158692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Google Shape;457;p45"/>
          <p:cNvSpPr txBox="1">
            <a:spLocks noGrp="1"/>
          </p:cNvSpPr>
          <p:nvPr>
            <p:ph type="subTitle" idx="3"/>
          </p:nvPr>
        </p:nvSpPr>
        <p:spPr>
          <a:xfrm>
            <a:off x="4858019" y="1814823"/>
            <a:ext cx="2990581" cy="544897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just"/>
            <a:r>
              <a:rPr lang="en-US" sz="1050" dirty="0"/>
              <a:t>A class which contains the abstract keyword in its declaration is called abstract class.</a:t>
            </a:r>
            <a:endParaRPr sz="1050" dirty="0"/>
          </a:p>
        </p:txBody>
      </p:sp>
      <p:sp>
        <p:nvSpPr>
          <p:cNvPr id="36" name="Google Shape;457;p45"/>
          <p:cNvSpPr txBox="1">
            <a:spLocks noGrp="1"/>
          </p:cNvSpPr>
          <p:nvPr>
            <p:ph type="subTitle" idx="3"/>
          </p:nvPr>
        </p:nvSpPr>
        <p:spPr>
          <a:xfrm>
            <a:off x="4858019" y="2376676"/>
            <a:ext cx="2990581" cy="1687324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 algn="just"/>
            <a:r>
              <a:rPr lang="en-US" sz="1050" dirty="0" smtClean="0"/>
              <a:t>- We </a:t>
            </a:r>
            <a:r>
              <a:rPr lang="en-US" sz="1050" dirty="0"/>
              <a:t>can't create objects for abstract classes.</a:t>
            </a:r>
          </a:p>
          <a:p>
            <a:pPr marL="0" lvl="0" indent="0" algn="just"/>
            <a:endParaRPr lang="en-US" sz="1050" dirty="0" smtClean="0"/>
          </a:p>
          <a:p>
            <a:pPr marL="0" lvl="0" indent="0" algn="just"/>
            <a:r>
              <a:rPr lang="en-US" sz="1050" dirty="0"/>
              <a:t>- </a:t>
            </a:r>
            <a:r>
              <a:rPr lang="en-US" sz="1050" dirty="0" smtClean="0"/>
              <a:t>It may or </a:t>
            </a:r>
            <a:r>
              <a:rPr lang="en-US" sz="1050" dirty="0"/>
              <a:t>may not contain abstract methods.</a:t>
            </a:r>
          </a:p>
          <a:p>
            <a:pPr marL="0" lvl="0" indent="0" algn="just"/>
            <a:endParaRPr lang="en-US" sz="1050" dirty="0"/>
          </a:p>
          <a:p>
            <a:pPr marL="0" lvl="0" indent="0" algn="just"/>
            <a:r>
              <a:rPr lang="en-US" sz="1050" dirty="0"/>
              <a:t>- </a:t>
            </a:r>
            <a:r>
              <a:rPr lang="en-US" sz="1050" dirty="0" smtClean="0"/>
              <a:t>To </a:t>
            </a:r>
            <a:r>
              <a:rPr lang="en-US" sz="1050" dirty="0"/>
              <a:t>use an abstract class, you have to inherit it from subclasses.</a:t>
            </a:r>
          </a:p>
          <a:p>
            <a:pPr marL="0" lvl="0" indent="0" algn="just"/>
            <a:endParaRPr lang="en-US" sz="1050" dirty="0" smtClean="0"/>
          </a:p>
          <a:p>
            <a:pPr marL="0" lvl="0" indent="0" algn="just"/>
            <a:r>
              <a:rPr lang="en-US" sz="1050" dirty="0"/>
              <a:t>- </a:t>
            </a:r>
            <a:r>
              <a:rPr lang="en-US" sz="1050" dirty="0" smtClean="0"/>
              <a:t>If </a:t>
            </a:r>
            <a:r>
              <a:rPr lang="en-US" sz="1050" dirty="0"/>
              <a:t>a class contains partial implementation then we should declare a class as abstract.</a:t>
            </a:r>
          </a:p>
        </p:txBody>
      </p:sp>
    </p:spTree>
    <p:extLst>
      <p:ext uri="{BB962C8B-B14F-4D97-AF65-F5344CB8AC3E}">
        <p14:creationId xmlns:p14="http://schemas.microsoft.com/office/powerpoint/2010/main" val="3918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719999" y="142487"/>
            <a:ext cx="7704000" cy="5098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/>
              <a:t>Implementing abstraction in </a:t>
            </a:r>
            <a:r>
              <a:rPr lang="en-US" b="0" dirty="0" smtClean="0"/>
              <a:t>Java</a:t>
            </a:r>
            <a:endParaRPr lang="en-US" dirty="0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955458" y="1525418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/>
              <a:t>Abstract class</a:t>
            </a:r>
            <a:endParaRPr sz="1600"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79" y="1167213"/>
            <a:ext cx="3879987" cy="3616454"/>
          </a:xfrm>
          <a:prstGeom prst="rect">
            <a:avLst/>
          </a:prstGeom>
        </p:spPr>
      </p:pic>
      <p:sp>
        <p:nvSpPr>
          <p:cNvPr id="18" name="Right Brace 17"/>
          <p:cNvSpPr/>
          <p:nvPr/>
        </p:nvSpPr>
        <p:spPr>
          <a:xfrm>
            <a:off x="3114859" y="1315961"/>
            <a:ext cx="253673" cy="784614"/>
          </a:xfrm>
          <a:prstGeom prst="rightBrac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0" name="Straight Connector 19"/>
          <p:cNvCxnSpPr>
            <a:stCxn id="18" idx="1"/>
          </p:cNvCxnSpPr>
          <p:nvPr/>
        </p:nvCxnSpPr>
        <p:spPr>
          <a:xfrm>
            <a:off x="3368532" y="1708268"/>
            <a:ext cx="158692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458" y="2100575"/>
            <a:ext cx="3781723" cy="23501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9333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719999" y="142487"/>
            <a:ext cx="7704000" cy="5098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/>
              <a:t>Implementing abstraction in </a:t>
            </a:r>
            <a:r>
              <a:rPr lang="en-US" b="0" dirty="0" smtClean="0"/>
              <a:t>Java</a:t>
            </a:r>
            <a:endParaRPr lang="en-US" dirty="0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830461" y="1615017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/>
              <a:t>Abstract Method</a:t>
            </a:r>
            <a:endParaRPr sz="1600"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79" y="1167213"/>
            <a:ext cx="3879987" cy="3616454"/>
          </a:xfrm>
          <a:prstGeom prst="rect">
            <a:avLst/>
          </a:prstGeom>
        </p:spPr>
      </p:pic>
      <p:sp>
        <p:nvSpPr>
          <p:cNvPr id="18" name="Right Brace 17"/>
          <p:cNvSpPr/>
          <p:nvPr/>
        </p:nvSpPr>
        <p:spPr>
          <a:xfrm>
            <a:off x="3165177" y="1580451"/>
            <a:ext cx="78358" cy="365700"/>
          </a:xfrm>
          <a:prstGeom prst="rightBrace">
            <a:avLst>
              <a:gd name="adj1" fmla="val 77325"/>
              <a:gd name="adj2" fmla="val 50000"/>
            </a:avLst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243535" y="1763301"/>
            <a:ext cx="158692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457;p45"/>
          <p:cNvSpPr txBox="1">
            <a:spLocks noGrp="1"/>
          </p:cNvSpPr>
          <p:nvPr>
            <p:ph type="subTitle" idx="3"/>
          </p:nvPr>
        </p:nvSpPr>
        <p:spPr>
          <a:xfrm>
            <a:off x="4741971" y="1890069"/>
            <a:ext cx="3410937" cy="544897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just"/>
            <a:r>
              <a:rPr lang="en-US" sz="1100" dirty="0"/>
              <a:t>A method which contain abstract modifier at the time of declaration is called abstract method.</a:t>
            </a:r>
            <a:endParaRPr sz="800" dirty="0"/>
          </a:p>
        </p:txBody>
      </p:sp>
      <p:sp>
        <p:nvSpPr>
          <p:cNvPr id="16" name="Google Shape;457;p45"/>
          <p:cNvSpPr txBox="1">
            <a:spLocks noGrp="1"/>
          </p:cNvSpPr>
          <p:nvPr>
            <p:ph type="subTitle" idx="3"/>
          </p:nvPr>
        </p:nvSpPr>
        <p:spPr>
          <a:xfrm>
            <a:off x="4741971" y="2451952"/>
            <a:ext cx="3488458" cy="1687324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 algn="just"/>
            <a:r>
              <a:rPr lang="en-US" sz="1050" dirty="0"/>
              <a:t>- </a:t>
            </a:r>
            <a:r>
              <a:rPr lang="en-US" sz="1050" dirty="0" smtClean="0"/>
              <a:t>It </a:t>
            </a:r>
            <a:r>
              <a:rPr lang="en-US" sz="1050" dirty="0"/>
              <a:t>can only be used in abstract class</a:t>
            </a:r>
            <a:r>
              <a:rPr lang="en-US" sz="1050" dirty="0" smtClean="0"/>
              <a:t>.</a:t>
            </a:r>
          </a:p>
          <a:p>
            <a:pPr marL="0" lvl="0" indent="0" algn="just"/>
            <a:endParaRPr lang="en-US" sz="1050" dirty="0"/>
          </a:p>
          <a:p>
            <a:pPr marL="0" lvl="0" indent="0" algn="just"/>
            <a:r>
              <a:rPr lang="en-US" sz="1050" dirty="0"/>
              <a:t>- It doesn't contain any body and always ends with</a:t>
            </a:r>
            <a:r>
              <a:rPr lang="en-US" sz="1050" dirty="0" smtClean="0"/>
              <a:t>.</a:t>
            </a:r>
          </a:p>
          <a:p>
            <a:pPr marL="0" lvl="0" indent="0" algn="just"/>
            <a:endParaRPr lang="en-US" sz="1050" dirty="0"/>
          </a:p>
          <a:p>
            <a:pPr marL="0" lvl="0" indent="0" algn="just"/>
            <a:r>
              <a:rPr lang="en-US" sz="1050" dirty="0"/>
              <a:t>- Abstract methods must be overridden in subclasses, otherwise it will also become an abstract class.</a:t>
            </a:r>
          </a:p>
        </p:txBody>
      </p:sp>
      <p:sp>
        <p:nvSpPr>
          <p:cNvPr id="17" name="Google Shape;457;p45"/>
          <p:cNvSpPr txBox="1">
            <a:spLocks noGrp="1"/>
          </p:cNvSpPr>
          <p:nvPr>
            <p:ph type="subTitle" idx="3"/>
          </p:nvPr>
        </p:nvSpPr>
        <p:spPr>
          <a:xfrm>
            <a:off x="4741970" y="3704085"/>
            <a:ext cx="3410937" cy="1079582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just"/>
            <a:r>
              <a:rPr lang="en-US" sz="1050" dirty="0"/>
              <a:t>Whenever the action is common but implementation is different then we should use abstract </a:t>
            </a:r>
            <a:r>
              <a:rPr lang="en-US" sz="1050" dirty="0" smtClean="0"/>
              <a:t>method or </a:t>
            </a:r>
          </a:p>
          <a:p>
            <a:pPr marL="0" lvl="0" indent="0" algn="just"/>
            <a:endParaRPr lang="en-US" sz="1050" dirty="0"/>
          </a:p>
          <a:p>
            <a:pPr marL="0" lvl="0" indent="0" algn="just"/>
            <a:r>
              <a:rPr lang="en-US" sz="1050" dirty="0" smtClean="0"/>
              <a:t>When </a:t>
            </a:r>
            <a:r>
              <a:rPr lang="en-US" sz="1050" dirty="0"/>
              <a:t>we have incomplete information in the method, then we turn incomplete information </a:t>
            </a:r>
            <a:r>
              <a:rPr lang="en-US" sz="1050" dirty="0" smtClean="0"/>
              <a:t> </a:t>
            </a:r>
            <a:r>
              <a:rPr lang="en-US" sz="1050" dirty="0"/>
              <a:t>into </a:t>
            </a:r>
            <a:r>
              <a:rPr lang="en-US" sz="1050" dirty="0" smtClean="0"/>
              <a:t>abstract method.</a:t>
            </a:r>
            <a:endParaRPr sz="400" dirty="0"/>
          </a:p>
        </p:txBody>
      </p:sp>
    </p:spTree>
    <p:extLst>
      <p:ext uri="{BB962C8B-B14F-4D97-AF65-F5344CB8AC3E}">
        <p14:creationId xmlns:p14="http://schemas.microsoft.com/office/powerpoint/2010/main" val="235996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719999" y="176077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0" dirty="0"/>
              <a:t>Advantages of </a:t>
            </a:r>
            <a:r>
              <a:rPr lang="en-US" b="0" dirty="0" smtClean="0"/>
              <a:t>JAVA Abstraction</a:t>
            </a:r>
            <a:endParaRPr lang="en-US" dirty="0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5937451" y="-4402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Theory &amp; design</a:t>
            </a:r>
            <a:endParaRPr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02"/>
          <a:stretch/>
        </p:blipFill>
        <p:spPr>
          <a:xfrm>
            <a:off x="1570512" y="1585280"/>
            <a:ext cx="6002974" cy="26563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016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4"/>
          <p:cNvSpPr txBox="1">
            <a:spLocks noGrp="1"/>
          </p:cNvSpPr>
          <p:nvPr>
            <p:ph type="subTitle" idx="1"/>
          </p:nvPr>
        </p:nvSpPr>
        <p:spPr>
          <a:xfrm>
            <a:off x="975093" y="1753036"/>
            <a:ext cx="3434700" cy="10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have any questions?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addyouremail@freepik.com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+91  620 421 838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1129" name="Google Shape;1129;p74"/>
          <p:cNvSpPr txBox="1">
            <a:spLocks noGrp="1"/>
          </p:cNvSpPr>
          <p:nvPr>
            <p:ph type="title"/>
          </p:nvPr>
        </p:nvSpPr>
        <p:spPr>
          <a:xfrm>
            <a:off x="975100" y="539498"/>
            <a:ext cx="4294800" cy="10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pic>
        <p:nvPicPr>
          <p:cNvPr id="1131" name="Google Shape;1131;p74"/>
          <p:cNvPicPr preferRelativeResize="0"/>
          <p:nvPr/>
        </p:nvPicPr>
        <p:blipFill rotWithShape="1">
          <a:blip r:embed="rId3">
            <a:alphaModFix/>
          </a:blip>
          <a:srcRect l="49785" r="10196"/>
          <a:stretch/>
        </p:blipFill>
        <p:spPr>
          <a:xfrm>
            <a:off x="6055749" y="0"/>
            <a:ext cx="3088248" cy="5143501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32" name="Google Shape;1132;p74"/>
          <p:cNvSpPr/>
          <p:nvPr/>
        </p:nvSpPr>
        <p:spPr>
          <a:xfrm>
            <a:off x="967700" y="1536625"/>
            <a:ext cx="3604200" cy="84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74"/>
          <p:cNvSpPr/>
          <p:nvPr/>
        </p:nvSpPr>
        <p:spPr>
          <a:xfrm>
            <a:off x="967700" y="3452251"/>
            <a:ext cx="3604200" cy="84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4" name="Google Shape;1134;p74"/>
          <p:cNvGrpSpPr/>
          <p:nvPr/>
        </p:nvGrpSpPr>
        <p:grpSpPr>
          <a:xfrm>
            <a:off x="2334912" y="2857515"/>
            <a:ext cx="410400" cy="410400"/>
            <a:chOff x="4741087" y="2465740"/>
            <a:chExt cx="410400" cy="410400"/>
          </a:xfrm>
        </p:grpSpPr>
        <p:grpSp>
          <p:nvGrpSpPr>
            <p:cNvPr id="1135" name="Google Shape;1135;p74"/>
            <p:cNvGrpSpPr/>
            <p:nvPr/>
          </p:nvGrpSpPr>
          <p:grpSpPr>
            <a:xfrm>
              <a:off x="4815243" y="2528978"/>
              <a:ext cx="262089" cy="283924"/>
              <a:chOff x="1385007" y="2621430"/>
              <a:chExt cx="293262" cy="317659"/>
            </a:xfrm>
          </p:grpSpPr>
          <p:sp>
            <p:nvSpPr>
              <p:cNvPr id="1136" name="Google Shape;1136;p74"/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10537" extrusionOk="0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74"/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514" extrusionOk="0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74"/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avLst/>
                <a:gdLst/>
                <a:ahLst/>
                <a:cxnLst/>
                <a:rect l="l" t="t" r="r" b="b"/>
                <a:pathLst>
                  <a:path w="9368" h="10556" extrusionOk="0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39" name="Google Shape;1139;p74"/>
            <p:cNvSpPr/>
            <p:nvPr/>
          </p:nvSpPr>
          <p:spPr>
            <a:xfrm>
              <a:off x="4741087" y="2465740"/>
              <a:ext cx="410400" cy="410400"/>
            </a:xfrm>
            <a:prstGeom prst="frame">
              <a:avLst>
                <a:gd name="adj1" fmla="val 9152"/>
              </a:avLst>
            </a:pr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90069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0" name="Google Shape;1140;p74"/>
          <p:cNvGrpSpPr/>
          <p:nvPr/>
        </p:nvGrpSpPr>
        <p:grpSpPr>
          <a:xfrm>
            <a:off x="1655000" y="2857515"/>
            <a:ext cx="410400" cy="410400"/>
            <a:chOff x="4741100" y="2963915"/>
            <a:chExt cx="410400" cy="410400"/>
          </a:xfrm>
        </p:grpSpPr>
        <p:sp>
          <p:nvSpPr>
            <p:cNvPr id="1141" name="Google Shape;1141;p74"/>
            <p:cNvSpPr/>
            <p:nvPr/>
          </p:nvSpPr>
          <p:spPr>
            <a:xfrm>
              <a:off x="4815276" y="3062260"/>
              <a:ext cx="262057" cy="213720"/>
            </a:xfrm>
            <a:custGeom>
              <a:avLst/>
              <a:gdLst/>
              <a:ahLst/>
              <a:cxnLst/>
              <a:rect l="l" t="t" r="r" b="b"/>
              <a:pathLst>
                <a:path w="20081" h="16377" extrusionOk="0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74"/>
            <p:cNvSpPr/>
            <p:nvPr/>
          </p:nvSpPr>
          <p:spPr>
            <a:xfrm>
              <a:off x="4741100" y="2963915"/>
              <a:ext cx="410400" cy="410400"/>
            </a:xfrm>
            <a:prstGeom prst="frame">
              <a:avLst>
                <a:gd name="adj1" fmla="val 9152"/>
              </a:avLst>
            </a:pr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90069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3" name="Google Shape;1143;p74"/>
          <p:cNvGrpSpPr/>
          <p:nvPr/>
        </p:nvGrpSpPr>
        <p:grpSpPr>
          <a:xfrm>
            <a:off x="975100" y="2857515"/>
            <a:ext cx="410400" cy="410400"/>
            <a:chOff x="4741100" y="3462090"/>
            <a:chExt cx="410400" cy="410400"/>
          </a:xfrm>
        </p:grpSpPr>
        <p:grpSp>
          <p:nvGrpSpPr>
            <p:cNvPr id="1144" name="Google Shape;1144;p74"/>
            <p:cNvGrpSpPr/>
            <p:nvPr/>
          </p:nvGrpSpPr>
          <p:grpSpPr>
            <a:xfrm>
              <a:off x="4815255" y="3536273"/>
              <a:ext cx="262090" cy="262073"/>
              <a:chOff x="860977" y="2620616"/>
              <a:chExt cx="319311" cy="319290"/>
            </a:xfrm>
          </p:grpSpPr>
          <p:sp>
            <p:nvSpPr>
              <p:cNvPr id="1145" name="Google Shape;1145;p74"/>
              <p:cNvSpPr/>
              <p:nvPr/>
            </p:nvSpPr>
            <p:spPr>
              <a:xfrm>
                <a:off x="935084" y="2694744"/>
                <a:ext cx="171071" cy="171071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8197" extrusionOk="0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74"/>
              <p:cNvSpPr/>
              <p:nvPr/>
            </p:nvSpPr>
            <p:spPr>
              <a:xfrm>
                <a:off x="860977" y="2620616"/>
                <a:ext cx="319311" cy="319290"/>
              </a:xfrm>
              <a:custGeom>
                <a:avLst/>
                <a:gdLst/>
                <a:ahLst/>
                <a:cxnLst/>
                <a:rect l="l" t="t" r="r" b="b"/>
                <a:pathLst>
                  <a:path w="15300" h="15299" extrusionOk="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74"/>
              <p:cNvSpPr/>
              <p:nvPr/>
            </p:nvSpPr>
            <p:spPr>
              <a:xfrm>
                <a:off x="1081712" y="2670306"/>
                <a:ext cx="48878" cy="48898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343" extrusionOk="0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48" name="Google Shape;1148;p74"/>
            <p:cNvSpPr/>
            <p:nvPr/>
          </p:nvSpPr>
          <p:spPr>
            <a:xfrm>
              <a:off x="4741100" y="3462090"/>
              <a:ext cx="410400" cy="410400"/>
            </a:xfrm>
            <a:prstGeom prst="frame">
              <a:avLst>
                <a:gd name="adj1" fmla="val 9152"/>
              </a:avLst>
            </a:pr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90069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74"/>
          <p:cNvGrpSpPr/>
          <p:nvPr/>
        </p:nvGrpSpPr>
        <p:grpSpPr>
          <a:xfrm>
            <a:off x="3014812" y="2857515"/>
            <a:ext cx="410400" cy="410400"/>
            <a:chOff x="5361337" y="3462090"/>
            <a:chExt cx="410400" cy="410400"/>
          </a:xfrm>
        </p:grpSpPr>
        <p:sp>
          <p:nvSpPr>
            <p:cNvPr id="1150" name="Google Shape;1150;p74"/>
            <p:cNvSpPr/>
            <p:nvPr/>
          </p:nvSpPr>
          <p:spPr>
            <a:xfrm>
              <a:off x="5362839" y="3463615"/>
              <a:ext cx="407383" cy="407383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74"/>
            <p:cNvSpPr/>
            <p:nvPr/>
          </p:nvSpPr>
          <p:spPr>
            <a:xfrm>
              <a:off x="5361337" y="3462090"/>
              <a:ext cx="410400" cy="410400"/>
            </a:xfrm>
            <a:prstGeom prst="frame">
              <a:avLst>
                <a:gd name="adj1" fmla="val 9152"/>
              </a:avLst>
            </a:pr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90069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964" y="0"/>
            <a:ext cx="3069137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puter Science &amp; Mathematics Major for College: Data Management Technology by Slidesgo">
  <a:themeElements>
    <a:clrScheme name="Simple Light">
      <a:dk1>
        <a:srgbClr val="161616"/>
      </a:dk1>
      <a:lt1>
        <a:srgbClr val="FFFFFF"/>
      </a:lt1>
      <a:dk2>
        <a:srgbClr val="0D008E"/>
      </a:dk2>
      <a:lt2>
        <a:srgbClr val="0FE0E0"/>
      </a:lt2>
      <a:accent1>
        <a:srgbClr val="2C4ED7"/>
      </a:accent1>
      <a:accent2>
        <a:srgbClr val="50FFB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298</Words>
  <Application>Microsoft Office PowerPoint</Application>
  <PresentationFormat>On-screen Show (16:9)</PresentationFormat>
  <Paragraphs>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Teko</vt:lpstr>
      <vt:lpstr>Bebas Neue</vt:lpstr>
      <vt:lpstr>Catamaran</vt:lpstr>
      <vt:lpstr>Arial</vt:lpstr>
      <vt:lpstr>Quantico</vt:lpstr>
      <vt:lpstr>Computer Science &amp; Mathematics Major for College: Data Management Technology by Slidesgo</vt:lpstr>
      <vt:lpstr>CSE 201</vt:lpstr>
      <vt:lpstr>Table of contents</vt:lpstr>
      <vt:lpstr>What is abstraction?</vt:lpstr>
      <vt:lpstr>Implementing abstraction in Java</vt:lpstr>
      <vt:lpstr>Implementing abstraction in Java</vt:lpstr>
      <vt:lpstr>Implementing abstraction in Java</vt:lpstr>
      <vt:lpstr>Advantages of JAVA Abstraction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&amp; MATHEMATICS MAJOR FOR COLLEGE:</dc:title>
  <dc:creator>Farisa Joardar</dc:creator>
  <cp:lastModifiedBy>YoutechBD</cp:lastModifiedBy>
  <cp:revision>11</cp:revision>
  <dcterms:modified xsi:type="dcterms:W3CDTF">2023-06-07T19:25:31Z</dcterms:modified>
</cp:coreProperties>
</file>