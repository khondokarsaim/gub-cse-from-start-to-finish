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  <a:defRPr lang="en-US"/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1" d="100"/>
          <a:sy n="111" d="100"/>
        </p:scale>
        <p:origin x="682" y="8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136498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6174911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000911" name="Google Shape;239;g110ba6d1162_0_189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492318" name="Google Shape;240;g110ba6d1162_0_189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128733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118655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6252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280841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809410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570687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068734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453778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021971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9879458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767926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236341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460357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408372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47339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4261502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39920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456365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067604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602191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176692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998723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76795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148383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024519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97386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198669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185918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402052" name="Google Shape;305;g110ba6d1162_0_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7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600103" name="Google Shape;306;g110ba6d1162_0_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013911" name="Google Shape;466;g111451fedd3_1_13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358269" name="Google Shape;467;g111451fedd3_1_13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34930853" name="Google Shape;9;p2"/>
          <p:cNvCxnSpPr/>
          <p:nvPr/>
        </p:nvCxnSpPr>
        <p:spPr bwMode="auto">
          <a:xfrm>
            <a:off x="721475" y="535000"/>
            <a:ext cx="7707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7735264" name="Google Shape;10;p2"/>
          <p:cNvCxnSpPr/>
          <p:nvPr/>
        </p:nvCxnSpPr>
        <p:spPr bwMode="auto">
          <a:xfrm>
            <a:off x="721475" y="4618525"/>
            <a:ext cx="7707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2883786" name="Google Shape;11;p2"/>
          <p:cNvSpPr txBox="1">
            <a:spLocks noGrp="1"/>
          </p:cNvSpPr>
          <p:nvPr>
            <p:ph type="ctrTitle"/>
          </p:nvPr>
        </p:nvSpPr>
        <p:spPr bwMode="auto">
          <a:xfrm>
            <a:off x="721475" y="937610"/>
            <a:ext cx="4141800" cy="27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13200879" name="Google Shape;12;p2"/>
          <p:cNvSpPr txBox="1">
            <a:spLocks noGrp="1"/>
          </p:cNvSpPr>
          <p:nvPr>
            <p:ph type="subTitle" idx="1"/>
          </p:nvPr>
        </p:nvSpPr>
        <p:spPr bwMode="auto">
          <a:xfrm flipH="1">
            <a:off x="721475" y="4120568"/>
            <a:ext cx="4141800" cy="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" preserve="0" showMasterPhAnim="0" showMasterSp="1" userDrawn="1">
  <p:cSld name="CUSTO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44861787" name="Google Shape;81;p15"/>
          <p:cNvCxnSpPr/>
          <p:nvPr/>
        </p:nvCxnSpPr>
        <p:spPr bwMode="auto">
          <a:xfrm>
            <a:off x="715099" y="539150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0205210" name="Google Shape;82;p15"/>
          <p:cNvCxnSpPr/>
          <p:nvPr/>
        </p:nvCxnSpPr>
        <p:spPr bwMode="auto">
          <a:xfrm>
            <a:off x="715099" y="4618525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7272292" name="Google Shape;83;p15"/>
          <p:cNvSpPr txBox="1">
            <a:spLocks noGrp="1"/>
          </p:cNvSpPr>
          <p:nvPr>
            <p:ph type="subTitle" idx="1"/>
          </p:nvPr>
        </p:nvSpPr>
        <p:spPr bwMode="auto">
          <a:xfrm>
            <a:off x="715099" y="1560825"/>
            <a:ext cx="3602400" cy="26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6754356" name="Google Shape;84;p15"/>
          <p:cNvSpPr txBox="1">
            <a:spLocks noGrp="1"/>
          </p:cNvSpPr>
          <p:nvPr>
            <p:ph type="title"/>
          </p:nvPr>
        </p:nvSpPr>
        <p:spPr bwMode="auto">
          <a:xfrm>
            <a:off x="720000" y="604075"/>
            <a:ext cx="77040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>
                <a:latin typeface="Open Sans ExtraBold"/>
                <a:ea typeface="Open Sans ExtraBold"/>
                <a:cs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hree columns" preserve="0" showMasterPhAnim="0" showMasterSp="1" userDrawn="1">
  <p:cSld name="BLANK_1_1_1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584921109" name="Google Shape;120;p22"/>
          <p:cNvCxnSpPr/>
          <p:nvPr/>
        </p:nvCxnSpPr>
        <p:spPr bwMode="auto">
          <a:xfrm>
            <a:off x="715099" y="539150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3485593" name="Google Shape;121;p22"/>
          <p:cNvCxnSpPr/>
          <p:nvPr/>
        </p:nvCxnSpPr>
        <p:spPr bwMode="auto">
          <a:xfrm>
            <a:off x="715099" y="4618525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3958495" name="Google Shape;122;p22"/>
          <p:cNvSpPr txBox="1">
            <a:spLocks noGrp="1"/>
          </p:cNvSpPr>
          <p:nvPr>
            <p:ph type="title"/>
          </p:nvPr>
        </p:nvSpPr>
        <p:spPr bwMode="auto">
          <a:xfrm>
            <a:off x="715099" y="1410748"/>
            <a:ext cx="23364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0">
                <a:latin typeface="Open Sans ExtraBold"/>
                <a:ea typeface="Open Sans ExtraBold"/>
                <a:cs typeface="Open Sa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060291341" name="Google Shape;123;p22"/>
          <p:cNvSpPr txBox="1">
            <a:spLocks noGrp="1"/>
          </p:cNvSpPr>
          <p:nvPr>
            <p:ph type="subTitle" idx="1"/>
          </p:nvPr>
        </p:nvSpPr>
        <p:spPr bwMode="auto">
          <a:xfrm>
            <a:off x="715099" y="1878188"/>
            <a:ext cx="4402500" cy="3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9331531" name="Google Shape;124;p22"/>
          <p:cNvSpPr txBox="1">
            <a:spLocks noGrp="1"/>
          </p:cNvSpPr>
          <p:nvPr>
            <p:ph type="title" idx="2"/>
          </p:nvPr>
        </p:nvSpPr>
        <p:spPr bwMode="auto">
          <a:xfrm>
            <a:off x="715099" y="2366948"/>
            <a:ext cx="23364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0">
                <a:latin typeface="Open Sans ExtraBold"/>
                <a:ea typeface="Open Sans ExtraBold"/>
                <a:cs typeface="Open Sa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1356744678" name="Google Shape;125;p22"/>
          <p:cNvSpPr txBox="1">
            <a:spLocks noGrp="1"/>
          </p:cNvSpPr>
          <p:nvPr>
            <p:ph type="subTitle" idx="3"/>
          </p:nvPr>
        </p:nvSpPr>
        <p:spPr bwMode="auto">
          <a:xfrm>
            <a:off x="715099" y="2834387"/>
            <a:ext cx="4402500" cy="3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3904538" name="Google Shape;126;p22"/>
          <p:cNvSpPr txBox="1">
            <a:spLocks noGrp="1"/>
          </p:cNvSpPr>
          <p:nvPr>
            <p:ph type="title" idx="4"/>
          </p:nvPr>
        </p:nvSpPr>
        <p:spPr bwMode="auto">
          <a:xfrm>
            <a:off x="715099" y="3323111"/>
            <a:ext cx="23364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0">
                <a:latin typeface="Open Sans ExtraBold"/>
                <a:ea typeface="Open Sans ExtraBold"/>
                <a:cs typeface="Open Sa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456590569" name="Google Shape;127;p22"/>
          <p:cNvSpPr txBox="1">
            <a:spLocks noGrp="1"/>
          </p:cNvSpPr>
          <p:nvPr>
            <p:ph type="subTitle" idx="5"/>
          </p:nvPr>
        </p:nvSpPr>
        <p:spPr bwMode="auto">
          <a:xfrm>
            <a:off x="715099" y="3790538"/>
            <a:ext cx="4402500" cy="3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8678050" name="Google Shape;128;p22"/>
          <p:cNvSpPr txBox="1">
            <a:spLocks noGrp="1"/>
          </p:cNvSpPr>
          <p:nvPr>
            <p:ph type="title" idx="6"/>
          </p:nvPr>
        </p:nvSpPr>
        <p:spPr bwMode="auto">
          <a:xfrm>
            <a:off x="720000" y="604075"/>
            <a:ext cx="77040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>
                <a:latin typeface="Open Sans ExtraBold"/>
                <a:ea typeface="Open Sans ExtraBold"/>
                <a:cs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" preserve="0" showMasterPhAnim="0" showMasterSp="1" userDrawn="1">
  <p:cSld name="BLANK_1_1_1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826465887" name="Google Shape;222;p31"/>
          <p:cNvCxnSpPr/>
          <p:nvPr/>
        </p:nvCxnSpPr>
        <p:spPr bwMode="auto">
          <a:xfrm>
            <a:off x="715099" y="1209953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9305872" name="Google Shape;223;p31"/>
          <p:cNvCxnSpPr/>
          <p:nvPr/>
        </p:nvCxnSpPr>
        <p:spPr bwMode="auto">
          <a:xfrm>
            <a:off x="715099" y="539150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777940" name="Google Shape;224;p31"/>
          <p:cNvCxnSpPr/>
          <p:nvPr/>
        </p:nvCxnSpPr>
        <p:spPr bwMode="auto">
          <a:xfrm>
            <a:off x="715099" y="4618525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 1" preserve="0" showMasterPhAnim="0" showMasterSp="1" userDrawn="1">
  <p:cSld name="BLANK_1_1_1_1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637439005" name="Google Shape;226;p32"/>
          <p:cNvCxnSpPr/>
          <p:nvPr/>
        </p:nvCxnSpPr>
        <p:spPr bwMode="auto">
          <a:xfrm>
            <a:off x="715099" y="539150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093644" name="Google Shape;227;p32"/>
          <p:cNvCxnSpPr/>
          <p:nvPr/>
        </p:nvCxnSpPr>
        <p:spPr bwMode="auto">
          <a:xfrm>
            <a:off x="715099" y="4618525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 2" preserve="0" showMasterPhAnim="0" showMasterSp="1" userDrawn="1">
  <p:cSld name="BLANK_1_1_1_1_1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20490901" name="Google Shape;229;p33"/>
          <p:cNvCxnSpPr/>
          <p:nvPr/>
        </p:nvCxnSpPr>
        <p:spPr bwMode="auto">
          <a:xfrm>
            <a:off x="715099" y="539150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3623069" name="Google Shape;230;p33"/>
          <p:cNvCxnSpPr/>
          <p:nvPr/>
        </p:nvCxnSpPr>
        <p:spPr bwMode="auto">
          <a:xfrm>
            <a:off x="721475" y="4618525"/>
            <a:ext cx="7707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620335" name="Google Shape;231;p33"/>
          <p:cNvCxnSpPr/>
          <p:nvPr/>
        </p:nvCxnSpPr>
        <p:spPr bwMode="auto">
          <a:xfrm>
            <a:off x="721475" y="4072275"/>
            <a:ext cx="7707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654242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715099" y="535000"/>
            <a:ext cx="77139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pen Sans"/>
              <a:buNone/>
              <a:defRPr sz="3500" b="1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139980573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715099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1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Relationship Id="rId4" Type="http://schemas.openxmlformats.org/officeDocument/2006/relationships/image" Target="../media/image1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493737" name="Google Shape;243;p37"/>
          <p:cNvSpPr txBox="1"/>
          <p:nvPr/>
        </p:nvSpPr>
        <p:spPr bwMode="auto">
          <a:xfrm flipH="1" flipV="0">
            <a:off x="721473" y="2616124"/>
            <a:ext cx="4635777" cy="54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>
              <a:defRPr/>
            </a:pPr>
            <a:r>
              <a:rPr lang="en-US" sz="1400" b="1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CSE 435</a:t>
            </a:r>
            <a:r>
              <a:rPr lang="en-IN" sz="1400" b="1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: </a:t>
            </a:r>
            <a:r>
              <a:rPr lang="en-US" sz="1400" b="1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Data Mining</a:t>
            </a:r>
            <a:endParaRPr lang="en-IN" sz="1400" b="1" i="0">
              <a:solidFill>
                <a:schemeClr val="tx1"/>
              </a:solidFill>
              <a:latin typeface="Open Sans"/>
              <a:ea typeface="Open Sans"/>
              <a:cs typeface="Open Sans"/>
            </a:endParaRPr>
          </a:p>
          <a:p>
            <a:pPr marL="0" indent="0">
              <a:defRPr/>
            </a:pPr>
            <a:r>
              <a:rPr lang="en-US" sz="1400" b="1" i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Section: 221 D5</a:t>
            </a:r>
            <a:endParaRPr lang="en-IN" sz="1400" b="1" i="0">
              <a:solidFill>
                <a:schemeClr val="tx1"/>
              </a:solidFill>
              <a:latin typeface="Open Sans"/>
              <a:ea typeface="Open Sans"/>
              <a:cs typeface="Open Sans"/>
            </a:endParaRPr>
          </a:p>
          <a:p>
            <a:pPr marL="0" indent="0">
              <a:defRPr/>
            </a:pPr>
            <a:endParaRPr lang="en-US" sz="1200" b="1">
              <a:solidFill>
                <a:schemeClr val="tx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67410259" name="Google Shape;242;p37"/>
          <p:cNvSpPr txBox="1">
            <a:spLocks noGrp="1"/>
          </p:cNvSpPr>
          <p:nvPr>
            <p:ph type="ctrTitle"/>
          </p:nvPr>
        </p:nvSpPr>
        <p:spPr bwMode="auto">
          <a:xfrm flipH="0" flipV="0">
            <a:off x="654393" y="738958"/>
            <a:ext cx="5083855" cy="2149731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algn="l">
              <a:defRPr/>
            </a:pPr>
            <a:r>
              <a:rPr lang="en-US" sz="2800" b="1" i="0" u="none" strike="noStrike" cap="none" spc="0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</a:rPr>
              <a:t>Desicion Trees, ROC/AUC analysis and Clustering Methods: A Data Mining Overview</a:t>
            </a:r>
            <a:endParaRPr sz="2800" b="0">
              <a:latin typeface="Times New Roman Bold"/>
              <a:cs typeface="Times New Roman Bold"/>
            </a:endParaRPr>
          </a:p>
        </p:txBody>
      </p:sp>
      <p:sp>
        <p:nvSpPr>
          <p:cNvPr id="976637147" name="Google Shape;243;p37"/>
          <p:cNvSpPr txBox="1"/>
          <p:nvPr/>
        </p:nvSpPr>
        <p:spPr bwMode="auto">
          <a:xfrm flipH="1" flipV="0">
            <a:off x="721472" y="3311598"/>
            <a:ext cx="4635777" cy="418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>
              <a:defRPr/>
            </a:pPr>
            <a:r>
              <a:rPr lang="en-US" sz="1400" b="1" i="1">
                <a:solidFill>
                  <a:srgbClr val="FF0000"/>
                </a:solidFill>
              </a:rPr>
              <a:t>KHONDOKAR SAIM - 221902353</a:t>
            </a:r>
            <a:endParaRPr lang="en-US" sz="1400" b="1" i="1">
              <a:solidFill>
                <a:srgbClr val="FF0000"/>
              </a:solidFill>
            </a:endParaRPr>
          </a:p>
        </p:txBody>
      </p:sp>
      <p:pic>
        <p:nvPicPr>
          <p:cNvPr id="169986300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30499" y="787026"/>
            <a:ext cx="3104158" cy="34568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151928" name=""/>
          <p:cNvSpPr/>
          <p:nvPr/>
        </p:nvSpPr>
        <p:spPr bwMode="auto">
          <a:xfrm rot="0" flipH="0" flipV="0">
            <a:off x="553941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6578531" name="Rectangle 1"/>
          <p:cNvSpPr/>
          <p:nvPr/>
        </p:nvSpPr>
        <p:spPr bwMode="auto">
          <a:xfrm>
            <a:off x="646264" y="4494222"/>
            <a:ext cx="7906464" cy="18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86546562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6" y="427600"/>
            <a:ext cx="7704000" cy="325143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TABLE OF CONTENTS</a:t>
            </a:r>
            <a:endParaRPr sz="1600" b="1"/>
          </a:p>
        </p:txBody>
      </p:sp>
      <p:cxnSp>
        <p:nvCxnSpPr>
          <p:cNvPr id="319048712" name="Google Shape;345;p39"/>
          <p:cNvCxnSpPr/>
          <p:nvPr/>
        </p:nvCxnSpPr>
        <p:spPr bwMode="auto">
          <a:xfrm>
            <a:off x="742545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6044284" name="Google Shape;345;p39"/>
          <p:cNvCxnSpPr/>
          <p:nvPr/>
        </p:nvCxnSpPr>
        <p:spPr bwMode="auto">
          <a:xfrm>
            <a:off x="742545" y="326296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80504823" name=""/>
          <p:cNvGrpSpPr/>
          <p:nvPr/>
        </p:nvGrpSpPr>
        <p:grpSpPr bwMode="auto">
          <a:xfrm>
            <a:off x="696384" y="7691886"/>
            <a:ext cx="7760061" cy="274679"/>
            <a:chOff x="0" y="0"/>
            <a:chExt cx="7760061" cy="274679"/>
          </a:xfrm>
        </p:grpSpPr>
        <p:sp>
          <p:nvSpPr>
            <p:cNvPr id="1484778558" name=""/>
            <p:cNvSpPr txBox="1"/>
            <p:nvPr/>
          </p:nvSpPr>
          <p:spPr bwMode="auto">
            <a:xfrm rot="0" flipH="0" flipV="0">
              <a:off x="0" y="0"/>
              <a:ext cx="2863290" cy="27467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200" b="0" i="0" u="none" strike="noStrike" cap="none" spc="0">
                  <a:solidFill>
                    <a:srgbClr val="0F1115"/>
                  </a:solidFill>
                  <a:latin typeface="Times New Roman"/>
                  <a:ea typeface="Times New Roman"/>
                  <a:cs typeface="Times New Roman"/>
                </a:rPr>
                <a:t>BUILDING A PREDICTION PLATFORM</a:t>
              </a:r>
              <a:endParaRPr sz="1400">
                <a:latin typeface="Times New Roman"/>
                <a:ea typeface="Times New Roman"/>
                <a:cs typeface="Times New Roman"/>
              </a:endParaRPr>
            </a:p>
          </p:txBody>
        </p:sp>
        <p:cxnSp>
          <p:nvCxnSpPr>
            <p:cNvPr id="412271340" name="Google Shape;351;p40"/>
            <p:cNvCxnSpPr/>
            <p:nvPr/>
          </p:nvCxnSpPr>
          <p:spPr bwMode="auto">
            <a:xfrm rot="0" flipH="0" flipV="0">
              <a:off x="46160" y="274679"/>
              <a:ext cx="7713900" cy="0"/>
            </a:xfrm>
            <a:prstGeom prst="straightConnector1">
              <a:avLst/>
            </a:prstGeom>
            <a:noFill/>
            <a:ln w="12699" cap="flat" cmpd="sng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2736038" name=""/>
          <p:cNvGrpSpPr/>
          <p:nvPr/>
        </p:nvGrpSpPr>
        <p:grpSpPr bwMode="auto">
          <a:xfrm>
            <a:off x="736866" y="1211927"/>
            <a:ext cx="6406718" cy="2632143"/>
            <a:chOff x="0" y="0"/>
            <a:chExt cx="6406718" cy="2632143"/>
          </a:xfrm>
        </p:grpSpPr>
        <p:grpSp>
          <p:nvGrpSpPr>
            <p:cNvPr id="1345203146" name=""/>
            <p:cNvGrpSpPr/>
            <p:nvPr/>
          </p:nvGrpSpPr>
          <p:grpSpPr bwMode="auto">
            <a:xfrm>
              <a:off x="0" y="0"/>
              <a:ext cx="3010116" cy="396599"/>
              <a:chOff x="0" y="0"/>
              <a:chExt cx="3010116" cy="396599"/>
            </a:xfrm>
          </p:grpSpPr>
          <p:sp>
            <p:nvSpPr>
              <p:cNvPr id="18741910" name=""/>
              <p:cNvSpPr txBox="1"/>
              <p:nvPr/>
            </p:nvSpPr>
            <p:spPr bwMode="auto">
              <a:xfrm rot="0" flipH="0" flipV="0">
                <a:off x="534091" y="0"/>
                <a:ext cx="2476024" cy="39659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non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2000" b="1" i="0" u="none">
                    <a:solidFill>
                      <a:srgbClr val="0F1115"/>
                    </a:solidFill>
                    <a:latin typeface="Times New Roman"/>
                    <a:ea typeface="Times New Roman"/>
                    <a:cs typeface="Times New Roman"/>
                  </a:rPr>
                  <a:t>Set 01: Decision Tree</a:t>
                </a:r>
                <a:endParaRPr sz="2200" b="1"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828950839" name=""/>
              <p:cNvSpPr txBox="1"/>
              <p:nvPr/>
            </p:nvSpPr>
            <p:spPr bwMode="auto">
              <a:xfrm rot="0" flipH="0" flipV="0">
                <a:off x="0" y="0"/>
                <a:ext cx="466124" cy="396599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vertOverflow="overflow" horzOverflow="overflow" vert="horz" wrap="non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2000" b="1"/>
                  <a:t>01</a:t>
                </a:r>
                <a:endParaRPr sz="2000" b="1"/>
              </a:p>
            </p:txBody>
          </p:sp>
        </p:grpSp>
        <p:grpSp>
          <p:nvGrpSpPr>
            <p:cNvPr id="194834325" name=""/>
            <p:cNvGrpSpPr/>
            <p:nvPr/>
          </p:nvGrpSpPr>
          <p:grpSpPr bwMode="auto">
            <a:xfrm>
              <a:off x="0" y="529165"/>
              <a:ext cx="6406718" cy="396599"/>
              <a:chOff x="0" y="0"/>
              <a:chExt cx="6406718" cy="396599"/>
            </a:xfrm>
          </p:grpSpPr>
          <p:sp>
            <p:nvSpPr>
              <p:cNvPr id="1250877237" name=""/>
              <p:cNvSpPr txBox="1"/>
              <p:nvPr/>
            </p:nvSpPr>
            <p:spPr bwMode="auto">
              <a:xfrm rot="0" flipH="0" flipV="0">
                <a:off x="522185" y="0"/>
                <a:ext cx="5884533" cy="39659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non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2000" b="1" i="0" u="none">
                    <a:solidFill>
                      <a:srgbClr val="0F1115"/>
                    </a:solidFill>
                    <a:latin typeface="Times New Roman"/>
                    <a:ea typeface="Times New Roman"/>
                    <a:cs typeface="Times New Roman"/>
                  </a:rPr>
                  <a:t>Set 02: Concepts on Tree Splitting and Tree Pruning</a:t>
                </a:r>
                <a:endParaRPr sz="2200" b="1"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947694986" name=""/>
              <p:cNvSpPr txBox="1"/>
              <p:nvPr/>
            </p:nvSpPr>
            <p:spPr bwMode="auto">
              <a:xfrm rot="0" flipH="0" flipV="0">
                <a:off x="0" y="0"/>
                <a:ext cx="466124" cy="396599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vertOverflow="overflow" horzOverflow="overflow" vert="horz" wrap="non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2000" b="1"/>
                  <a:t>02</a:t>
                </a:r>
                <a:endParaRPr sz="2000" b="1"/>
              </a:p>
            </p:txBody>
          </p:sp>
        </p:grpSp>
        <p:grpSp>
          <p:nvGrpSpPr>
            <p:cNvPr id="349539661" name=""/>
            <p:cNvGrpSpPr/>
            <p:nvPr/>
          </p:nvGrpSpPr>
          <p:grpSpPr bwMode="auto">
            <a:xfrm>
              <a:off x="0" y="1087268"/>
              <a:ext cx="3492322" cy="396599"/>
              <a:chOff x="0" y="0"/>
              <a:chExt cx="3492322" cy="396599"/>
            </a:xfrm>
          </p:grpSpPr>
          <p:sp>
            <p:nvSpPr>
              <p:cNvPr id="892124049" name=""/>
              <p:cNvSpPr txBox="1"/>
              <p:nvPr/>
            </p:nvSpPr>
            <p:spPr bwMode="auto">
              <a:xfrm rot="0" flipH="0" flipV="0">
                <a:off x="522185" y="0"/>
                <a:ext cx="2970136" cy="39659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non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2000" b="1" i="0" u="none">
                    <a:solidFill>
                      <a:srgbClr val="0F1115"/>
                    </a:solidFill>
                    <a:latin typeface="Times New Roman"/>
                    <a:ea typeface="Times New Roman"/>
                    <a:cs typeface="Times New Roman"/>
                  </a:rPr>
                  <a:t>Set 03: ROC Curve, AUC</a:t>
                </a:r>
                <a:endParaRPr sz="2200" b="1"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691626315" name=""/>
              <p:cNvSpPr txBox="1"/>
              <p:nvPr/>
            </p:nvSpPr>
            <p:spPr bwMode="auto">
              <a:xfrm rot="0" flipH="0" flipV="0">
                <a:off x="0" y="0"/>
                <a:ext cx="466124" cy="396599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vertOverflow="overflow" horzOverflow="overflow" vert="horz" wrap="non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2000" b="1"/>
                  <a:t>03</a:t>
                </a:r>
                <a:endParaRPr sz="2000" b="1"/>
              </a:p>
            </p:txBody>
          </p:sp>
        </p:grpSp>
        <p:grpSp>
          <p:nvGrpSpPr>
            <p:cNvPr id="1303587217" name=""/>
            <p:cNvGrpSpPr/>
            <p:nvPr/>
          </p:nvGrpSpPr>
          <p:grpSpPr bwMode="auto">
            <a:xfrm>
              <a:off x="0" y="1645371"/>
              <a:ext cx="4741351" cy="396599"/>
              <a:chOff x="0" y="0"/>
              <a:chExt cx="4741351" cy="396599"/>
            </a:xfrm>
          </p:grpSpPr>
          <p:sp>
            <p:nvSpPr>
              <p:cNvPr id="1266505098" name=""/>
              <p:cNvSpPr txBox="1"/>
              <p:nvPr/>
            </p:nvSpPr>
            <p:spPr bwMode="auto">
              <a:xfrm rot="0" flipH="0" flipV="0">
                <a:off x="522185" y="0"/>
                <a:ext cx="4219166" cy="39659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non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2000" b="1" i="0" u="none">
                    <a:solidFill>
                      <a:srgbClr val="0F1115"/>
                    </a:solidFill>
                    <a:latin typeface="Times New Roman"/>
                    <a:ea typeface="Times New Roman"/>
                    <a:cs typeface="Times New Roman"/>
                  </a:rPr>
                  <a:t>Set 04: Cluster Analysis (K-Medoids)</a:t>
                </a:r>
                <a:endParaRPr sz="2200" b="1"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976795732" name=""/>
              <p:cNvSpPr txBox="1"/>
              <p:nvPr/>
            </p:nvSpPr>
            <p:spPr bwMode="auto">
              <a:xfrm rot="0" flipH="0" flipV="0">
                <a:off x="0" y="0"/>
                <a:ext cx="466124" cy="396599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vertOverflow="overflow" horzOverflow="overflow" vert="horz" wrap="non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2000" b="1"/>
                  <a:t>04</a:t>
                </a:r>
                <a:endParaRPr sz="2000" b="1"/>
              </a:p>
            </p:txBody>
          </p:sp>
        </p:grpSp>
        <p:grpSp>
          <p:nvGrpSpPr>
            <p:cNvPr id="1188902677" name=""/>
            <p:cNvGrpSpPr/>
            <p:nvPr/>
          </p:nvGrpSpPr>
          <p:grpSpPr bwMode="auto">
            <a:xfrm>
              <a:off x="0" y="2235543"/>
              <a:ext cx="5524681" cy="396599"/>
              <a:chOff x="0" y="0"/>
              <a:chExt cx="5524681" cy="396599"/>
            </a:xfrm>
          </p:grpSpPr>
          <p:sp>
            <p:nvSpPr>
              <p:cNvPr id="1380099477" name=""/>
              <p:cNvSpPr txBox="1"/>
              <p:nvPr/>
            </p:nvSpPr>
            <p:spPr bwMode="auto">
              <a:xfrm rot="0" flipH="0" flipV="0">
                <a:off x="522185" y="0"/>
                <a:ext cx="5002495" cy="39659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non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2000" b="1" i="0" u="none">
                    <a:solidFill>
                      <a:srgbClr val="0F1115"/>
                    </a:solidFill>
                    <a:latin typeface="Times New Roman"/>
                    <a:ea typeface="Times New Roman"/>
                    <a:cs typeface="Times New Roman"/>
                  </a:rPr>
                  <a:t>Set 05: Density Based Clustering (DBSCAN)</a:t>
                </a:r>
                <a:endParaRPr sz="2200" b="1"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2121865990" name=""/>
              <p:cNvSpPr txBox="1"/>
              <p:nvPr/>
            </p:nvSpPr>
            <p:spPr bwMode="auto">
              <a:xfrm rot="0" flipH="0" flipV="0">
                <a:off x="0" y="0"/>
                <a:ext cx="466124" cy="396599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vertOverflow="overflow" horzOverflow="overflow" vert="horz" wrap="non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2000" b="1"/>
                  <a:t>05</a:t>
                </a:r>
                <a:endParaRPr sz="2000" b="1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73889" name=""/>
          <p:cNvSpPr/>
          <p:nvPr/>
        </p:nvSpPr>
        <p:spPr bwMode="auto">
          <a:xfrm rot="0" flipH="0" flipV="0">
            <a:off x="553941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2076279" name="Rectangle 1"/>
          <p:cNvSpPr/>
          <p:nvPr/>
        </p:nvSpPr>
        <p:spPr bwMode="auto">
          <a:xfrm>
            <a:off x="646264" y="4551372"/>
            <a:ext cx="7906464" cy="18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96870098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6" y="427601"/>
            <a:ext cx="7704000" cy="325143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lang="en-US" sz="1600" b="1">
                <a:latin typeface="Times New Roman Bold"/>
                <a:ea typeface="Times New Roman Bold"/>
                <a:cs typeface="Times New Roman Bold"/>
              </a:rPr>
              <a:t>Set 01: Decision Tree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1820992246" name="Google Shape;345;p39"/>
          <p:cNvCxnSpPr/>
          <p:nvPr/>
        </p:nvCxnSpPr>
        <p:spPr bwMode="auto">
          <a:xfrm>
            <a:off x="742545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9183139" name="Google Shape;345;p39"/>
          <p:cNvCxnSpPr/>
          <p:nvPr/>
        </p:nvCxnSpPr>
        <p:spPr bwMode="auto">
          <a:xfrm>
            <a:off x="742545" y="326296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3967461" name=""/>
          <p:cNvSpPr/>
          <p:nvPr/>
        </p:nvSpPr>
        <p:spPr bwMode="auto">
          <a:xfrm>
            <a:off x="-3177886" y="2753820"/>
            <a:ext cx="3087686" cy="30515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397459066" name=""/>
          <p:cNvSpPr/>
          <p:nvPr/>
        </p:nvSpPr>
        <p:spPr bwMode="auto">
          <a:xfrm flipH="0" flipV="0">
            <a:off x="646263" y="902312"/>
            <a:ext cx="5356422" cy="1981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just">
              <a:defRPr/>
            </a:pPr>
            <a:r>
              <a:rPr sz="1600" b="1" i="1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What is a Decision Tree?</a:t>
            </a:r>
            <a:endParaRPr sz="700" i="1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 Decision Tree is a visual model that helps us make decisions by mapping out different choices and their possible outcomes.</a:t>
            </a:r>
            <a:endParaRPr sz="1200" b="0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defRPr/>
            </a:pP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2" indent="-217792" algn="just">
              <a:buFont typeface="Arial"/>
              <a:buChar char="•"/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Tree-like Structure: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Starts with a main question (root node) and branches into possibilities</a:t>
            </a:r>
            <a:endParaRPr sz="1200" b="0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217792" indent="-217792" algn="just">
              <a:buFont typeface="Arial"/>
              <a:buChar char="•"/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Supervised Learning: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Used for classification and regression tasks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2" indent="-217792" algn="just">
              <a:buFont typeface="Arial"/>
              <a:buChar char="•"/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Interpretable: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Easy to understand the decision-making process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2" indent="-217792" algn="just">
              <a:buFont typeface="Arial"/>
              <a:buChar char="•"/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Non-linear: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Captures complex relationships in data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62323987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625463" y="1424196"/>
            <a:ext cx="1747638" cy="1947831"/>
          </a:xfrm>
          <a:prstGeom prst="rect">
            <a:avLst/>
          </a:prstGeom>
        </p:spPr>
      </p:pic>
      <p:sp>
        <p:nvSpPr>
          <p:cNvPr id="846921174" name=""/>
          <p:cNvSpPr/>
          <p:nvPr/>
        </p:nvSpPr>
        <p:spPr bwMode="auto">
          <a:xfrm>
            <a:off x="636791" y="2992278"/>
            <a:ext cx="3922663" cy="1981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just">
              <a:defRPr/>
            </a:pPr>
            <a:r>
              <a:rPr sz="1600" b="1" i="1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Key Components</a:t>
            </a:r>
            <a:endParaRPr sz="1600" i="1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Root Node</a:t>
            </a:r>
            <a:endParaRPr sz="1200" b="1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Starting point representing the whole dataset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Internal Nodes</a:t>
            </a:r>
            <a:endParaRPr sz="1200" b="1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Points where decisions are made based on features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Leaf Nodes</a:t>
            </a:r>
            <a:endParaRPr sz="1200" b="1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End points where final decisions or predictions are made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750237" name=""/>
          <p:cNvSpPr/>
          <p:nvPr/>
        </p:nvSpPr>
        <p:spPr bwMode="auto">
          <a:xfrm rot="0" flipH="0" flipV="0">
            <a:off x="553942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7183684" name="Rectangle 1"/>
          <p:cNvSpPr/>
          <p:nvPr/>
        </p:nvSpPr>
        <p:spPr bwMode="auto">
          <a:xfrm>
            <a:off x="646265" y="4551372"/>
            <a:ext cx="7906464" cy="185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12816951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7" y="427602"/>
            <a:ext cx="7704000" cy="325144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lang="en-US" sz="1600" b="1">
                <a:latin typeface="Times New Roman Bold"/>
                <a:ea typeface="Times New Roman Bold"/>
                <a:cs typeface="Times New Roman Bold"/>
              </a:rPr>
              <a:t>Set 01: Decision Tree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387524982" name="Google Shape;345;p39"/>
          <p:cNvCxnSpPr/>
          <p:nvPr/>
        </p:nvCxnSpPr>
        <p:spPr bwMode="auto">
          <a:xfrm>
            <a:off x="742546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4111744" name="Google Shape;345;p39"/>
          <p:cNvCxnSpPr/>
          <p:nvPr/>
        </p:nvCxnSpPr>
        <p:spPr bwMode="auto">
          <a:xfrm>
            <a:off x="742546" y="326297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8409130" name=""/>
          <p:cNvSpPr/>
          <p:nvPr/>
        </p:nvSpPr>
        <p:spPr bwMode="auto">
          <a:xfrm>
            <a:off x="-3177887" y="2753820"/>
            <a:ext cx="3087687" cy="305157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1519998587" name=""/>
          <p:cNvSpPr/>
          <p:nvPr/>
        </p:nvSpPr>
        <p:spPr bwMode="auto">
          <a:xfrm flipH="0" flipV="0">
            <a:off x="752446" y="2906398"/>
            <a:ext cx="7524335" cy="1859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just">
              <a:defRPr/>
            </a:pPr>
            <a:r>
              <a:rPr sz="1600" b="1" i="1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Types of Decision Trees</a:t>
            </a:r>
            <a:endParaRPr sz="1600" i="1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Classification Trees</a:t>
            </a:r>
            <a:endParaRPr sz="1200" b="1" i="0" u="sng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Purpose: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Predict categorical outcomes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Spam detection (spam/not spam), Disease diagnosis (diabetic/non-diabetic)</a:t>
            </a:r>
            <a:endParaRPr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Regression Trees</a:t>
            </a:r>
            <a:endParaRPr sz="1200" b="1" i="0" u="sng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Purpose: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Predict continuous numerical outcomes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House price prediction, Stock price forecasting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90632614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959120" y="920481"/>
            <a:ext cx="3912004" cy="18809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633986" name=""/>
          <p:cNvSpPr/>
          <p:nvPr/>
        </p:nvSpPr>
        <p:spPr bwMode="auto">
          <a:xfrm rot="0" flipH="0" flipV="0">
            <a:off x="553941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1042306" name="Rectangle 1"/>
          <p:cNvSpPr/>
          <p:nvPr/>
        </p:nvSpPr>
        <p:spPr bwMode="auto">
          <a:xfrm>
            <a:off x="646264" y="4551372"/>
            <a:ext cx="7906464" cy="18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94892323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6" y="427601"/>
            <a:ext cx="7704000" cy="325143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lang="en-US" sz="1600" b="1">
                <a:latin typeface="Times New Roman Bold"/>
                <a:ea typeface="Times New Roman Bold"/>
                <a:cs typeface="Times New Roman Bold"/>
              </a:rPr>
              <a:t>Set 01: Decision Tree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1974783384" name="Google Shape;345;p39"/>
          <p:cNvCxnSpPr/>
          <p:nvPr/>
        </p:nvCxnSpPr>
        <p:spPr bwMode="auto">
          <a:xfrm>
            <a:off x="742545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2558904" name="Google Shape;345;p39"/>
          <p:cNvCxnSpPr/>
          <p:nvPr/>
        </p:nvCxnSpPr>
        <p:spPr bwMode="auto">
          <a:xfrm>
            <a:off x="742545" y="326296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5672405" name=""/>
          <p:cNvSpPr/>
          <p:nvPr/>
        </p:nvSpPr>
        <p:spPr bwMode="auto">
          <a:xfrm>
            <a:off x="-3177886" y="2753820"/>
            <a:ext cx="3087686" cy="30515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795060233" name=""/>
          <p:cNvSpPr/>
          <p:nvPr/>
        </p:nvSpPr>
        <p:spPr bwMode="auto">
          <a:xfrm flipH="0" flipV="0">
            <a:off x="742545" y="3304078"/>
            <a:ext cx="5355392" cy="14329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just">
              <a:defRPr/>
            </a:pPr>
            <a:r>
              <a:rPr sz="1600" b="1" i="1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How Decision Trees Work?</a:t>
            </a:r>
            <a:endParaRPr sz="1600" i="1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Start with Root Node: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Begin with a main question about the dataset</a:t>
            </a:r>
            <a:endParaRPr sz="1200" b="0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Ask Yes/No Questions: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Tree asks series of binary questions to split data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Branch Based on Answers: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Different paths for yes and no responses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Continue Splitting: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Recursively divide data into subsets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Reach Leaf Nodes: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Final predictions when no more useful questions remain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33007391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362406" y="876217"/>
            <a:ext cx="4650768" cy="22789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159538" name=""/>
          <p:cNvSpPr/>
          <p:nvPr/>
        </p:nvSpPr>
        <p:spPr bwMode="auto">
          <a:xfrm rot="0" flipH="0" flipV="0">
            <a:off x="553941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117432" name="Rectangle 1"/>
          <p:cNvSpPr/>
          <p:nvPr/>
        </p:nvSpPr>
        <p:spPr bwMode="auto">
          <a:xfrm>
            <a:off x="646264" y="4551372"/>
            <a:ext cx="7906464" cy="18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39114122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6" y="427601"/>
            <a:ext cx="7704000" cy="325143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lang="en-US" sz="1600" b="1">
                <a:latin typeface="Times New Roman Bold"/>
                <a:ea typeface="Times New Roman Bold"/>
                <a:cs typeface="Times New Roman Bold"/>
              </a:rPr>
              <a:t>Set 01: Decision Tree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1464478256" name="Google Shape;345;p39"/>
          <p:cNvCxnSpPr/>
          <p:nvPr/>
        </p:nvCxnSpPr>
        <p:spPr bwMode="auto">
          <a:xfrm>
            <a:off x="742545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290716" name="Google Shape;345;p39"/>
          <p:cNvCxnSpPr/>
          <p:nvPr/>
        </p:nvCxnSpPr>
        <p:spPr bwMode="auto">
          <a:xfrm>
            <a:off x="742545" y="326296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8051494" name=""/>
          <p:cNvSpPr/>
          <p:nvPr/>
        </p:nvSpPr>
        <p:spPr bwMode="auto">
          <a:xfrm>
            <a:off x="-3177886" y="2753820"/>
            <a:ext cx="3087686" cy="30515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1373995219" name=""/>
          <p:cNvSpPr/>
          <p:nvPr/>
        </p:nvSpPr>
        <p:spPr bwMode="auto">
          <a:xfrm flipH="0" flipV="0">
            <a:off x="742545" y="967473"/>
            <a:ext cx="4641017" cy="1294031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just">
              <a:defRPr/>
            </a:pPr>
            <a:r>
              <a:rPr sz="1600" b="1" i="1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Real-World Example: Coffee Decision</a:t>
            </a:r>
            <a:endParaRPr sz="1600" i="1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Question: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Should you drink coffee?</a:t>
            </a:r>
            <a:endParaRPr sz="1200" b="0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First Check: What time of day?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Morning: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Ask "Tired?" → Yes = Coffee ✓ | No = No coffee ✗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Afternoon: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Ask "Tired?" → Yes = Coffee ✓ | No = No coffee ✗</a:t>
            </a:r>
            <a:endParaRPr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5297542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75641" y="2431492"/>
            <a:ext cx="4555387" cy="230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340129" name=""/>
          <p:cNvSpPr/>
          <p:nvPr/>
        </p:nvSpPr>
        <p:spPr bwMode="auto">
          <a:xfrm rot="0" flipH="0" flipV="0">
            <a:off x="553942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6883058" name="Rectangle 1"/>
          <p:cNvSpPr/>
          <p:nvPr/>
        </p:nvSpPr>
        <p:spPr bwMode="auto">
          <a:xfrm>
            <a:off x="646265" y="4551372"/>
            <a:ext cx="7906464" cy="185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48534549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7" y="427602"/>
            <a:ext cx="7704000" cy="325144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lang="en-US" sz="1600" b="1">
                <a:latin typeface="Times New Roman Bold"/>
                <a:ea typeface="Times New Roman Bold"/>
                <a:cs typeface="Times New Roman Bold"/>
              </a:rPr>
              <a:t>Set 02: concepts on Tree Splitting &amp; Tree Pruning in Decision Tree 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404580865" name="Google Shape;345;p39"/>
          <p:cNvCxnSpPr/>
          <p:nvPr/>
        </p:nvCxnSpPr>
        <p:spPr bwMode="auto">
          <a:xfrm>
            <a:off x="742546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96355" name="Google Shape;345;p39"/>
          <p:cNvCxnSpPr/>
          <p:nvPr/>
        </p:nvCxnSpPr>
        <p:spPr bwMode="auto">
          <a:xfrm>
            <a:off x="742546" y="326297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6863214" name=""/>
          <p:cNvSpPr/>
          <p:nvPr/>
        </p:nvSpPr>
        <p:spPr bwMode="auto">
          <a:xfrm>
            <a:off x="-3177887" y="2753820"/>
            <a:ext cx="3087687" cy="305157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800447261" name=""/>
          <p:cNvSpPr/>
          <p:nvPr/>
        </p:nvSpPr>
        <p:spPr bwMode="auto">
          <a:xfrm flipH="0" flipV="0">
            <a:off x="742546" y="2636519"/>
            <a:ext cx="4688641" cy="22863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What is Tree Splitting?</a:t>
            </a:r>
            <a:endParaRPr sz="1200" b="1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defRPr/>
            </a:pP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process of partitioning a dataset into smaller and smaller subsets based on feature values.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Key Concept: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At each node, the algorithm selects a feature and threshold that best separates the data into homogeneous subsets. This continues recursively until stopping criteria are met.</a:t>
            </a:r>
            <a:endParaRPr sz="1200" b="0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defRPr/>
            </a:pP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Splits occur on a particular variable/feature</a:t>
            </a:r>
            <a:endParaRPr sz="1200" b="0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Goal is to maximize homogeneity within each subset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Process continues recursively down the tree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273020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003523" y="954249"/>
            <a:ext cx="5622187" cy="19521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919981" name=""/>
          <p:cNvSpPr/>
          <p:nvPr/>
        </p:nvSpPr>
        <p:spPr bwMode="auto">
          <a:xfrm rot="0" flipH="0" flipV="0">
            <a:off x="553941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613088" name="Rectangle 1"/>
          <p:cNvSpPr/>
          <p:nvPr/>
        </p:nvSpPr>
        <p:spPr bwMode="auto">
          <a:xfrm>
            <a:off x="646264" y="4551372"/>
            <a:ext cx="7906464" cy="18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83574807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6" y="427601"/>
            <a:ext cx="7704000" cy="325143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lang="en-US" sz="1600" b="1">
                <a:latin typeface="Times New Roman Bold"/>
                <a:ea typeface="Times New Roman Bold"/>
                <a:cs typeface="Times New Roman Bold"/>
              </a:rPr>
              <a:t>Set 02: concepts on Tree Splitting &amp; Tree Pruning in Decision Tree 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1316428706" name="Google Shape;345;p39"/>
          <p:cNvCxnSpPr/>
          <p:nvPr/>
        </p:nvCxnSpPr>
        <p:spPr bwMode="auto">
          <a:xfrm>
            <a:off x="742545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2282556" name="Google Shape;345;p39"/>
          <p:cNvCxnSpPr/>
          <p:nvPr/>
        </p:nvCxnSpPr>
        <p:spPr bwMode="auto">
          <a:xfrm>
            <a:off x="742545" y="326296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5972961" name=""/>
          <p:cNvSpPr/>
          <p:nvPr/>
        </p:nvSpPr>
        <p:spPr bwMode="auto">
          <a:xfrm>
            <a:off x="-3177886" y="2753820"/>
            <a:ext cx="3087686" cy="30515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22028365" name=""/>
          <p:cNvSpPr/>
          <p:nvPr/>
        </p:nvSpPr>
        <p:spPr bwMode="auto">
          <a:xfrm>
            <a:off x="742545" y="1018222"/>
            <a:ext cx="5715949" cy="22253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just">
              <a:defRPr/>
            </a:pPr>
            <a:r>
              <a:rPr sz="1600" b="1" i="1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What is Tree Pruning?</a:t>
            </a:r>
            <a:endParaRPr sz="1600" i="1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Pruning is the process of shortening branches by converting some branch nodes into leaf nodes and removing leaf nodes under the original branch.</a:t>
            </a:r>
            <a:endParaRPr sz="1200" b="0" i="0" u="none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 sz="1200" b="0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Key Goal: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Reduce tree complexity while maintaining or improving predictive performance on new, unseen data.</a:t>
            </a:r>
            <a:endParaRPr sz="1200" b="0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defRPr/>
            </a:pP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Simplifies the tree by removing unnecessary branches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Reduces overfitting to training data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Improves generalization on new data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9958790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651302" y="2347682"/>
            <a:ext cx="4413395" cy="246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74283" name=""/>
          <p:cNvSpPr/>
          <p:nvPr/>
        </p:nvSpPr>
        <p:spPr bwMode="auto">
          <a:xfrm rot="0" flipH="0" flipV="0">
            <a:off x="553941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2836210" name="Rectangle 1"/>
          <p:cNvSpPr/>
          <p:nvPr/>
        </p:nvSpPr>
        <p:spPr bwMode="auto">
          <a:xfrm>
            <a:off x="646264" y="4551372"/>
            <a:ext cx="7906464" cy="18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0748057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6" y="427601"/>
            <a:ext cx="7704000" cy="325143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lang="en-US" sz="1600" b="1">
                <a:latin typeface="Times New Roman Bold"/>
                <a:ea typeface="Times New Roman Bold"/>
                <a:cs typeface="Times New Roman Bold"/>
              </a:rPr>
              <a:t>Set 03: ROC curve, AUC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1017550297" name="Google Shape;345;p39"/>
          <p:cNvCxnSpPr/>
          <p:nvPr/>
        </p:nvCxnSpPr>
        <p:spPr bwMode="auto">
          <a:xfrm>
            <a:off x="742545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2363962" name="Google Shape;345;p39"/>
          <p:cNvCxnSpPr/>
          <p:nvPr/>
        </p:nvCxnSpPr>
        <p:spPr bwMode="auto">
          <a:xfrm>
            <a:off x="742545" y="326296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1422014" name=""/>
          <p:cNvSpPr/>
          <p:nvPr/>
        </p:nvSpPr>
        <p:spPr bwMode="auto">
          <a:xfrm>
            <a:off x="-3177886" y="2753820"/>
            <a:ext cx="3087686" cy="30515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pic>
        <p:nvPicPr>
          <p:cNvPr id="2133104367" name="Picture 2" descr="temp_1.jpg"/>
          <p:cNvPicPr>
            <a:picLocks noChangeAspect="1"/>
          </p:cNvPicPr>
          <p:nvPr/>
        </p:nvPicPr>
        <p:blipFill rotWithShape="1">
          <a:blip r:embed="rId3"/>
          <a:srcRect l="0" t="19861" r="0" b="16051"/>
          <a:stretch/>
        </p:blipFill>
        <p:spPr bwMode="auto">
          <a:xfrm flipH="0" flipV="0">
            <a:off x="418345" y="865172"/>
            <a:ext cx="7815368" cy="2481602"/>
          </a:xfrm>
          <a:prstGeom prst="rect">
            <a:avLst/>
          </a:prstGeom>
        </p:spPr>
      </p:pic>
      <p:pic>
        <p:nvPicPr>
          <p:cNvPr id="133664526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429587" y="3313361"/>
            <a:ext cx="1792883" cy="1745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773468" name=""/>
          <p:cNvSpPr/>
          <p:nvPr/>
        </p:nvSpPr>
        <p:spPr bwMode="auto">
          <a:xfrm rot="0" flipH="0" flipV="0">
            <a:off x="553941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8689777" name="Rectangle 1"/>
          <p:cNvSpPr/>
          <p:nvPr/>
        </p:nvSpPr>
        <p:spPr bwMode="auto">
          <a:xfrm>
            <a:off x="646264" y="4551372"/>
            <a:ext cx="7906464" cy="18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763899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6" y="427601"/>
            <a:ext cx="7704000" cy="325143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lang="en-US" sz="1600" b="1">
                <a:latin typeface="Times New Roman Bold"/>
                <a:ea typeface="Times New Roman Bold"/>
                <a:cs typeface="Times New Roman Bold"/>
              </a:rPr>
              <a:t>Set 03: ROC curve, AUC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1259979950" name="Google Shape;345;p39"/>
          <p:cNvCxnSpPr/>
          <p:nvPr/>
        </p:nvCxnSpPr>
        <p:spPr bwMode="auto">
          <a:xfrm>
            <a:off x="742545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1360603" name="Google Shape;345;p39"/>
          <p:cNvCxnSpPr/>
          <p:nvPr/>
        </p:nvCxnSpPr>
        <p:spPr bwMode="auto">
          <a:xfrm>
            <a:off x="742545" y="326296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1142843" name=""/>
          <p:cNvSpPr/>
          <p:nvPr/>
        </p:nvSpPr>
        <p:spPr bwMode="auto">
          <a:xfrm>
            <a:off x="-3177886" y="2753820"/>
            <a:ext cx="3087686" cy="30515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pic>
        <p:nvPicPr>
          <p:cNvPr id="1648044739" name="Picture 2" descr="temp_3.jpg"/>
          <p:cNvPicPr>
            <a:picLocks noChangeAspect="1"/>
          </p:cNvPicPr>
          <p:nvPr/>
        </p:nvPicPr>
        <p:blipFill rotWithShape="1">
          <a:blip r:embed="rId3"/>
          <a:srcRect l="0" t="5416" r="0" b="14557"/>
          <a:stretch/>
        </p:blipFill>
        <p:spPr bwMode="auto">
          <a:xfrm flipH="0" flipV="0">
            <a:off x="1238725" y="882750"/>
            <a:ext cx="6421619" cy="38542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449819" name=""/>
          <p:cNvSpPr/>
          <p:nvPr/>
        </p:nvSpPr>
        <p:spPr bwMode="auto">
          <a:xfrm rot="0" flipH="0" flipV="0">
            <a:off x="553941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57449571" name="Rectangle 1"/>
          <p:cNvSpPr/>
          <p:nvPr/>
        </p:nvSpPr>
        <p:spPr bwMode="auto">
          <a:xfrm>
            <a:off x="646264" y="4551372"/>
            <a:ext cx="7906464" cy="18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205036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6" y="427601"/>
            <a:ext cx="7704000" cy="325143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lang="en-US" sz="1600" b="1">
                <a:latin typeface="Times New Roman Bold"/>
                <a:ea typeface="Times New Roman Bold"/>
                <a:cs typeface="Times New Roman Bold"/>
              </a:rPr>
              <a:t>Set 03: ROC curve, AUC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150198977" name="Google Shape;345;p39"/>
          <p:cNvCxnSpPr/>
          <p:nvPr/>
        </p:nvCxnSpPr>
        <p:spPr bwMode="auto">
          <a:xfrm>
            <a:off x="742545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0448907" name="Google Shape;345;p39"/>
          <p:cNvCxnSpPr/>
          <p:nvPr/>
        </p:nvCxnSpPr>
        <p:spPr bwMode="auto">
          <a:xfrm>
            <a:off x="742545" y="326296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9090992" name=""/>
          <p:cNvSpPr/>
          <p:nvPr/>
        </p:nvSpPr>
        <p:spPr bwMode="auto">
          <a:xfrm>
            <a:off x="-3177886" y="2753820"/>
            <a:ext cx="3087686" cy="30515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pic>
        <p:nvPicPr>
          <p:cNvPr id="508089228" name="Picture 2" descr="temp_4.jpg"/>
          <p:cNvPicPr>
            <a:picLocks noChangeAspect="1"/>
          </p:cNvPicPr>
          <p:nvPr/>
        </p:nvPicPr>
        <p:blipFill rotWithShape="1">
          <a:blip r:embed="rId3"/>
          <a:srcRect l="4708" t="5230" r="2553" b="10103"/>
          <a:stretch/>
        </p:blipFill>
        <p:spPr bwMode="auto">
          <a:xfrm flipH="0" flipV="0">
            <a:off x="1729809" y="995868"/>
            <a:ext cx="5739375" cy="39299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841950" name=""/>
          <p:cNvSpPr/>
          <p:nvPr/>
        </p:nvSpPr>
        <p:spPr bwMode="auto">
          <a:xfrm rot="0" flipH="0" flipV="0">
            <a:off x="553941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4938313" name="Rectangle 1"/>
          <p:cNvSpPr/>
          <p:nvPr/>
        </p:nvSpPr>
        <p:spPr bwMode="auto">
          <a:xfrm>
            <a:off x="646264" y="4551372"/>
            <a:ext cx="7906464" cy="18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449280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6" y="427601"/>
            <a:ext cx="7704000" cy="325143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lang="en-US" sz="1600" b="1">
                <a:latin typeface="Times New Roman Bold"/>
                <a:ea typeface="Times New Roman Bold"/>
                <a:cs typeface="Times New Roman Bold"/>
              </a:rPr>
              <a:t>Set 03: ROC curve, AUC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36489865" name="Google Shape;345;p39"/>
          <p:cNvCxnSpPr/>
          <p:nvPr/>
        </p:nvCxnSpPr>
        <p:spPr bwMode="auto">
          <a:xfrm>
            <a:off x="742545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0147762" name="Google Shape;345;p39"/>
          <p:cNvCxnSpPr/>
          <p:nvPr/>
        </p:nvCxnSpPr>
        <p:spPr bwMode="auto">
          <a:xfrm>
            <a:off x="742545" y="326296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737417" name=""/>
          <p:cNvSpPr/>
          <p:nvPr/>
        </p:nvSpPr>
        <p:spPr bwMode="auto">
          <a:xfrm>
            <a:off x="-3177886" y="2753820"/>
            <a:ext cx="3087686" cy="30515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pic>
        <p:nvPicPr>
          <p:cNvPr id="65880253" name="Picture 2" descr="temp_5.jpg"/>
          <p:cNvPicPr>
            <a:picLocks noChangeAspect="1"/>
          </p:cNvPicPr>
          <p:nvPr/>
        </p:nvPicPr>
        <p:blipFill rotWithShape="1">
          <a:blip r:embed="rId3"/>
          <a:srcRect l="4928" t="5642" r="3153" b="8928"/>
          <a:stretch/>
        </p:blipFill>
        <p:spPr bwMode="auto">
          <a:xfrm flipH="0" flipV="0">
            <a:off x="1791608" y="945706"/>
            <a:ext cx="5625677" cy="3921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150945" name=""/>
          <p:cNvSpPr/>
          <p:nvPr/>
        </p:nvSpPr>
        <p:spPr bwMode="auto">
          <a:xfrm rot="0" flipH="0" flipV="0">
            <a:off x="553941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93703277" name="Rectangle 1"/>
          <p:cNvSpPr/>
          <p:nvPr/>
        </p:nvSpPr>
        <p:spPr bwMode="auto">
          <a:xfrm>
            <a:off x="646264" y="4551372"/>
            <a:ext cx="7906464" cy="18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11470147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6" y="427601"/>
            <a:ext cx="7704000" cy="325143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lang="en-US" sz="1600" b="1">
                <a:latin typeface="Times New Roman Bold"/>
                <a:ea typeface="Times New Roman Bold"/>
                <a:cs typeface="Times New Roman Bold"/>
              </a:rPr>
              <a:t>Set 03: ROC curve, AUC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1385892796" name="Google Shape;345;p39"/>
          <p:cNvCxnSpPr/>
          <p:nvPr/>
        </p:nvCxnSpPr>
        <p:spPr bwMode="auto">
          <a:xfrm>
            <a:off x="742545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6678784" name="Google Shape;345;p39"/>
          <p:cNvCxnSpPr/>
          <p:nvPr/>
        </p:nvCxnSpPr>
        <p:spPr bwMode="auto">
          <a:xfrm>
            <a:off x="742545" y="326296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3141449" name=""/>
          <p:cNvSpPr/>
          <p:nvPr/>
        </p:nvSpPr>
        <p:spPr bwMode="auto">
          <a:xfrm>
            <a:off x="-3177886" y="2753820"/>
            <a:ext cx="3087686" cy="30515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pic>
        <p:nvPicPr>
          <p:cNvPr id="977429919" name="Picture 2" descr="temp_6.jpg"/>
          <p:cNvPicPr>
            <a:picLocks noChangeAspect="1"/>
          </p:cNvPicPr>
          <p:nvPr/>
        </p:nvPicPr>
        <p:blipFill rotWithShape="1">
          <a:blip r:embed="rId3"/>
          <a:srcRect l="6102" t="4998" r="4327" b="27787"/>
          <a:stretch/>
        </p:blipFill>
        <p:spPr bwMode="auto">
          <a:xfrm flipH="0" flipV="0">
            <a:off x="1519058" y="1046123"/>
            <a:ext cx="6068552" cy="34153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126551" name=""/>
          <p:cNvSpPr/>
          <p:nvPr/>
        </p:nvSpPr>
        <p:spPr bwMode="auto">
          <a:xfrm rot="0" flipH="0" flipV="0">
            <a:off x="553941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4113624" name="Rectangle 1"/>
          <p:cNvSpPr/>
          <p:nvPr/>
        </p:nvSpPr>
        <p:spPr bwMode="auto">
          <a:xfrm>
            <a:off x="646264" y="4551372"/>
            <a:ext cx="7906464" cy="18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2767350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6" y="427601"/>
            <a:ext cx="7704000" cy="325143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sz="1600" b="1">
                <a:latin typeface="Times New Roman Bold"/>
                <a:cs typeface="Times New Roman Bold"/>
              </a:rPr>
              <a:t>Set 04: Cluster Analysis (K-Medoids)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1348437175" name="Google Shape;345;p39"/>
          <p:cNvCxnSpPr/>
          <p:nvPr/>
        </p:nvCxnSpPr>
        <p:spPr bwMode="auto">
          <a:xfrm>
            <a:off x="742545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3639261" name="Google Shape;345;p39"/>
          <p:cNvCxnSpPr/>
          <p:nvPr/>
        </p:nvCxnSpPr>
        <p:spPr bwMode="auto">
          <a:xfrm>
            <a:off x="742545" y="326296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5358605" name=""/>
          <p:cNvSpPr/>
          <p:nvPr/>
        </p:nvSpPr>
        <p:spPr bwMode="auto">
          <a:xfrm>
            <a:off x="-3177886" y="2753820"/>
            <a:ext cx="3087686" cy="30515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pic>
        <p:nvPicPr>
          <p:cNvPr id="206787571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15635" y="843084"/>
            <a:ext cx="4075398" cy="2004660"/>
          </a:xfrm>
          <a:prstGeom prst="rect">
            <a:avLst/>
          </a:prstGeom>
        </p:spPr>
      </p:pic>
      <p:pic>
        <p:nvPicPr>
          <p:cNvPr id="1188252399" name=""/>
          <p:cNvPicPr>
            <a:picLocks noChangeAspect="1"/>
          </p:cNvPicPr>
          <p:nvPr/>
        </p:nvPicPr>
        <p:blipFill rotWithShape="1">
          <a:blip r:embed="rId4"/>
          <a:srcRect l="0" t="11973" r="1781" b="7060"/>
          <a:stretch/>
        </p:blipFill>
        <p:spPr bwMode="auto">
          <a:xfrm flipH="0" flipV="0">
            <a:off x="646264" y="2847744"/>
            <a:ext cx="4319859" cy="1889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04236" name=""/>
          <p:cNvSpPr/>
          <p:nvPr/>
        </p:nvSpPr>
        <p:spPr bwMode="auto">
          <a:xfrm rot="0" flipH="0" flipV="0">
            <a:off x="553941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51665958" name="Rectangle 1"/>
          <p:cNvSpPr/>
          <p:nvPr/>
        </p:nvSpPr>
        <p:spPr bwMode="auto">
          <a:xfrm>
            <a:off x="646264" y="4551372"/>
            <a:ext cx="7906464" cy="18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7554532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6" y="427601"/>
            <a:ext cx="7704000" cy="325143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sz="1600" b="1">
                <a:latin typeface="Times New Roman Bold"/>
                <a:cs typeface="Times New Roman Bold"/>
              </a:rPr>
              <a:t>Set 05: Density Based Clustering (DBSCAN)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1914799982" name="Google Shape;345;p39"/>
          <p:cNvCxnSpPr/>
          <p:nvPr/>
        </p:nvCxnSpPr>
        <p:spPr bwMode="auto">
          <a:xfrm>
            <a:off x="742545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4485398" name="Google Shape;345;p39"/>
          <p:cNvCxnSpPr/>
          <p:nvPr/>
        </p:nvCxnSpPr>
        <p:spPr bwMode="auto">
          <a:xfrm>
            <a:off x="742545" y="326296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7841139" name=""/>
          <p:cNvSpPr/>
          <p:nvPr/>
        </p:nvSpPr>
        <p:spPr bwMode="auto">
          <a:xfrm>
            <a:off x="-3177886" y="2753820"/>
            <a:ext cx="3087686" cy="30515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1853202789" name=""/>
          <p:cNvSpPr/>
          <p:nvPr/>
        </p:nvSpPr>
        <p:spPr bwMode="auto">
          <a:xfrm flipH="0" flipV="0">
            <a:off x="646264" y="1033938"/>
            <a:ext cx="4808736" cy="27740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just">
              <a:defRPr/>
            </a:pPr>
            <a:r>
              <a:rPr sz="1600" b="1" i="1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What is DBSCAN?</a:t>
            </a:r>
            <a:endParaRPr sz="1600" b="1" i="1" u="sng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defRPr/>
            </a:pPr>
            <a:endParaRPr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DBSCAN is a density-based clustering algorithm that groups data points that are closely packed together and marks outliers as noise based on their density in the feature space.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b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Key Advantage: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Unlike K-Means or hierarchical clustering, DBSCAN does NOT assume clusters are compact and spherical—it can find arbitrary-shaped clusters and handle noise effectively.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Arbitrary-Shaped Clusters: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Clusters can take any shape, not just circular</a:t>
            </a:r>
            <a:endParaRPr sz="1200" b="0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Noise Handling: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Effectively identifies and isolates outliers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 algn="just">
              <a:buFont typeface="Arial"/>
              <a:buChar char="•"/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No Pre-defined K: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Automatically determines number of clusters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56392330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05395" y="1523999"/>
            <a:ext cx="3396947" cy="1988343"/>
          </a:xfrm>
          <a:prstGeom prst="rect">
            <a:avLst/>
          </a:prstGeom>
        </p:spPr>
      </p:pic>
      <p:sp>
        <p:nvSpPr>
          <p:cNvPr id="287732234" name=""/>
          <p:cNvSpPr/>
          <p:nvPr/>
        </p:nvSpPr>
        <p:spPr bwMode="auto">
          <a:xfrm>
            <a:off x="553941" y="3857148"/>
            <a:ext cx="5588000" cy="10671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600" b="1" i="1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Key Parameters: eps and MinPts</a:t>
            </a:r>
            <a:endParaRPr sz="1600" i="1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200" b="1" i="1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eps (Epsilon)</a:t>
            </a:r>
            <a:endParaRPr sz="1200" b="1" i="1" u="sng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Radius of neighborhood around each point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If eps too small → most points = noise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If eps too large → clusters merge together</a:t>
            </a:r>
            <a:endParaRPr sz="1200" b="0" i="0" u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4493264" name=""/>
          <p:cNvSpPr txBox="1"/>
          <p:nvPr/>
        </p:nvSpPr>
        <p:spPr bwMode="auto">
          <a:xfrm rot="0" flipH="0" flipV="0">
            <a:off x="3586799" y="4139712"/>
            <a:ext cx="4201826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1" i="1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MinPts (Minimum Points)</a:t>
            </a:r>
            <a:endParaRPr sz="1200" i="1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Min points within eps radius to form dense region</a:t>
            </a:r>
            <a:endParaRPr sz="1200" i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Rule of thumb: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MinPts ≥ D+1 (D=dimensions)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Minimum: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MinPts = 3 recommended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862612" name=""/>
          <p:cNvSpPr/>
          <p:nvPr/>
        </p:nvSpPr>
        <p:spPr bwMode="auto">
          <a:xfrm rot="0" flipH="0" flipV="0">
            <a:off x="553941" y="461367"/>
            <a:ext cx="7998786" cy="19347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8178124" name="Rectangle 1"/>
          <p:cNvSpPr/>
          <p:nvPr/>
        </p:nvSpPr>
        <p:spPr bwMode="auto">
          <a:xfrm>
            <a:off x="646264" y="4551372"/>
            <a:ext cx="7906464" cy="18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4130891" name="Google Shape;344;p39"/>
          <p:cNvSpPr txBox="1">
            <a:spLocks noGrp="1"/>
          </p:cNvSpPr>
          <p:nvPr>
            <p:ph type="title"/>
          </p:nvPr>
        </p:nvSpPr>
        <p:spPr bwMode="auto">
          <a:xfrm flipH="0" flipV="0">
            <a:off x="752446" y="427601"/>
            <a:ext cx="7704000" cy="325143"/>
          </a:xfrm>
          <a:prstGeom prst="rect">
            <a:avLst/>
          </a:prstGeom>
        </p:spPr>
        <p:txBody>
          <a:bodyPr spcFirstLastPara="1" wrap="square" lIns="91422" tIns="0" rIns="91422" bIns="0" anchor="t" anchorCtr="0">
            <a:noAutofit/>
          </a:bodyPr>
          <a:lstStyle/>
          <a:p>
            <a:pPr lvl="0">
              <a:defRPr/>
            </a:pPr>
            <a:r>
              <a:rPr sz="1600" b="1">
                <a:latin typeface="Times New Roman Bold"/>
                <a:cs typeface="Times New Roman Bold"/>
              </a:rPr>
              <a:t>Set 05: Density Based Clustering (DBSCAN)</a:t>
            </a:r>
            <a:endParaRPr sz="1600" b="1">
              <a:latin typeface="Times New Roman Bold"/>
              <a:cs typeface="Times New Roman Bold"/>
            </a:endParaRPr>
          </a:p>
        </p:txBody>
      </p:sp>
      <p:cxnSp>
        <p:nvCxnSpPr>
          <p:cNvPr id="464257740" name="Google Shape;345;p39"/>
          <p:cNvCxnSpPr/>
          <p:nvPr/>
        </p:nvCxnSpPr>
        <p:spPr bwMode="auto">
          <a:xfrm>
            <a:off x="742545" y="752751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0363012" name="Google Shape;345;p39"/>
          <p:cNvCxnSpPr/>
          <p:nvPr/>
        </p:nvCxnSpPr>
        <p:spPr bwMode="auto">
          <a:xfrm>
            <a:off x="742545" y="326296"/>
            <a:ext cx="7713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9345837" name=""/>
          <p:cNvSpPr/>
          <p:nvPr/>
        </p:nvSpPr>
        <p:spPr bwMode="auto">
          <a:xfrm>
            <a:off x="-3177886" y="2753820"/>
            <a:ext cx="3087686" cy="30515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1170922403" name=""/>
          <p:cNvSpPr/>
          <p:nvPr/>
        </p:nvSpPr>
        <p:spPr bwMode="auto">
          <a:xfrm flipH="0" flipV="0">
            <a:off x="752446" y="978037"/>
            <a:ext cx="5072727" cy="237780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just">
              <a:defRPr/>
            </a:pPr>
            <a:r>
              <a:rPr sz="1600" b="1" i="1" u="sng" spc="9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How Does DBSCAN Work?</a:t>
            </a:r>
            <a:r>
              <a:rPr sz="1600" b="1" i="1" u="sng" spc="9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600" i="1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0" i="0" u="none" spc="9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DBSCAN works by categorizing data points into three types: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34314" indent="-234314" algn="just">
              <a:buFont typeface="Arial"/>
              <a:buAutoNum type="arabicPeriod"/>
              <a:defRPr/>
            </a:pPr>
            <a:r>
              <a:rPr sz="1200" b="0" i="0" u="none" spc="9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Core points which have a sufficient number of neighbors within a specified radius (eplison)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34314" indent="-234314" algn="just">
              <a:buFont typeface="Arial"/>
              <a:buAutoNum type="arabicPeriod"/>
              <a:defRPr/>
            </a:pPr>
            <a:r>
              <a:rPr sz="1200" b="0" i="0" u="none" spc="9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Border points which are near core points but lack enough neighbors to be core points themselves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34314" indent="-234314" algn="just">
              <a:buFont typeface="Arial"/>
              <a:buAutoNum type="arabicPeriod"/>
              <a:defRPr/>
            </a:pPr>
            <a:r>
              <a:rPr sz="1200" b="0" i="0" u="none" spc="9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Noise points which do not belong to any cluster.</a:t>
            </a: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 sz="1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200" b="0" i="0" u="none" spc="9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By iteratively expanding clusters from core points and connecting density-reachable points, DBSCAN forms clusters without relying on rigid assumptions about their shape or size.</a:t>
            </a:r>
            <a:endParaRPr sz="1200" b="0" i="0" u="none" spc="9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7471098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894812" y="1543106"/>
            <a:ext cx="2988468" cy="20572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2481963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047864" y="1601034"/>
            <a:ext cx="3048270" cy="1800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Industrial Recycling Pitch Deck by Slidesgo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707070"/>
      </a:lt2>
      <a:accent1>
        <a:srgbClr val="E2E2E2"/>
      </a:accent1>
      <a:accent2>
        <a:srgbClr val="FFE457"/>
      </a:accent2>
      <a:accent3>
        <a:srgbClr val="B97A67"/>
      </a:accent3>
      <a:accent4>
        <a:srgbClr val="61B988"/>
      </a:accent4>
      <a:accent5>
        <a:srgbClr val="01977F"/>
      </a:accent5>
      <a:accent6>
        <a:srgbClr val="5AC1D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Recycling Pitch Deck </dc:title>
  <dc:creator/>
  <cp:lastModifiedBy/>
  <cp:revision>35</cp:revision>
  <dcterms:created xsi:type="dcterms:W3CDTF">2024-10-20T01:53:31Z</dcterms:created>
  <dcterms:modified xsi:type="dcterms:W3CDTF">2026-01-02T12:58:24Z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DF01F10C8EC040A48CE9C5BAC016D8AC_12</vt:lpwstr>
  </property>
  <property fmtid="{D5CDD505-2E9C-101B-9397-08002B2CF9AE}" pid="3" name="KSOProductBuildVer">
    <vt:lpwstr>1033-12.2.0.18607</vt:lpwstr>
  </property>
</Properties>
</file>