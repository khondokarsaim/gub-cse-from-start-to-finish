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0"/>
  </p:notesMasterIdLst>
  <p:sldIdLst>
    <p:sldId id="256" r:id="rId2"/>
    <p:sldId id="258" r:id="rId3"/>
    <p:sldId id="297" r:id="rId4"/>
    <p:sldId id="298" r:id="rId5"/>
    <p:sldId id="311" r:id="rId6"/>
    <p:sldId id="313" r:id="rId7"/>
    <p:sldId id="312" r:id="rId8"/>
    <p:sldId id="305" r:id="rId9"/>
  </p:sldIdLst>
  <p:sldSz cx="9144000" cy="5143500" type="screen16x9"/>
  <p:notesSz cx="6858000" cy="9144000"/>
  <p:embeddedFontLst>
    <p:embeddedFont>
      <p:font typeface="Anton" pitchFamily="2" charset="0"/>
      <p:regular r:id="rId11"/>
    </p:embeddedFont>
    <p:embeddedFont>
      <p:font typeface="Chivo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3E27"/>
    <a:srgbClr val="174925"/>
    <a:srgbClr val="94B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3875BE-CD73-4797-A9CD-A221E883FB9D}">
  <a:tblStyle styleId="{493875BE-CD73-4797-A9CD-A221E883FB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5" autoAdjust="0"/>
    <p:restoredTop sz="94660"/>
  </p:normalViewPr>
  <p:slideViewPr>
    <p:cSldViewPr snapToGrid="0">
      <p:cViewPr>
        <p:scale>
          <a:sx n="75" d="100"/>
          <a:sy n="75" d="100"/>
        </p:scale>
        <p:origin x="61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cf467372bc_1_3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cf467372bc_1_3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>
                <a:latin typeface="Chivo" panose="020B0604020202020204" charset="0"/>
              </a:rPr>
              <a:t>Chivo</a:t>
            </a:r>
            <a:endParaRPr lang="en-IN" dirty="0">
              <a:latin typeface="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154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>
                <a:latin typeface="Chivo" panose="020B0604020202020204" charset="0"/>
              </a:rPr>
              <a:t>Chivo</a:t>
            </a:r>
            <a:endParaRPr lang="en-IN" dirty="0">
              <a:latin typeface="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640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>
                <a:latin typeface="Chivo" panose="020B0604020202020204" charset="0"/>
              </a:rPr>
              <a:t>Chivo</a:t>
            </a:r>
            <a:endParaRPr lang="en-IN" dirty="0">
              <a:latin typeface="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09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>
                <a:latin typeface="Chivo" panose="020B0604020202020204" charset="0"/>
              </a:rPr>
              <a:t>Chivo</a:t>
            </a:r>
            <a:endParaRPr lang="en-IN" dirty="0">
              <a:latin typeface="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31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>
                <a:latin typeface="Chivo" panose="020B0604020202020204" charset="0"/>
              </a:rPr>
              <a:t>Chivo</a:t>
            </a:r>
            <a:endParaRPr lang="en-IN" dirty="0">
              <a:latin typeface="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67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2656525"/>
            <a:ext cx="9144000" cy="2486943"/>
            <a:chOff x="0" y="2656525"/>
            <a:chExt cx="9144000" cy="2486943"/>
          </a:xfrm>
        </p:grpSpPr>
        <p:sp>
          <p:nvSpPr>
            <p:cNvPr id="10" name="Google Shape;10;p2"/>
            <p:cNvSpPr/>
            <p:nvPr/>
          </p:nvSpPr>
          <p:spPr>
            <a:xfrm>
              <a:off x="0" y="2656525"/>
              <a:ext cx="5497200" cy="1845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4501425"/>
              <a:ext cx="5497200" cy="64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497200" y="2656525"/>
              <a:ext cx="1823400" cy="12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497200" y="3899968"/>
              <a:ext cx="1823400" cy="12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320600" y="2656525"/>
              <a:ext cx="1823400" cy="124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320600" y="3899968"/>
              <a:ext cx="1823400" cy="12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305425" y="4501425"/>
              <a:ext cx="191700" cy="64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921950" y="4501425"/>
              <a:ext cx="191700" cy="64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538475" y="4501425"/>
              <a:ext cx="191700" cy="64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320600" y="2657475"/>
              <a:ext cx="1823400" cy="12435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764350" y="4164568"/>
              <a:ext cx="1289100" cy="7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738450" y="539400"/>
            <a:ext cx="4020300" cy="17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738450" y="3117400"/>
            <a:ext cx="4043100" cy="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>
            <a:spLocks noGrp="1"/>
          </p:cNvSpPr>
          <p:nvPr>
            <p:ph type="body" idx="1"/>
          </p:nvPr>
        </p:nvSpPr>
        <p:spPr>
          <a:xfrm>
            <a:off x="1572600" y="2269200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  <p:grpSp>
        <p:nvGrpSpPr>
          <p:cNvPr id="96" name="Google Shape;96;p10"/>
          <p:cNvGrpSpPr/>
          <p:nvPr/>
        </p:nvGrpSpPr>
        <p:grpSpPr>
          <a:xfrm>
            <a:off x="-41" y="4603870"/>
            <a:ext cx="909797" cy="539382"/>
            <a:chOff x="4538475" y="4762550"/>
            <a:chExt cx="909797" cy="381000"/>
          </a:xfrm>
        </p:grpSpPr>
        <p:sp>
          <p:nvSpPr>
            <p:cNvPr id="97" name="Google Shape;97;p10"/>
            <p:cNvSpPr/>
            <p:nvPr/>
          </p:nvSpPr>
          <p:spPr>
            <a:xfrm>
              <a:off x="4538475" y="4762550"/>
              <a:ext cx="113700" cy="38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4652203" y="4762550"/>
              <a:ext cx="113700" cy="381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4765931" y="4762550"/>
              <a:ext cx="113700" cy="38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4879659" y="4762550"/>
              <a:ext cx="113700" cy="381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4993388" y="4762550"/>
              <a:ext cx="113700" cy="38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5107116" y="4762550"/>
              <a:ext cx="113700" cy="381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5220844" y="4762550"/>
              <a:ext cx="113700" cy="38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5334572" y="4762550"/>
              <a:ext cx="113700" cy="381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10"/>
          <p:cNvSpPr/>
          <p:nvPr/>
        </p:nvSpPr>
        <p:spPr>
          <a:xfrm>
            <a:off x="7562107" y="-4"/>
            <a:ext cx="790800" cy="53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8353054" y="-4"/>
            <a:ext cx="790800" cy="53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/>
          <p:nvPr/>
        </p:nvSpPr>
        <p:spPr>
          <a:xfrm>
            <a:off x="7761731" y="73846"/>
            <a:ext cx="391800" cy="391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>
            <a:spLocks noGrp="1"/>
          </p:cNvSpPr>
          <p:nvPr>
            <p:ph type="title" hasCustomPrompt="1"/>
          </p:nvPr>
        </p:nvSpPr>
        <p:spPr>
          <a:xfrm>
            <a:off x="713400" y="1106125"/>
            <a:ext cx="77172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0" name="Google Shape;110;p11"/>
          <p:cNvSpPr txBox="1">
            <a:spLocks noGrp="1"/>
          </p:cNvSpPr>
          <p:nvPr>
            <p:ph type="body" idx="1"/>
          </p:nvPr>
        </p:nvSpPr>
        <p:spPr>
          <a:xfrm>
            <a:off x="713400" y="3152225"/>
            <a:ext cx="7717200" cy="8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0" y="0"/>
            <a:ext cx="9144000" cy="71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0" y="0"/>
            <a:ext cx="12618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7882200" y="0"/>
            <a:ext cx="1261800" cy="71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1400175" y="0"/>
            <a:ext cx="285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1824400" y="0"/>
            <a:ext cx="285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2371725" y="0"/>
            <a:ext cx="162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796050" y="0"/>
            <a:ext cx="162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3305175" y="0"/>
            <a:ext cx="780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3729400" y="0"/>
            <a:ext cx="780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/>
          <p:nvPr/>
        </p:nvSpPr>
        <p:spPr>
          <a:xfrm rot="10800000">
            <a:off x="0" y="4433400"/>
            <a:ext cx="9144000" cy="71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1"/>
          <p:cNvSpPr/>
          <p:nvPr/>
        </p:nvSpPr>
        <p:spPr>
          <a:xfrm rot="10800000">
            <a:off x="7882200" y="4433400"/>
            <a:ext cx="12618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1"/>
          <p:cNvSpPr/>
          <p:nvPr/>
        </p:nvSpPr>
        <p:spPr>
          <a:xfrm rot="10800000">
            <a:off x="0" y="4433400"/>
            <a:ext cx="1261800" cy="71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1"/>
          <p:cNvSpPr/>
          <p:nvPr/>
        </p:nvSpPr>
        <p:spPr>
          <a:xfrm rot="10800000">
            <a:off x="7457925" y="4433400"/>
            <a:ext cx="285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1"/>
          <p:cNvSpPr/>
          <p:nvPr/>
        </p:nvSpPr>
        <p:spPr>
          <a:xfrm rot="10800000">
            <a:off x="7033700" y="4433400"/>
            <a:ext cx="285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1"/>
          <p:cNvSpPr/>
          <p:nvPr/>
        </p:nvSpPr>
        <p:spPr>
          <a:xfrm rot="10800000">
            <a:off x="6609375" y="4433400"/>
            <a:ext cx="162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1"/>
          <p:cNvSpPr/>
          <p:nvPr/>
        </p:nvSpPr>
        <p:spPr>
          <a:xfrm rot="10800000">
            <a:off x="6185050" y="4433400"/>
            <a:ext cx="162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1"/>
          <p:cNvSpPr/>
          <p:nvPr/>
        </p:nvSpPr>
        <p:spPr>
          <a:xfrm rot="10800000">
            <a:off x="5760825" y="4433400"/>
            <a:ext cx="780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1"/>
          <p:cNvSpPr/>
          <p:nvPr/>
        </p:nvSpPr>
        <p:spPr>
          <a:xfrm rot="10800000">
            <a:off x="5336600" y="4433400"/>
            <a:ext cx="780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7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127550" y="0"/>
            <a:ext cx="50166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/>
          </p:nvPr>
        </p:nvSpPr>
        <p:spPr>
          <a:xfrm>
            <a:off x="713100" y="1698300"/>
            <a:ext cx="2962800" cy="1746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"/>
          </p:nvPr>
        </p:nvSpPr>
        <p:spPr>
          <a:xfrm>
            <a:off x="5903800" y="553513"/>
            <a:ext cx="24312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2"/>
          </p:nvPr>
        </p:nvSpPr>
        <p:spPr>
          <a:xfrm>
            <a:off x="5903808" y="958250"/>
            <a:ext cx="28128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3" hasCustomPrompt="1"/>
          </p:nvPr>
        </p:nvSpPr>
        <p:spPr>
          <a:xfrm>
            <a:off x="4970075" y="869163"/>
            <a:ext cx="777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4"/>
          </p:nvPr>
        </p:nvSpPr>
        <p:spPr>
          <a:xfrm>
            <a:off x="5903750" y="3519840"/>
            <a:ext cx="2432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5"/>
          </p:nvPr>
        </p:nvSpPr>
        <p:spPr>
          <a:xfrm>
            <a:off x="5903750" y="3924596"/>
            <a:ext cx="2814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6" hasCustomPrompt="1"/>
          </p:nvPr>
        </p:nvSpPr>
        <p:spPr>
          <a:xfrm>
            <a:off x="4970075" y="3835490"/>
            <a:ext cx="777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7"/>
          </p:nvPr>
        </p:nvSpPr>
        <p:spPr>
          <a:xfrm>
            <a:off x="5903750" y="1890887"/>
            <a:ext cx="2431200" cy="76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8"/>
          </p:nvPr>
        </p:nvSpPr>
        <p:spPr>
          <a:xfrm>
            <a:off x="5903750" y="2572235"/>
            <a:ext cx="28128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9" hasCustomPrompt="1"/>
          </p:nvPr>
        </p:nvSpPr>
        <p:spPr>
          <a:xfrm>
            <a:off x="4970075" y="2343613"/>
            <a:ext cx="777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39"/>
          <p:cNvGrpSpPr/>
          <p:nvPr/>
        </p:nvGrpSpPr>
        <p:grpSpPr>
          <a:xfrm>
            <a:off x="0" y="0"/>
            <a:ext cx="9150600" cy="261000"/>
            <a:chOff x="0" y="0"/>
            <a:chExt cx="9150600" cy="261000"/>
          </a:xfrm>
        </p:grpSpPr>
        <p:sp>
          <p:nvSpPr>
            <p:cNvPr id="340" name="Google Shape;340;p39"/>
            <p:cNvSpPr/>
            <p:nvPr/>
          </p:nvSpPr>
          <p:spPr>
            <a:xfrm>
              <a:off x="0" y="0"/>
              <a:ext cx="9150600" cy="26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9"/>
            <p:cNvSpPr/>
            <p:nvPr/>
          </p:nvSpPr>
          <p:spPr>
            <a:xfrm>
              <a:off x="0" y="0"/>
              <a:ext cx="12618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9"/>
            <p:cNvSpPr/>
            <p:nvPr/>
          </p:nvSpPr>
          <p:spPr>
            <a:xfrm>
              <a:off x="1400175" y="0"/>
              <a:ext cx="2859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9"/>
            <p:cNvSpPr/>
            <p:nvPr/>
          </p:nvSpPr>
          <p:spPr>
            <a:xfrm>
              <a:off x="1824400" y="0"/>
              <a:ext cx="2859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9"/>
            <p:cNvSpPr/>
            <p:nvPr/>
          </p:nvSpPr>
          <p:spPr>
            <a:xfrm>
              <a:off x="2371725" y="0"/>
              <a:ext cx="1629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9"/>
            <p:cNvSpPr/>
            <p:nvPr/>
          </p:nvSpPr>
          <p:spPr>
            <a:xfrm>
              <a:off x="2796050" y="0"/>
              <a:ext cx="1629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9"/>
            <p:cNvSpPr/>
            <p:nvPr/>
          </p:nvSpPr>
          <p:spPr>
            <a:xfrm>
              <a:off x="3305175" y="0"/>
              <a:ext cx="780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9"/>
            <p:cNvSpPr/>
            <p:nvPr/>
          </p:nvSpPr>
          <p:spPr>
            <a:xfrm>
              <a:off x="3729400" y="0"/>
              <a:ext cx="780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"/>
          <p:cNvSpPr/>
          <p:nvPr/>
        </p:nvSpPr>
        <p:spPr>
          <a:xfrm>
            <a:off x="0" y="3885600"/>
            <a:ext cx="9144000" cy="125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40"/>
          <p:cNvSpPr/>
          <p:nvPr/>
        </p:nvSpPr>
        <p:spPr>
          <a:xfrm>
            <a:off x="0" y="3885600"/>
            <a:ext cx="1261800" cy="125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0"/>
          <p:cNvSpPr/>
          <p:nvPr/>
        </p:nvSpPr>
        <p:spPr>
          <a:xfrm>
            <a:off x="1261850" y="3882450"/>
            <a:ext cx="1261800" cy="1257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40"/>
          <p:cNvSpPr/>
          <p:nvPr/>
        </p:nvSpPr>
        <p:spPr>
          <a:xfrm>
            <a:off x="7882200" y="3885600"/>
            <a:ext cx="1261800" cy="125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400" y="445025"/>
            <a:ext cx="771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●"/>
              <a:defRPr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○"/>
              <a:defRPr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■"/>
              <a:defRPr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●"/>
              <a:defRPr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○"/>
              <a:defRPr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■"/>
              <a:defRPr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●"/>
              <a:defRPr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○"/>
              <a:defRPr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■"/>
              <a:defRPr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6" r:id="rId2"/>
    <p:sldLayoutId id="2147483657" r:id="rId3"/>
    <p:sldLayoutId id="2147483658" r:id="rId4"/>
    <p:sldLayoutId id="2147483659" r:id="rId5"/>
    <p:sldLayoutId id="2147483685" r:id="rId6"/>
    <p:sldLayoutId id="214748368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3"/>
          <p:cNvSpPr/>
          <p:nvPr/>
        </p:nvSpPr>
        <p:spPr>
          <a:xfrm>
            <a:off x="7701121" y="1152850"/>
            <a:ext cx="938700" cy="938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43"/>
          <p:cNvSpPr/>
          <p:nvPr/>
        </p:nvSpPr>
        <p:spPr>
          <a:xfrm>
            <a:off x="8640050" y="1152850"/>
            <a:ext cx="938700" cy="938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43"/>
          <p:cNvSpPr txBox="1">
            <a:spLocks noGrp="1"/>
          </p:cNvSpPr>
          <p:nvPr>
            <p:ph type="ctrTitle"/>
          </p:nvPr>
        </p:nvSpPr>
        <p:spPr>
          <a:xfrm>
            <a:off x="270604" y="646659"/>
            <a:ext cx="5084594" cy="19250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Graph and BFS</a:t>
            </a:r>
            <a:endParaRPr dirty="0"/>
          </a:p>
        </p:txBody>
      </p:sp>
      <p:sp>
        <p:nvSpPr>
          <p:cNvPr id="364" name="Google Shape;364;p43"/>
          <p:cNvSpPr txBox="1">
            <a:spLocks noGrp="1"/>
          </p:cNvSpPr>
          <p:nvPr>
            <p:ph type="subTitle" idx="1"/>
          </p:nvPr>
        </p:nvSpPr>
        <p:spPr>
          <a:xfrm>
            <a:off x="102561" y="3025469"/>
            <a:ext cx="2793038" cy="715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b="1" i="1" u="sng" dirty="0"/>
              <a:t>Submitted By</a:t>
            </a:r>
          </a:p>
          <a:p>
            <a:pPr marL="0" lvl="0" indent="0"/>
            <a:r>
              <a:rPr lang="en-US" sz="1200" b="1" dirty="0" err="1"/>
              <a:t>Khondokar</a:t>
            </a:r>
            <a:r>
              <a:rPr lang="en-US" sz="1200" b="1" dirty="0"/>
              <a:t> Saim          – 221902353</a:t>
            </a:r>
          </a:p>
          <a:p>
            <a:pPr marL="0" lvl="0" indent="0"/>
            <a:r>
              <a:rPr lang="en-US" sz="1200" b="1" dirty="0" err="1"/>
              <a:t>Ashiful</a:t>
            </a:r>
            <a:r>
              <a:rPr lang="en-US" sz="1200" b="1" dirty="0"/>
              <a:t> Haque Shihab – 221902329</a:t>
            </a:r>
          </a:p>
          <a:p>
            <a:pPr marL="0" lvl="0" indent="0"/>
            <a:endParaRPr lang="en-US" sz="1200" b="1" dirty="0"/>
          </a:p>
          <a:p>
            <a:pPr marL="0" lvl="0" indent="0"/>
            <a:endParaRPr lang="en-US" sz="1200" b="1" dirty="0"/>
          </a:p>
          <a:p>
            <a:pPr marL="0" lvl="0" indent="0"/>
            <a:endParaRPr lang="en-US" sz="12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/>
          </a:p>
        </p:txBody>
      </p:sp>
      <p:sp>
        <p:nvSpPr>
          <p:cNvPr id="366" name="Google Shape;366;p43"/>
          <p:cNvSpPr/>
          <p:nvPr/>
        </p:nvSpPr>
        <p:spPr>
          <a:xfrm>
            <a:off x="6762198" y="1152850"/>
            <a:ext cx="938700" cy="938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3"/>
          <p:cNvSpPr/>
          <p:nvPr/>
        </p:nvSpPr>
        <p:spPr>
          <a:xfrm>
            <a:off x="5823273" y="1152850"/>
            <a:ext cx="938700" cy="938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520" y="0"/>
            <a:ext cx="1028656" cy="998655"/>
          </a:xfrm>
          <a:prstGeom prst="rect">
            <a:avLst/>
          </a:prstGeom>
        </p:spPr>
      </p:pic>
      <p:sp>
        <p:nvSpPr>
          <p:cNvPr id="3" name="Google Shape;364;p43">
            <a:extLst>
              <a:ext uri="{FF2B5EF4-FFF2-40B4-BE49-F238E27FC236}">
                <a16:creationId xmlns:a16="http://schemas.microsoft.com/office/drawing/2014/main" id="{6E6B3A3F-0887-BFD3-49FB-D84A6A5A0D5B}"/>
              </a:ext>
            </a:extLst>
          </p:cNvPr>
          <p:cNvSpPr txBox="1">
            <a:spLocks/>
          </p:cNvSpPr>
          <p:nvPr/>
        </p:nvSpPr>
        <p:spPr>
          <a:xfrm>
            <a:off x="2895599" y="3051951"/>
            <a:ext cx="3060549" cy="990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  <a:defRPr sz="2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  <a:defRPr sz="2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  <a:defRPr sz="2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  <a:defRPr sz="2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  <a:defRPr sz="2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  <a:defRPr sz="2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  <a:defRPr sz="2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  <a:defRPr sz="2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  <a:defRPr sz="2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/>
            <a:r>
              <a:rPr lang="en-US" sz="1200" b="1" i="1" u="sng" dirty="0"/>
              <a:t>Submitted to</a:t>
            </a:r>
          </a:p>
          <a:p>
            <a:pPr marL="0" indent="0"/>
            <a:r>
              <a:rPr lang="en-US" sz="1200" b="1" dirty="0"/>
              <a:t>Md. Abu </a:t>
            </a:r>
            <a:r>
              <a:rPr lang="en-US" sz="1200" b="1" dirty="0" err="1"/>
              <a:t>Rumman</a:t>
            </a:r>
            <a:r>
              <a:rPr lang="en-US" sz="1200" b="1" dirty="0"/>
              <a:t> </a:t>
            </a:r>
            <a:r>
              <a:rPr lang="en-US" sz="1200" b="1" dirty="0" err="1"/>
              <a:t>Refat</a:t>
            </a:r>
            <a:endParaRPr lang="en-US" sz="1200" b="1" dirty="0"/>
          </a:p>
          <a:p>
            <a:pPr marL="0" indent="0"/>
            <a:r>
              <a:rPr lang="fr-FR" sz="1200" b="1" dirty="0" err="1"/>
              <a:t>Lecturer</a:t>
            </a:r>
            <a:endParaRPr lang="fr-FR" sz="1200" b="1" dirty="0"/>
          </a:p>
          <a:p>
            <a:pPr marL="0" indent="0"/>
            <a:r>
              <a:rPr lang="fr-FR" sz="1200" b="1" dirty="0"/>
              <a:t>Email - refat@cse.green.edu.bd</a:t>
            </a:r>
          </a:p>
          <a:p>
            <a:pPr marL="0" indent="0"/>
            <a:endParaRPr lang="en-US" sz="1200" b="1" dirty="0"/>
          </a:p>
          <a:p>
            <a:pPr marL="0" indent="0"/>
            <a:endParaRPr lang="en-US" sz="1200" b="1" dirty="0"/>
          </a:p>
          <a:p>
            <a:pPr marL="0" indent="0"/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"/>
          <p:cNvSpPr/>
          <p:nvPr/>
        </p:nvSpPr>
        <p:spPr>
          <a:xfrm>
            <a:off x="4318117" y="2196507"/>
            <a:ext cx="846600" cy="84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45"/>
          <p:cNvSpPr/>
          <p:nvPr/>
        </p:nvSpPr>
        <p:spPr>
          <a:xfrm>
            <a:off x="4318117" y="1216577"/>
            <a:ext cx="846600" cy="84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45"/>
          <p:cNvSpPr/>
          <p:nvPr/>
        </p:nvSpPr>
        <p:spPr>
          <a:xfrm>
            <a:off x="4352592" y="211619"/>
            <a:ext cx="812125" cy="8121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title"/>
          </p:nvPr>
        </p:nvSpPr>
        <p:spPr>
          <a:xfrm>
            <a:off x="713100" y="1698300"/>
            <a:ext cx="2962800" cy="17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82" name="Google Shape;382;p45"/>
          <p:cNvSpPr txBox="1">
            <a:spLocks noGrp="1"/>
          </p:cNvSpPr>
          <p:nvPr>
            <p:ph type="subTitle" idx="1"/>
          </p:nvPr>
        </p:nvSpPr>
        <p:spPr>
          <a:xfrm>
            <a:off x="5201016" y="84512"/>
            <a:ext cx="3892184" cy="7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What is GRAPH in Data Structured ?</a:t>
            </a:r>
          </a:p>
        </p:txBody>
      </p:sp>
      <p:sp>
        <p:nvSpPr>
          <p:cNvPr id="384" name="Google Shape;384;p45"/>
          <p:cNvSpPr txBox="1">
            <a:spLocks noGrp="1"/>
          </p:cNvSpPr>
          <p:nvPr>
            <p:ph type="title" idx="3"/>
          </p:nvPr>
        </p:nvSpPr>
        <p:spPr>
          <a:xfrm>
            <a:off x="4352617" y="416479"/>
            <a:ext cx="777600" cy="4524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85" name="Google Shape;385;p45"/>
          <p:cNvSpPr txBox="1">
            <a:spLocks noGrp="1"/>
          </p:cNvSpPr>
          <p:nvPr>
            <p:ph type="subTitle" idx="4"/>
          </p:nvPr>
        </p:nvSpPr>
        <p:spPr>
          <a:xfrm>
            <a:off x="5095717" y="2380581"/>
            <a:ext cx="2432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Anton" panose="020B0604020202020204" charset="0"/>
              </a:rPr>
              <a:t>Graph Representation</a:t>
            </a:r>
          </a:p>
        </p:txBody>
      </p:sp>
      <p:sp>
        <p:nvSpPr>
          <p:cNvPr id="388" name="Google Shape;388;p45"/>
          <p:cNvSpPr txBox="1">
            <a:spLocks noGrp="1"/>
          </p:cNvSpPr>
          <p:nvPr>
            <p:ph type="subTitle" idx="7"/>
          </p:nvPr>
        </p:nvSpPr>
        <p:spPr>
          <a:xfrm>
            <a:off x="5095716" y="1331033"/>
            <a:ext cx="3335183" cy="5033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Anton" panose="020B0604020202020204" charset="0"/>
              </a:rPr>
              <a:t>Graph Terminology</a:t>
            </a:r>
          </a:p>
        </p:txBody>
      </p:sp>
      <p:grpSp>
        <p:nvGrpSpPr>
          <p:cNvPr id="391" name="Google Shape;391;p45"/>
          <p:cNvGrpSpPr/>
          <p:nvPr/>
        </p:nvGrpSpPr>
        <p:grpSpPr>
          <a:xfrm>
            <a:off x="0" y="0"/>
            <a:ext cx="4127542" cy="5143500"/>
            <a:chOff x="0" y="0"/>
            <a:chExt cx="4127542" cy="5143500"/>
          </a:xfrm>
        </p:grpSpPr>
        <p:sp>
          <p:nvSpPr>
            <p:cNvPr id="392" name="Google Shape;392;p45"/>
            <p:cNvSpPr/>
            <p:nvPr/>
          </p:nvSpPr>
          <p:spPr>
            <a:xfrm rot="10800000">
              <a:off x="3381142" y="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5"/>
            <p:cNvSpPr/>
            <p:nvPr/>
          </p:nvSpPr>
          <p:spPr>
            <a:xfrm rot="10800000">
              <a:off x="2634658" y="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5"/>
            <p:cNvSpPr/>
            <p:nvPr/>
          </p:nvSpPr>
          <p:spPr>
            <a:xfrm rot="10800000">
              <a:off x="1888175" y="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5"/>
            <p:cNvSpPr/>
            <p:nvPr/>
          </p:nvSpPr>
          <p:spPr>
            <a:xfrm rot="10800000">
              <a:off x="2634650" y="322075"/>
              <a:ext cx="469800" cy="469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5"/>
            <p:cNvSpPr/>
            <p:nvPr/>
          </p:nvSpPr>
          <p:spPr>
            <a:xfrm>
              <a:off x="3381142" y="0"/>
              <a:ext cx="746400" cy="7464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5"/>
            <p:cNvSpPr/>
            <p:nvPr/>
          </p:nvSpPr>
          <p:spPr>
            <a:xfrm>
              <a:off x="0" y="439710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5"/>
            <p:cNvSpPr/>
            <p:nvPr/>
          </p:nvSpPr>
          <p:spPr>
            <a:xfrm>
              <a:off x="746483" y="439710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5"/>
            <p:cNvSpPr/>
            <p:nvPr/>
          </p:nvSpPr>
          <p:spPr>
            <a:xfrm>
              <a:off x="1492967" y="439710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5"/>
            <p:cNvSpPr/>
            <p:nvPr/>
          </p:nvSpPr>
          <p:spPr>
            <a:xfrm>
              <a:off x="1023092" y="4351625"/>
              <a:ext cx="469800" cy="469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5"/>
            <p:cNvSpPr/>
            <p:nvPr/>
          </p:nvSpPr>
          <p:spPr>
            <a:xfrm rot="10800000">
              <a:off x="0" y="4397100"/>
              <a:ext cx="746400" cy="746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378;p45"/>
          <p:cNvSpPr/>
          <p:nvPr/>
        </p:nvSpPr>
        <p:spPr>
          <a:xfrm>
            <a:off x="4318117" y="3198433"/>
            <a:ext cx="846600" cy="84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78;p45"/>
          <p:cNvSpPr/>
          <p:nvPr/>
        </p:nvSpPr>
        <p:spPr>
          <a:xfrm>
            <a:off x="4318117" y="4149639"/>
            <a:ext cx="846600" cy="84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84;p45"/>
          <p:cNvSpPr txBox="1">
            <a:spLocks noGrp="1"/>
          </p:cNvSpPr>
          <p:nvPr>
            <p:ph type="title" idx="3"/>
          </p:nvPr>
        </p:nvSpPr>
        <p:spPr>
          <a:xfrm>
            <a:off x="4352617" y="1400392"/>
            <a:ext cx="777600" cy="4524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3" name="Google Shape;384;p45"/>
          <p:cNvSpPr txBox="1">
            <a:spLocks noGrp="1"/>
          </p:cNvSpPr>
          <p:nvPr>
            <p:ph type="title" idx="3"/>
          </p:nvPr>
        </p:nvSpPr>
        <p:spPr>
          <a:xfrm>
            <a:off x="4352617" y="2403347"/>
            <a:ext cx="777600" cy="4524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34" name="Google Shape;384;p45"/>
          <p:cNvSpPr txBox="1">
            <a:spLocks noGrp="1"/>
          </p:cNvSpPr>
          <p:nvPr>
            <p:ph type="title" idx="3"/>
          </p:nvPr>
        </p:nvSpPr>
        <p:spPr>
          <a:xfrm>
            <a:off x="4352617" y="3402502"/>
            <a:ext cx="777600" cy="4524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35" name="Google Shape;384;p45"/>
          <p:cNvSpPr txBox="1">
            <a:spLocks noGrp="1"/>
          </p:cNvSpPr>
          <p:nvPr>
            <p:ph type="title" idx="3"/>
          </p:nvPr>
        </p:nvSpPr>
        <p:spPr>
          <a:xfrm>
            <a:off x="4352617" y="4364891"/>
            <a:ext cx="777600" cy="4524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</a:t>
            </a:r>
            <a:endParaRPr dirty="0"/>
          </a:p>
        </p:txBody>
      </p:sp>
      <p:sp>
        <p:nvSpPr>
          <p:cNvPr id="4" name="Google Shape;388;p45">
            <a:extLst>
              <a:ext uri="{FF2B5EF4-FFF2-40B4-BE49-F238E27FC236}">
                <a16:creationId xmlns:a16="http://schemas.microsoft.com/office/drawing/2014/main" id="{01DEF864-D095-3C91-1FC5-6F821D283A6E}"/>
              </a:ext>
            </a:extLst>
          </p:cNvPr>
          <p:cNvSpPr txBox="1">
            <a:spLocks/>
          </p:cNvSpPr>
          <p:nvPr/>
        </p:nvSpPr>
        <p:spPr>
          <a:xfrm>
            <a:off x="5095716" y="3385017"/>
            <a:ext cx="4175284" cy="50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N" dirty="0">
                <a:solidFill>
                  <a:schemeClr val="tx1"/>
                </a:solidFill>
                <a:latin typeface="Anton" panose="020B0604020202020204" charset="0"/>
              </a:rPr>
              <a:t>Applications of Graphs in Data Structure</a:t>
            </a:r>
          </a:p>
        </p:txBody>
      </p:sp>
      <p:sp>
        <p:nvSpPr>
          <p:cNvPr id="7" name="Google Shape;385;p45">
            <a:extLst>
              <a:ext uri="{FF2B5EF4-FFF2-40B4-BE49-F238E27FC236}">
                <a16:creationId xmlns:a16="http://schemas.microsoft.com/office/drawing/2014/main" id="{DA96C5B9-64AE-9205-04D5-A20A0F0C7F0C}"/>
              </a:ext>
            </a:extLst>
          </p:cNvPr>
          <p:cNvSpPr txBox="1">
            <a:spLocks/>
          </p:cNvSpPr>
          <p:nvPr/>
        </p:nvSpPr>
        <p:spPr>
          <a:xfrm>
            <a:off x="5095717" y="4346718"/>
            <a:ext cx="2432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  <a:defRPr sz="1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nton" panose="020B0604020202020204" charset="0"/>
              </a:rPr>
              <a:t>BFS - Graph Traversal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       </a:t>
              </a:r>
            </a:p>
          </p:txBody>
        </p:sp>
      </p:grpSp>
      <p:sp>
        <p:nvSpPr>
          <p:cNvPr id="8" name="Google Shape;478;p49"/>
          <p:cNvSpPr txBox="1">
            <a:spLocks/>
          </p:cNvSpPr>
          <p:nvPr/>
        </p:nvSpPr>
        <p:spPr>
          <a:xfrm>
            <a:off x="68093" y="116157"/>
            <a:ext cx="5621507" cy="10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>
                <a:solidFill>
                  <a:schemeClr val="accent1">
                    <a:lumMod val="25000"/>
                  </a:schemeClr>
                </a:solidFill>
                <a:latin typeface="Anton" panose="020B0604020202020204" charset="0"/>
              </a:rPr>
              <a:t>What is GRAPH in Data </a:t>
            </a:r>
          </a:p>
          <a:p>
            <a:r>
              <a:rPr lang="en-US" sz="2800" dirty="0">
                <a:solidFill>
                  <a:schemeClr val="accent1">
                    <a:lumMod val="25000"/>
                  </a:schemeClr>
                </a:solidFill>
                <a:latin typeface="Anton" panose="020B0604020202020204" charset="0"/>
              </a:rPr>
              <a:t>Structured 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930153-A868-CECF-C9BE-0074C0A661ED}"/>
              </a:ext>
            </a:extLst>
          </p:cNvPr>
          <p:cNvGrpSpPr/>
          <p:nvPr/>
        </p:nvGrpSpPr>
        <p:grpSpPr>
          <a:xfrm>
            <a:off x="68093" y="1355477"/>
            <a:ext cx="4883286" cy="2547409"/>
            <a:chOff x="68093" y="1355477"/>
            <a:chExt cx="4883286" cy="2547409"/>
          </a:xfrm>
        </p:grpSpPr>
        <p:sp>
          <p:nvSpPr>
            <p:cNvPr id="9" name="Google Shape;477;p49"/>
            <p:cNvSpPr txBox="1">
              <a:spLocks/>
            </p:cNvSpPr>
            <p:nvPr/>
          </p:nvSpPr>
          <p:spPr>
            <a:xfrm>
              <a:off x="68094" y="1355477"/>
              <a:ext cx="4689609" cy="114127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just"/>
              <a:r>
                <a:rPr lang="en-IN" sz="1600" b="0" i="0" dirty="0">
                  <a:solidFill>
                    <a:srgbClr val="252525"/>
                  </a:solidFill>
                  <a:effectLst/>
                  <a:latin typeface="Chivo" panose="020B0604020202020204" charset="0"/>
                </a:rPr>
                <a:t>In computer science, a graph is a non-linear data structure  that consists of a finite set of vertices (also called nodes) and a set of edges connecting these vertices.</a:t>
              </a:r>
              <a:endParaRPr lang="en-US" sz="1600" dirty="0">
                <a:latin typeface="Chivo" panose="020B0604020202020204" charset="0"/>
              </a:endParaRPr>
            </a:p>
          </p:txBody>
        </p:sp>
        <p:sp>
          <p:nvSpPr>
            <p:cNvPr id="17" name="Google Shape;477;p49">
              <a:extLst>
                <a:ext uri="{FF2B5EF4-FFF2-40B4-BE49-F238E27FC236}">
                  <a16:creationId xmlns:a16="http://schemas.microsoft.com/office/drawing/2014/main" id="{74568C6E-42ED-8E73-C159-3485C84747C1}"/>
                </a:ext>
              </a:extLst>
            </p:cNvPr>
            <p:cNvSpPr txBox="1">
              <a:spLocks/>
            </p:cNvSpPr>
            <p:nvPr/>
          </p:nvSpPr>
          <p:spPr>
            <a:xfrm>
              <a:off x="68093" y="2496749"/>
              <a:ext cx="4815191" cy="8128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just"/>
              <a:r>
                <a:rPr lang="en-IN" sz="1600" b="0" i="0" dirty="0">
                  <a:solidFill>
                    <a:srgbClr val="252525"/>
                  </a:solidFill>
                  <a:effectLst/>
                  <a:latin typeface="Chivo" panose="020B0604020202020204" charset="0"/>
                </a:rPr>
                <a:t>There are 2 types of graphs:- </a:t>
              </a:r>
              <a:endParaRPr lang="en-US" sz="1600" dirty="0">
                <a:latin typeface="Chivo" panose="020B0604020202020204" charset="0"/>
              </a:endParaRPr>
            </a:p>
          </p:txBody>
        </p:sp>
        <p:sp>
          <p:nvSpPr>
            <p:cNvPr id="18" name="Google Shape;477;p49">
              <a:extLst>
                <a:ext uri="{FF2B5EF4-FFF2-40B4-BE49-F238E27FC236}">
                  <a16:creationId xmlns:a16="http://schemas.microsoft.com/office/drawing/2014/main" id="{EE180E4C-1669-4918-A610-08EDD5212E88}"/>
                </a:ext>
              </a:extLst>
            </p:cNvPr>
            <p:cNvSpPr txBox="1">
              <a:spLocks/>
            </p:cNvSpPr>
            <p:nvPr/>
          </p:nvSpPr>
          <p:spPr>
            <a:xfrm>
              <a:off x="68093" y="2934335"/>
              <a:ext cx="4883286" cy="968551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b="0" i="0" dirty="0">
                  <a:solidFill>
                    <a:srgbClr val="252525"/>
                  </a:solidFill>
                  <a:effectLst/>
                  <a:latin typeface="Chivo" panose="020B0604020202020204" charset="0"/>
                </a:rPr>
                <a:t>Directed Graph.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b="0" i="0" dirty="0">
                  <a:solidFill>
                    <a:srgbClr val="252525"/>
                  </a:solidFill>
                  <a:effectLst/>
                  <a:latin typeface="Chivo" panose="020B0604020202020204" charset="0"/>
                </a:rPr>
                <a:t>Undirected Graph.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1CA9A6F6-8BAA-6543-6C07-1B88C5F82687}"/>
              </a:ext>
            </a:extLst>
          </p:cNvPr>
          <p:cNvSpPr txBox="1"/>
          <p:nvPr/>
        </p:nvSpPr>
        <p:spPr>
          <a:xfrm>
            <a:off x="6328113" y="1920695"/>
            <a:ext cx="1851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4E3E27"/>
                </a:solidFill>
                <a:latin typeface="Chivo" panose="020B0604020202020204" charset="0"/>
              </a:rPr>
              <a:t>Fig : Directed Graph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7CB5D9-EBFB-A21E-E17F-8121FC0D4980}"/>
              </a:ext>
            </a:extLst>
          </p:cNvPr>
          <p:cNvGrpSpPr/>
          <p:nvPr/>
        </p:nvGrpSpPr>
        <p:grpSpPr>
          <a:xfrm>
            <a:off x="5675834" y="218462"/>
            <a:ext cx="2743709" cy="1655534"/>
            <a:chOff x="5137766" y="656469"/>
            <a:chExt cx="2716478" cy="163910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582285F-F736-3260-DBB4-A3C2085447A2}"/>
                </a:ext>
              </a:extLst>
            </p:cNvPr>
            <p:cNvSpPr/>
            <p:nvPr/>
          </p:nvSpPr>
          <p:spPr>
            <a:xfrm>
              <a:off x="6059311" y="656469"/>
              <a:ext cx="417689" cy="41768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A329C5B-5072-FB49-23A7-EFFDD5F53CF6}"/>
                </a:ext>
              </a:extLst>
            </p:cNvPr>
            <p:cNvSpPr/>
            <p:nvPr/>
          </p:nvSpPr>
          <p:spPr>
            <a:xfrm>
              <a:off x="7436555" y="846824"/>
              <a:ext cx="417689" cy="41768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EDB0AC0-B43A-7F85-983B-F32A4A5319EE}"/>
                </a:ext>
              </a:extLst>
            </p:cNvPr>
            <p:cNvSpPr/>
            <p:nvPr/>
          </p:nvSpPr>
          <p:spPr>
            <a:xfrm>
              <a:off x="5974644" y="1877882"/>
              <a:ext cx="417689" cy="41768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9A56C43-94B6-3ECD-6FCE-3831AF5D5CB3}"/>
                </a:ext>
              </a:extLst>
            </p:cNvPr>
            <p:cNvSpPr/>
            <p:nvPr/>
          </p:nvSpPr>
          <p:spPr>
            <a:xfrm>
              <a:off x="7366179" y="1877881"/>
              <a:ext cx="417689" cy="41768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D981411-48AD-26C0-CAC8-A79B8B7A2FE2}"/>
                </a:ext>
              </a:extLst>
            </p:cNvPr>
            <p:cNvSpPr/>
            <p:nvPr/>
          </p:nvSpPr>
          <p:spPr>
            <a:xfrm>
              <a:off x="5137766" y="1262793"/>
              <a:ext cx="417689" cy="41768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6977EA-82BD-7D0D-ACB0-8EF70C5DC76E}"/>
              </a:ext>
            </a:extLst>
          </p:cNvPr>
          <p:cNvCxnSpPr>
            <a:cxnSpLocks/>
            <a:stCxn id="24" idx="7"/>
            <a:endCxn id="20" idx="2"/>
          </p:cNvCxnSpPr>
          <p:nvPr/>
        </p:nvCxnSpPr>
        <p:spPr>
          <a:xfrm flipV="1">
            <a:off x="6035928" y="429400"/>
            <a:ext cx="570689" cy="4632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29073D-E32C-613E-EABD-B03CD7EB4B8B}"/>
              </a:ext>
            </a:extLst>
          </p:cNvPr>
          <p:cNvCxnSpPr>
            <a:cxnSpLocks/>
            <a:stCxn id="20" idx="4"/>
            <a:endCxn id="22" idx="0"/>
          </p:cNvCxnSpPr>
          <p:nvPr/>
        </p:nvCxnSpPr>
        <p:spPr>
          <a:xfrm flipH="1">
            <a:off x="6732039" y="640338"/>
            <a:ext cx="85516" cy="8117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96359DF-994A-0F41-7E7C-85B777F58886}"/>
              </a:ext>
            </a:extLst>
          </p:cNvPr>
          <p:cNvCxnSpPr>
            <a:cxnSpLocks/>
            <a:stCxn id="22" idx="2"/>
            <a:endCxn id="24" idx="5"/>
          </p:cNvCxnSpPr>
          <p:nvPr/>
        </p:nvCxnSpPr>
        <p:spPr>
          <a:xfrm flipH="1" flipV="1">
            <a:off x="6035928" y="1190958"/>
            <a:ext cx="485173" cy="4721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A5860A6-A691-431E-BD7E-B3831DF09BDE}"/>
              </a:ext>
            </a:extLst>
          </p:cNvPr>
          <p:cNvCxnSpPr>
            <a:cxnSpLocks/>
            <a:stCxn id="20" idx="6"/>
            <a:endCxn id="21" idx="1"/>
          </p:cNvCxnSpPr>
          <p:nvPr/>
        </p:nvCxnSpPr>
        <p:spPr>
          <a:xfrm>
            <a:off x="7028493" y="429400"/>
            <a:ext cx="1030956" cy="43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9AA3622-DF0C-03C3-F72C-BA75E3A56BB9}"/>
              </a:ext>
            </a:extLst>
          </p:cNvPr>
          <p:cNvCxnSpPr>
            <a:cxnSpLocks/>
            <a:stCxn id="23" idx="0"/>
            <a:endCxn id="21" idx="4"/>
          </p:cNvCxnSpPr>
          <p:nvPr/>
        </p:nvCxnSpPr>
        <p:spPr>
          <a:xfrm flipV="1">
            <a:off x="8137523" y="832601"/>
            <a:ext cx="71082" cy="6195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6CE0EC-FC54-33E9-33E8-B7DA7C9D834B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 flipV="1">
            <a:off x="6942977" y="1663057"/>
            <a:ext cx="983608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90BE644-9C86-0761-F638-F1D5A3E8DC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>
          <a:xfrm flipH="1" flipV="1">
            <a:off x="6966711" y="578556"/>
            <a:ext cx="1021656" cy="9353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1D44B84-3F7B-2AE5-08AC-57CE410F5313}"/>
              </a:ext>
            </a:extLst>
          </p:cNvPr>
          <p:cNvGrpSpPr/>
          <p:nvPr/>
        </p:nvGrpSpPr>
        <p:grpSpPr>
          <a:xfrm rot="1617520">
            <a:off x="5949751" y="2383185"/>
            <a:ext cx="2038616" cy="2236178"/>
            <a:chOff x="2041085" y="371487"/>
            <a:chExt cx="1876830" cy="193093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45C2216-7E79-269D-6407-CD76164BC8CB}"/>
                </a:ext>
              </a:extLst>
            </p:cNvPr>
            <p:cNvSpPr/>
            <p:nvPr/>
          </p:nvSpPr>
          <p:spPr>
            <a:xfrm>
              <a:off x="2732577" y="679903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7FF1D01-940E-6134-8091-5B775C037BB6}"/>
                </a:ext>
              </a:extLst>
            </p:cNvPr>
            <p:cNvSpPr/>
            <p:nvPr/>
          </p:nvSpPr>
          <p:spPr>
            <a:xfrm>
              <a:off x="3607715" y="371487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9307BEE-6A6B-59AC-4109-874A967803DD}"/>
                </a:ext>
              </a:extLst>
            </p:cNvPr>
            <p:cNvSpPr/>
            <p:nvPr/>
          </p:nvSpPr>
          <p:spPr>
            <a:xfrm>
              <a:off x="2825918" y="1992222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7949A28-3199-56B1-4965-46D9BBFC318E}"/>
                </a:ext>
              </a:extLst>
            </p:cNvPr>
            <p:cNvSpPr/>
            <p:nvPr/>
          </p:nvSpPr>
          <p:spPr>
            <a:xfrm>
              <a:off x="3607715" y="1318257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21D2567-B659-F84A-0E0F-628CE8C21EC0}"/>
                </a:ext>
              </a:extLst>
            </p:cNvPr>
            <p:cNvSpPr/>
            <p:nvPr/>
          </p:nvSpPr>
          <p:spPr>
            <a:xfrm>
              <a:off x="2041085" y="1318257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2062D97-AE37-D51B-9081-0C7C310E89FF}"/>
                </a:ext>
              </a:extLst>
            </p:cNvPr>
            <p:cNvCxnSpPr>
              <a:cxnSpLocks/>
              <a:stCxn id="47" idx="7"/>
              <a:endCxn id="43" idx="3"/>
            </p:cNvCxnSpPr>
            <p:nvPr/>
          </p:nvCxnSpPr>
          <p:spPr>
            <a:xfrm flipV="1">
              <a:off x="2305857" y="944675"/>
              <a:ext cx="472148" cy="41901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09E4508-4620-95A2-1886-9E53390E4BB1}"/>
                </a:ext>
              </a:extLst>
            </p:cNvPr>
            <p:cNvCxnSpPr>
              <a:cxnSpLocks/>
              <a:stCxn id="45" idx="7"/>
              <a:endCxn id="46" idx="3"/>
            </p:cNvCxnSpPr>
            <p:nvPr/>
          </p:nvCxnSpPr>
          <p:spPr>
            <a:xfrm flipV="1">
              <a:off x="3090690" y="1583029"/>
              <a:ext cx="562453" cy="45462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9759616-0689-D2A6-3670-E334DFA58726}"/>
                </a:ext>
              </a:extLst>
            </p:cNvPr>
            <p:cNvCxnSpPr>
              <a:cxnSpLocks/>
              <a:stCxn id="45" idx="1"/>
              <a:endCxn id="47" idx="5"/>
            </p:cNvCxnSpPr>
            <p:nvPr/>
          </p:nvCxnSpPr>
          <p:spPr>
            <a:xfrm flipH="1" flipV="1">
              <a:off x="2305857" y="1583029"/>
              <a:ext cx="565489" cy="45462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6EFC600-FFC6-9884-9D22-A82792FF858A}"/>
                </a:ext>
              </a:extLst>
            </p:cNvPr>
            <p:cNvCxnSpPr>
              <a:cxnSpLocks/>
              <a:stCxn id="46" idx="1"/>
              <a:endCxn id="43" idx="5"/>
            </p:cNvCxnSpPr>
            <p:nvPr/>
          </p:nvCxnSpPr>
          <p:spPr>
            <a:xfrm flipH="1" flipV="1">
              <a:off x="2997349" y="944675"/>
              <a:ext cx="655794" cy="41901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B1388CD-AE00-1003-0616-6A96A61E1B39}"/>
                </a:ext>
              </a:extLst>
            </p:cNvPr>
            <p:cNvCxnSpPr>
              <a:cxnSpLocks/>
              <a:endCxn id="44" idx="2"/>
            </p:cNvCxnSpPr>
            <p:nvPr/>
          </p:nvCxnSpPr>
          <p:spPr>
            <a:xfrm flipV="1">
              <a:off x="3033252" y="526587"/>
              <a:ext cx="574463" cy="24251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3E7014E-ACBA-7F27-42C6-C9FE89D37C83}"/>
                </a:ext>
              </a:extLst>
            </p:cNvPr>
            <p:cNvCxnSpPr>
              <a:cxnSpLocks/>
              <a:stCxn id="46" idx="0"/>
              <a:endCxn id="44" idx="4"/>
            </p:cNvCxnSpPr>
            <p:nvPr/>
          </p:nvCxnSpPr>
          <p:spPr>
            <a:xfrm flipV="1">
              <a:off x="3762815" y="681687"/>
              <a:ext cx="0" cy="63657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83E58434-99D4-822A-8DA8-43909C010F65}"/>
              </a:ext>
            </a:extLst>
          </p:cNvPr>
          <p:cNvSpPr txBox="1"/>
          <p:nvPr/>
        </p:nvSpPr>
        <p:spPr>
          <a:xfrm>
            <a:off x="6302825" y="4626622"/>
            <a:ext cx="20617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4E3E27"/>
                </a:solidFill>
                <a:latin typeface="Chivo" panose="020B0604020202020204" charset="0"/>
              </a:rPr>
              <a:t>Fig : Undirected Graph</a:t>
            </a:r>
          </a:p>
        </p:txBody>
      </p:sp>
    </p:spTree>
    <p:extLst>
      <p:ext uri="{BB962C8B-B14F-4D97-AF65-F5344CB8AC3E}">
        <p14:creationId xmlns:p14="http://schemas.microsoft.com/office/powerpoint/2010/main" val="105930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       </a:t>
              </a:r>
            </a:p>
          </p:txBody>
        </p:sp>
      </p:grpSp>
      <p:sp>
        <p:nvSpPr>
          <p:cNvPr id="8" name="Google Shape;478;p49"/>
          <p:cNvSpPr txBox="1">
            <a:spLocks/>
          </p:cNvSpPr>
          <p:nvPr/>
        </p:nvSpPr>
        <p:spPr>
          <a:xfrm>
            <a:off x="0" y="106737"/>
            <a:ext cx="5306232" cy="556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800" i="0" dirty="0">
                <a:solidFill>
                  <a:srgbClr val="4E3E27"/>
                </a:solidFill>
                <a:effectLst/>
                <a:latin typeface="Anton" pitchFamily="2" charset="0"/>
              </a:rPr>
              <a:t>Graph Terminology</a:t>
            </a:r>
          </a:p>
        </p:txBody>
      </p:sp>
      <p:sp>
        <p:nvSpPr>
          <p:cNvPr id="5" name="Google Shape;477;p49">
            <a:extLst>
              <a:ext uri="{FF2B5EF4-FFF2-40B4-BE49-F238E27FC236}">
                <a16:creationId xmlns:a16="http://schemas.microsoft.com/office/drawing/2014/main" id="{80BCA0C9-B54E-4F3E-4AAC-8117D665E9DB}"/>
              </a:ext>
            </a:extLst>
          </p:cNvPr>
          <p:cNvSpPr txBox="1">
            <a:spLocks/>
          </p:cNvSpPr>
          <p:nvPr/>
        </p:nvSpPr>
        <p:spPr>
          <a:xfrm>
            <a:off x="328888" y="1729610"/>
            <a:ext cx="3290889" cy="2794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Chivo" panose="020B0604020202020204" charset="0"/>
              </a:rPr>
              <a:t>Node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Chivo" panose="020B0604020202020204" charset="0"/>
              </a:rPr>
              <a:t>Adjacent Nodes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Chivo" panose="020B0604020202020204" charset="0"/>
              </a:rPr>
              <a:t>Directed Edge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Chivo" panose="020B0604020202020204" charset="0"/>
              </a:rPr>
              <a:t>Undirected Edge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Chivo" panose="020B0604020202020204" charset="0"/>
              </a:rPr>
              <a:t>Multiple Edge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Chivo" panose="020B0604020202020204" charset="0"/>
              </a:rPr>
              <a:t>Weight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Chivo" panose="020B0604020202020204" charset="0"/>
              </a:rPr>
              <a:t>Loop</a:t>
            </a:r>
            <a:endParaRPr lang="en-IN" sz="1600" b="0" i="0" dirty="0">
              <a:solidFill>
                <a:schemeClr val="tx1"/>
              </a:solidFill>
              <a:effectLst/>
              <a:latin typeface="Chivo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Chivo" panose="020B0604020202020204" charset="0"/>
              </a:rPr>
              <a:t>Path</a:t>
            </a:r>
            <a:endParaRPr lang="en-IN" sz="1600" b="0" i="0" dirty="0">
              <a:solidFill>
                <a:schemeClr val="tx1"/>
              </a:solidFill>
              <a:effectLst/>
              <a:latin typeface="Chivo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Chivo" panose="020B0604020202020204" charset="0"/>
              </a:rPr>
              <a:t>Circular Graph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b="0" i="0" dirty="0">
              <a:solidFill>
                <a:schemeClr val="tx1"/>
              </a:solidFill>
              <a:effectLst/>
              <a:latin typeface="Chivo" panose="020B0604020202020204" charset="0"/>
            </a:endParaRPr>
          </a:p>
        </p:txBody>
      </p:sp>
      <p:sp>
        <p:nvSpPr>
          <p:cNvPr id="2" name="Google Shape;477;p49">
            <a:extLst>
              <a:ext uri="{FF2B5EF4-FFF2-40B4-BE49-F238E27FC236}">
                <a16:creationId xmlns:a16="http://schemas.microsoft.com/office/drawing/2014/main" id="{6AFEBC37-FECA-256E-4948-4CBD653C586E}"/>
              </a:ext>
            </a:extLst>
          </p:cNvPr>
          <p:cNvSpPr txBox="1">
            <a:spLocks/>
          </p:cNvSpPr>
          <p:nvPr/>
        </p:nvSpPr>
        <p:spPr>
          <a:xfrm>
            <a:off x="91680" y="753016"/>
            <a:ext cx="4883285" cy="942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1600" dirty="0">
              <a:solidFill>
                <a:schemeClr val="tx1"/>
              </a:solidFill>
              <a:latin typeface="Chivo" panose="020B0604020202020204" charset="0"/>
            </a:endParaRPr>
          </a:p>
        </p:txBody>
      </p:sp>
      <p:sp>
        <p:nvSpPr>
          <p:cNvPr id="7" name="Google Shape;477;p49">
            <a:extLst>
              <a:ext uri="{FF2B5EF4-FFF2-40B4-BE49-F238E27FC236}">
                <a16:creationId xmlns:a16="http://schemas.microsoft.com/office/drawing/2014/main" id="{57DBDA9C-F086-CBE3-323E-93694A7FDCE1}"/>
              </a:ext>
            </a:extLst>
          </p:cNvPr>
          <p:cNvSpPr txBox="1">
            <a:spLocks/>
          </p:cNvSpPr>
          <p:nvPr/>
        </p:nvSpPr>
        <p:spPr>
          <a:xfrm>
            <a:off x="34757" y="782895"/>
            <a:ext cx="4716802" cy="860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1600" b="0" i="0" dirty="0">
                <a:solidFill>
                  <a:schemeClr val="tx1"/>
                </a:solidFill>
                <a:effectLst/>
                <a:latin typeface="Chivo" panose="020B0604020202020204" charset="0"/>
              </a:rPr>
              <a:t>There are several key terms and concepts used in the study of graphs in computer science:</a:t>
            </a:r>
          </a:p>
          <a:p>
            <a:pPr algn="just"/>
            <a:endParaRPr lang="en-IN" sz="1600" b="0" i="0" dirty="0">
              <a:solidFill>
                <a:schemeClr val="tx1"/>
              </a:solidFill>
              <a:effectLst/>
              <a:latin typeface="Chivo" panose="020B0604020202020204" charset="0"/>
            </a:endParaRP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F167604-277A-B14B-1687-D8E4C692B420}"/>
              </a:ext>
            </a:extLst>
          </p:cNvPr>
          <p:cNvGrpSpPr/>
          <p:nvPr/>
        </p:nvGrpSpPr>
        <p:grpSpPr>
          <a:xfrm>
            <a:off x="5217222" y="1941371"/>
            <a:ext cx="3526641" cy="2269634"/>
            <a:chOff x="2481223" y="886253"/>
            <a:chExt cx="3526641" cy="2269634"/>
          </a:xfrm>
        </p:grpSpPr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C7C6EC01-EB20-2A50-AB51-01E6D3812C6F}"/>
                </a:ext>
              </a:extLst>
            </p:cNvPr>
            <p:cNvCxnSpPr>
              <a:cxnSpLocks/>
              <a:stCxn id="188" idx="1"/>
              <a:endCxn id="185" idx="5"/>
            </p:cNvCxnSpPr>
            <p:nvPr/>
          </p:nvCxnSpPr>
          <p:spPr>
            <a:xfrm flipH="1" flipV="1">
              <a:off x="3651434" y="1193771"/>
              <a:ext cx="655794" cy="7830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036702AE-57E2-887F-62A4-F87CF746D3E8}"/>
                </a:ext>
              </a:extLst>
            </p:cNvPr>
            <p:cNvSpPr/>
            <p:nvPr/>
          </p:nvSpPr>
          <p:spPr>
            <a:xfrm>
              <a:off x="3386662" y="928999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39047D8E-4519-59E4-67C5-FCD2B3756554}"/>
                </a:ext>
              </a:extLst>
            </p:cNvPr>
            <p:cNvSpPr/>
            <p:nvPr/>
          </p:nvSpPr>
          <p:spPr>
            <a:xfrm>
              <a:off x="5093121" y="2845687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1A8F210F-5A17-0A8D-A12D-F9EAABAFB1F4}"/>
                </a:ext>
              </a:extLst>
            </p:cNvPr>
            <p:cNvSpPr/>
            <p:nvPr/>
          </p:nvSpPr>
          <p:spPr>
            <a:xfrm>
              <a:off x="3430481" y="2690587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7FA1A88B-3911-95CD-164D-6070E072D535}"/>
                </a:ext>
              </a:extLst>
            </p:cNvPr>
            <p:cNvSpPr/>
            <p:nvPr/>
          </p:nvSpPr>
          <p:spPr>
            <a:xfrm>
              <a:off x="4261800" y="1931392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23121CFA-79A5-4B34-7BE3-20E2E01F6B71}"/>
                </a:ext>
              </a:extLst>
            </p:cNvPr>
            <p:cNvSpPr/>
            <p:nvPr/>
          </p:nvSpPr>
          <p:spPr>
            <a:xfrm>
              <a:off x="2481223" y="1821720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3F538F75-91B2-8716-DC09-C82D075ED91D}"/>
                </a:ext>
              </a:extLst>
            </p:cNvPr>
            <p:cNvCxnSpPr>
              <a:cxnSpLocks/>
              <a:stCxn id="189" idx="7"/>
              <a:endCxn id="185" idx="3"/>
            </p:cNvCxnSpPr>
            <p:nvPr/>
          </p:nvCxnSpPr>
          <p:spPr>
            <a:xfrm flipV="1">
              <a:off x="2745995" y="1193771"/>
              <a:ext cx="686095" cy="67337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861084D-0618-BFB6-28DC-EB5ECF636745}"/>
                </a:ext>
              </a:extLst>
            </p:cNvPr>
            <p:cNvSpPr/>
            <p:nvPr/>
          </p:nvSpPr>
          <p:spPr>
            <a:xfrm>
              <a:off x="4559811" y="927744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4DB3F19C-8814-9810-0C7C-A399ECE5B67B}"/>
                </a:ext>
              </a:extLst>
            </p:cNvPr>
            <p:cNvSpPr/>
            <p:nvPr/>
          </p:nvSpPr>
          <p:spPr>
            <a:xfrm>
              <a:off x="5645446" y="1175929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ECCBE1C2-A3DE-5AE1-6E22-A0D480429273}"/>
                </a:ext>
              </a:extLst>
            </p:cNvPr>
            <p:cNvSpPr/>
            <p:nvPr/>
          </p:nvSpPr>
          <p:spPr>
            <a:xfrm>
              <a:off x="5650939" y="1931392"/>
              <a:ext cx="310200" cy="31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894F3347-092D-2C85-EAA0-C6CB453FCE59}"/>
                </a:ext>
              </a:extLst>
            </p:cNvPr>
            <p:cNvCxnSpPr>
              <a:cxnSpLocks/>
              <a:stCxn id="193" idx="2"/>
              <a:endCxn id="188" idx="6"/>
            </p:cNvCxnSpPr>
            <p:nvPr/>
          </p:nvCxnSpPr>
          <p:spPr>
            <a:xfrm flipH="1">
              <a:off x="4572000" y="2086492"/>
              <a:ext cx="107893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C008839A-F6B2-B8C1-5A42-47A88C64C308}"/>
                </a:ext>
              </a:extLst>
            </p:cNvPr>
            <p:cNvCxnSpPr>
              <a:cxnSpLocks/>
              <a:stCxn id="187" idx="1"/>
              <a:endCxn id="189" idx="5"/>
            </p:cNvCxnSpPr>
            <p:nvPr/>
          </p:nvCxnSpPr>
          <p:spPr>
            <a:xfrm flipH="1" flipV="1">
              <a:off x="2745995" y="2086492"/>
              <a:ext cx="729914" cy="6495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367C7F45-7B82-AE50-6D4A-CBF43E51B6DA}"/>
                </a:ext>
              </a:extLst>
            </p:cNvPr>
            <p:cNvCxnSpPr>
              <a:cxnSpLocks/>
              <a:stCxn id="186" idx="2"/>
              <a:endCxn id="187" idx="6"/>
            </p:cNvCxnSpPr>
            <p:nvPr/>
          </p:nvCxnSpPr>
          <p:spPr>
            <a:xfrm flipH="1" flipV="1">
              <a:off x="3740681" y="2845687"/>
              <a:ext cx="1352440" cy="1551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269EDC41-ECBD-4F85-7A6A-BEC46A154830}"/>
                </a:ext>
              </a:extLst>
            </p:cNvPr>
            <p:cNvCxnSpPr>
              <a:cxnSpLocks/>
              <a:stCxn id="193" idx="3"/>
              <a:endCxn id="186" idx="7"/>
            </p:cNvCxnSpPr>
            <p:nvPr/>
          </p:nvCxnSpPr>
          <p:spPr>
            <a:xfrm flipH="1">
              <a:off x="5357893" y="2196164"/>
              <a:ext cx="338474" cy="69495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B44791B4-D6F9-F94A-D2FC-8649C9BFD56D}"/>
                </a:ext>
              </a:extLst>
            </p:cNvPr>
            <p:cNvCxnSpPr>
              <a:cxnSpLocks/>
              <a:stCxn id="188" idx="5"/>
              <a:endCxn id="186" idx="1"/>
            </p:cNvCxnSpPr>
            <p:nvPr/>
          </p:nvCxnSpPr>
          <p:spPr>
            <a:xfrm>
              <a:off x="4526572" y="2196164"/>
              <a:ext cx="611977" cy="69495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C69A1CA-6BCF-182C-6FB3-C02117D25323}"/>
                </a:ext>
              </a:extLst>
            </p:cNvPr>
            <p:cNvCxnSpPr>
              <a:cxnSpLocks/>
              <a:stCxn id="191" idx="3"/>
              <a:endCxn id="188" idx="0"/>
            </p:cNvCxnSpPr>
            <p:nvPr/>
          </p:nvCxnSpPr>
          <p:spPr>
            <a:xfrm flipH="1">
              <a:off x="4416900" y="1192516"/>
              <a:ext cx="188339" cy="73887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52D2A86C-FEC3-9CA1-79A3-2AC3A0DBC905}"/>
                </a:ext>
              </a:extLst>
            </p:cNvPr>
            <p:cNvCxnSpPr>
              <a:cxnSpLocks/>
              <a:stCxn id="191" idx="6"/>
              <a:endCxn id="192" idx="2"/>
            </p:cNvCxnSpPr>
            <p:nvPr/>
          </p:nvCxnSpPr>
          <p:spPr>
            <a:xfrm>
              <a:off x="4870011" y="1082844"/>
              <a:ext cx="775435" cy="24818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Arc 200">
              <a:extLst>
                <a:ext uri="{FF2B5EF4-FFF2-40B4-BE49-F238E27FC236}">
                  <a16:creationId xmlns:a16="http://schemas.microsoft.com/office/drawing/2014/main" id="{7BD97C02-A503-8171-6259-5155AC56F0A7}"/>
                </a:ext>
              </a:extLst>
            </p:cNvPr>
            <p:cNvSpPr/>
            <p:nvPr/>
          </p:nvSpPr>
          <p:spPr>
            <a:xfrm rot="3138528">
              <a:off x="3819155" y="887867"/>
              <a:ext cx="1099312" cy="1096084"/>
            </a:xfrm>
            <a:prstGeom prst="arc">
              <a:avLst>
                <a:gd name="adj1" fmla="val 16691401"/>
                <a:gd name="adj2" fmla="val 1350659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EE6C7A2-FDEE-E9AD-E810-AF76BF3B9292}"/>
                </a:ext>
              </a:extLst>
            </p:cNvPr>
            <p:cNvSpPr/>
            <p:nvPr/>
          </p:nvSpPr>
          <p:spPr>
            <a:xfrm>
              <a:off x="5653633" y="1023185"/>
              <a:ext cx="354231" cy="298026"/>
            </a:xfrm>
            <a:custGeom>
              <a:avLst/>
              <a:gdLst>
                <a:gd name="connsiteX0" fmla="*/ 12782 w 354231"/>
                <a:gd name="connsiteY0" fmla="*/ 238494 h 298026"/>
                <a:gd name="connsiteX1" fmla="*/ 38976 w 354231"/>
                <a:gd name="connsiteY1" fmla="*/ 9894 h 298026"/>
                <a:gd name="connsiteX2" fmla="*/ 339013 w 354231"/>
                <a:gd name="connsiteY2" fmla="*/ 67044 h 298026"/>
                <a:gd name="connsiteX3" fmla="*/ 298532 w 354231"/>
                <a:gd name="connsiteY3" fmla="*/ 298026 h 29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31" h="298026">
                  <a:moveTo>
                    <a:pt x="12782" y="238494"/>
                  </a:moveTo>
                  <a:cubicBezTo>
                    <a:pt x="-1307" y="138481"/>
                    <a:pt x="-15396" y="38469"/>
                    <a:pt x="38976" y="9894"/>
                  </a:cubicBezTo>
                  <a:cubicBezTo>
                    <a:pt x="93348" y="-18681"/>
                    <a:pt x="295754" y="19022"/>
                    <a:pt x="339013" y="67044"/>
                  </a:cubicBezTo>
                  <a:cubicBezTo>
                    <a:pt x="382272" y="115066"/>
                    <a:pt x="321948" y="281357"/>
                    <a:pt x="298532" y="298026"/>
                  </a:cubicBezTo>
                </a:path>
              </a:pathLst>
            </a:cu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27D6C18-E5C2-5DEA-C3E0-89B6B624799E}"/>
                </a:ext>
              </a:extLst>
            </p:cNvPr>
            <p:cNvSpPr txBox="1"/>
            <p:nvPr/>
          </p:nvSpPr>
          <p:spPr>
            <a:xfrm>
              <a:off x="4282087" y="1952880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hivo" panose="020B0604020202020204" charset="0"/>
                </a:rPr>
                <a:t>1</a:t>
              </a:r>
              <a:endParaRPr lang="en-IN" sz="1200" dirty="0">
                <a:latin typeface="Chivo" panose="020B0604020202020204" charset="0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8A720B73-C888-C907-45D0-F3570C04AA24}"/>
                </a:ext>
              </a:extLst>
            </p:cNvPr>
            <p:cNvSpPr txBox="1"/>
            <p:nvPr/>
          </p:nvSpPr>
          <p:spPr>
            <a:xfrm>
              <a:off x="3406949" y="943028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hivo" panose="020B0604020202020204" charset="0"/>
                </a:rPr>
                <a:t>4</a:t>
              </a:r>
              <a:endParaRPr lang="en-IN" sz="1200" dirty="0">
                <a:latin typeface="Chivo" panose="020B0604020202020204" charset="0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767D4869-BBF1-000F-510D-5681E7D2503D}"/>
                </a:ext>
              </a:extLst>
            </p:cNvPr>
            <p:cNvSpPr txBox="1"/>
            <p:nvPr/>
          </p:nvSpPr>
          <p:spPr>
            <a:xfrm>
              <a:off x="2488018" y="1848808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hivo" panose="020B0604020202020204" charset="0"/>
                </a:rPr>
                <a:t>5</a:t>
              </a:r>
              <a:endParaRPr lang="en-IN" sz="1200" dirty="0">
                <a:latin typeface="Chivo" panose="020B0604020202020204" charset="0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361A295D-9790-E1BB-527E-0DD76421FA67}"/>
                </a:ext>
              </a:extLst>
            </p:cNvPr>
            <p:cNvSpPr txBox="1"/>
            <p:nvPr/>
          </p:nvSpPr>
          <p:spPr>
            <a:xfrm>
              <a:off x="3450768" y="2707187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hivo" panose="020B0604020202020204" charset="0"/>
                </a:rPr>
                <a:t>6</a:t>
              </a:r>
              <a:endParaRPr lang="en-IN" sz="1200" dirty="0">
                <a:latin typeface="Chivo" panose="020B0604020202020204" charset="0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2FC6461D-34D8-8A49-FD18-26D95DA3CB54}"/>
                </a:ext>
              </a:extLst>
            </p:cNvPr>
            <p:cNvSpPr txBox="1"/>
            <p:nvPr/>
          </p:nvSpPr>
          <p:spPr>
            <a:xfrm>
              <a:off x="5113408" y="2873187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hivo" panose="020B0604020202020204" charset="0"/>
                </a:rPr>
                <a:t>7</a:t>
              </a:r>
              <a:endParaRPr lang="en-IN" sz="1200" dirty="0">
                <a:latin typeface="Chivo" panose="020B0604020202020204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178ED73-9DF3-7959-AF59-B1DE5013D5BB}"/>
                </a:ext>
              </a:extLst>
            </p:cNvPr>
            <p:cNvSpPr txBox="1"/>
            <p:nvPr/>
          </p:nvSpPr>
          <p:spPr>
            <a:xfrm>
              <a:off x="5665733" y="1947992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hivo" panose="020B0604020202020204" charset="0"/>
                </a:rPr>
                <a:t>8</a:t>
              </a:r>
              <a:endParaRPr lang="en-IN" sz="1200" dirty="0">
                <a:latin typeface="Chivo" panose="020B0604020202020204" charset="0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6713F67D-6D94-53FD-D951-CF2B658E96AC}"/>
                </a:ext>
              </a:extLst>
            </p:cNvPr>
            <p:cNvSpPr txBox="1"/>
            <p:nvPr/>
          </p:nvSpPr>
          <p:spPr>
            <a:xfrm>
              <a:off x="5665733" y="1191012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hivo" panose="020B0604020202020204" charset="0"/>
                </a:rPr>
                <a:t>3</a:t>
              </a:r>
              <a:endParaRPr lang="en-IN" sz="1200" dirty="0">
                <a:latin typeface="Chivo" panose="020B0604020202020204" charset="0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F8DFE83A-3000-693C-78E6-2B6C90B9DA3F}"/>
                </a:ext>
              </a:extLst>
            </p:cNvPr>
            <p:cNvSpPr txBox="1"/>
            <p:nvPr/>
          </p:nvSpPr>
          <p:spPr>
            <a:xfrm>
              <a:off x="4575120" y="934571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hivo" panose="020B0604020202020204" charset="0"/>
                </a:rPr>
                <a:t>2</a:t>
              </a:r>
              <a:endParaRPr lang="en-IN" sz="1200" dirty="0">
                <a:latin typeface="Chivo" panose="020B0604020202020204" charset="0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C1559486-8447-4A06-08F0-0F733FC69151}"/>
                </a:ext>
              </a:extLst>
            </p:cNvPr>
            <p:cNvSpPr txBox="1"/>
            <p:nvPr/>
          </p:nvSpPr>
          <p:spPr>
            <a:xfrm>
              <a:off x="2790190" y="1319293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hivo" panose="020B0604020202020204" charset="0"/>
                </a:rPr>
                <a:t>3</a:t>
              </a:r>
              <a:endParaRPr lang="en-IN" sz="1200" dirty="0">
                <a:latin typeface="Chivo" panose="020B0604020202020204" charset="0"/>
              </a:endParaRP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0BB443E-1E7C-CC6B-5784-3789105B33D7}"/>
              </a:ext>
            </a:extLst>
          </p:cNvPr>
          <p:cNvGrpSpPr/>
          <p:nvPr/>
        </p:nvGrpSpPr>
        <p:grpSpPr>
          <a:xfrm>
            <a:off x="6052549" y="1423222"/>
            <a:ext cx="434734" cy="489062"/>
            <a:chOff x="5492992" y="1569463"/>
            <a:chExt cx="434734" cy="489062"/>
          </a:xfrm>
        </p:grpSpPr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19BA07F0-5936-134B-424D-1317E3FFF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0108" y="1793753"/>
              <a:ext cx="0" cy="26477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466A7FB7-838D-AB4D-6C62-8768076082BB}"/>
                </a:ext>
              </a:extLst>
            </p:cNvPr>
            <p:cNvSpPr txBox="1"/>
            <p:nvPr/>
          </p:nvSpPr>
          <p:spPr>
            <a:xfrm>
              <a:off x="5492992" y="1569463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Node</a:t>
              </a:r>
              <a:endParaRPr lang="en-IN" sz="800" i="1" dirty="0">
                <a:solidFill>
                  <a:srgbClr val="FF0000"/>
                </a:solidFill>
                <a:latin typeface="Chivo" panose="020B0604020202020204" charset="0"/>
              </a:endParaRPr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AD548E01-2FDD-6DBA-B336-DB8B64D185CC}"/>
              </a:ext>
            </a:extLst>
          </p:cNvPr>
          <p:cNvGrpSpPr/>
          <p:nvPr/>
        </p:nvGrpSpPr>
        <p:grpSpPr>
          <a:xfrm>
            <a:off x="5548131" y="2334719"/>
            <a:ext cx="1170947" cy="874770"/>
            <a:chOff x="4855955" y="1083140"/>
            <a:chExt cx="1170947" cy="874770"/>
          </a:xfrm>
        </p:grpSpPr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FF326C0-4687-0219-2AE6-F2D80330E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5955" y="1730997"/>
              <a:ext cx="393471" cy="2482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AA9A8CCB-03E3-304F-FBD6-CA6A40D7F6CA}"/>
                </a:ext>
              </a:extLst>
            </p:cNvPr>
            <p:cNvSpPr txBox="1"/>
            <p:nvPr/>
          </p:nvSpPr>
          <p:spPr>
            <a:xfrm>
              <a:off x="5196225" y="1619356"/>
              <a:ext cx="8306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5 is adjacent </a:t>
              </a:r>
            </a:p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 to 4 node</a:t>
              </a:r>
              <a:endParaRPr lang="en-IN" sz="800" i="1" dirty="0">
                <a:solidFill>
                  <a:srgbClr val="FF0000"/>
                </a:solidFill>
                <a:latin typeface="Chivo" panose="020B0604020202020204" charset="0"/>
              </a:endParaRPr>
            </a:p>
          </p:txBody>
        </p: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9BBE78B9-F61F-E639-6006-2BD1BE37A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0373" y="1083140"/>
              <a:ext cx="167901" cy="5587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C4F8A0CB-1C94-0582-AE55-9E874DF46DCA}"/>
              </a:ext>
            </a:extLst>
          </p:cNvPr>
          <p:cNvGrpSpPr/>
          <p:nvPr/>
        </p:nvGrpSpPr>
        <p:grpSpPr>
          <a:xfrm>
            <a:off x="7617810" y="2655163"/>
            <a:ext cx="857852" cy="438912"/>
            <a:chOff x="5321235" y="1619613"/>
            <a:chExt cx="857852" cy="438912"/>
          </a:xfrm>
        </p:grpSpPr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A9662A9-08AC-C181-034C-0ABB3E1222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0108" y="1793753"/>
              <a:ext cx="0" cy="26477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B81A8FAA-B6CF-1E65-07E7-B5080F3884F6}"/>
                </a:ext>
              </a:extLst>
            </p:cNvPr>
            <p:cNvSpPr txBox="1"/>
            <p:nvPr/>
          </p:nvSpPr>
          <p:spPr>
            <a:xfrm>
              <a:off x="5321235" y="1619613"/>
              <a:ext cx="8578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Directed Edge</a:t>
              </a:r>
              <a:endParaRPr lang="en-IN" sz="800" i="1" dirty="0">
                <a:solidFill>
                  <a:srgbClr val="FF0000"/>
                </a:solidFill>
                <a:latin typeface="Chivo" panose="020B0604020202020204" charset="0"/>
              </a:endParaRP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420A3A9C-7286-6711-07BC-9091A7C65C43}"/>
              </a:ext>
            </a:extLst>
          </p:cNvPr>
          <p:cNvGrpSpPr/>
          <p:nvPr/>
        </p:nvGrpSpPr>
        <p:grpSpPr>
          <a:xfrm>
            <a:off x="8282293" y="3665649"/>
            <a:ext cx="1217524" cy="338554"/>
            <a:chOff x="5109830" y="1684870"/>
            <a:chExt cx="1217524" cy="338554"/>
          </a:xfrm>
        </p:grpSpPr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F6A1BEBF-C65B-61B6-1D24-92E6260B8ABC}"/>
                </a:ext>
              </a:extLst>
            </p:cNvPr>
            <p:cNvCxnSpPr>
              <a:cxnSpLocks/>
            </p:cNvCxnSpPr>
            <p:nvPr/>
          </p:nvCxnSpPr>
          <p:spPr>
            <a:xfrm>
              <a:off x="5109830" y="1684870"/>
              <a:ext cx="193369" cy="152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83557815-4E50-4113-04B8-17577E96324A}"/>
                </a:ext>
              </a:extLst>
            </p:cNvPr>
            <p:cNvSpPr txBox="1"/>
            <p:nvPr/>
          </p:nvSpPr>
          <p:spPr>
            <a:xfrm>
              <a:off x="5233834" y="1684870"/>
              <a:ext cx="1093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Undirected </a:t>
              </a:r>
            </a:p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Edge</a:t>
              </a:r>
              <a:endParaRPr lang="en-IN" sz="800" i="1" dirty="0">
                <a:solidFill>
                  <a:srgbClr val="FF0000"/>
                </a:solidFill>
                <a:latin typeface="Chivo" panose="020B0604020202020204" charset="0"/>
              </a:endParaRP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571EFE6-4BB9-5D49-C153-E000B3C748AC}"/>
              </a:ext>
            </a:extLst>
          </p:cNvPr>
          <p:cNvGrpSpPr/>
          <p:nvPr/>
        </p:nvGrpSpPr>
        <p:grpSpPr>
          <a:xfrm>
            <a:off x="7694918" y="2479508"/>
            <a:ext cx="1161867" cy="282505"/>
            <a:chOff x="5075766" y="1611761"/>
            <a:chExt cx="1161867" cy="282505"/>
          </a:xfrm>
        </p:grpSpPr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87382EA2-F819-B9D1-8685-AA98A2A5A790}"/>
                </a:ext>
              </a:extLst>
            </p:cNvPr>
            <p:cNvCxnSpPr>
              <a:cxnSpLocks/>
            </p:cNvCxnSpPr>
            <p:nvPr/>
          </p:nvCxnSpPr>
          <p:spPr>
            <a:xfrm>
              <a:off x="5075766" y="1611761"/>
              <a:ext cx="310967" cy="10985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F206AB7-A27A-4F25-2F1E-4ECFBBBF6526}"/>
                </a:ext>
              </a:extLst>
            </p:cNvPr>
            <p:cNvSpPr txBox="1"/>
            <p:nvPr/>
          </p:nvSpPr>
          <p:spPr>
            <a:xfrm>
              <a:off x="5144113" y="1678822"/>
              <a:ext cx="10935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Multiple Edge</a:t>
              </a:r>
              <a:endParaRPr lang="en-IN" sz="800" i="1" dirty="0">
                <a:solidFill>
                  <a:srgbClr val="FF0000"/>
                </a:solidFill>
                <a:latin typeface="Chivo" panose="020B0604020202020204" charset="0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0242D61-41CB-713D-FB47-80DC90ABD967}"/>
              </a:ext>
            </a:extLst>
          </p:cNvPr>
          <p:cNvGrpSpPr/>
          <p:nvPr/>
        </p:nvGrpSpPr>
        <p:grpSpPr>
          <a:xfrm>
            <a:off x="5066645" y="2059427"/>
            <a:ext cx="518091" cy="350509"/>
            <a:chOff x="5204090" y="1708016"/>
            <a:chExt cx="518091" cy="350509"/>
          </a:xfrm>
        </p:grpSpPr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8F52BF73-531D-80E5-EB91-4E789A3B7B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9767" y="1894719"/>
              <a:ext cx="210341" cy="16380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8AD6D2C2-19C3-851A-07AF-0257D2CA3435}"/>
                </a:ext>
              </a:extLst>
            </p:cNvPr>
            <p:cNvSpPr txBox="1"/>
            <p:nvPr/>
          </p:nvSpPr>
          <p:spPr>
            <a:xfrm>
              <a:off x="5204090" y="1708016"/>
              <a:ext cx="5180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Weight</a:t>
              </a:r>
              <a:endParaRPr lang="en-IN" sz="800" i="1" dirty="0">
                <a:solidFill>
                  <a:srgbClr val="FF0000"/>
                </a:solidFill>
                <a:latin typeface="Chivo" panose="020B0604020202020204" charset="0"/>
              </a:endParaRP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DF9559BF-0AF4-D1AC-DF5E-52103A08D70D}"/>
              </a:ext>
            </a:extLst>
          </p:cNvPr>
          <p:cNvGrpSpPr/>
          <p:nvPr/>
        </p:nvGrpSpPr>
        <p:grpSpPr>
          <a:xfrm>
            <a:off x="8358196" y="1549299"/>
            <a:ext cx="417102" cy="471053"/>
            <a:chOff x="5509359" y="1587472"/>
            <a:chExt cx="417102" cy="471053"/>
          </a:xfrm>
        </p:grpSpPr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0A731CA-9BB6-AAA9-DA77-152B972D1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0108" y="1793753"/>
              <a:ext cx="0" cy="26477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D342834-C1AA-4976-D41E-AB526E89F629}"/>
                </a:ext>
              </a:extLst>
            </p:cNvPr>
            <p:cNvSpPr txBox="1"/>
            <p:nvPr/>
          </p:nvSpPr>
          <p:spPr>
            <a:xfrm>
              <a:off x="5509359" y="1587472"/>
              <a:ext cx="41710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Loop</a:t>
              </a:r>
              <a:endParaRPr lang="en-IN" sz="800" i="1" dirty="0">
                <a:solidFill>
                  <a:srgbClr val="FF0000"/>
                </a:solidFill>
                <a:latin typeface="Chivo" panose="020B0604020202020204" charset="0"/>
              </a:endParaRP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399D683A-13E1-2B8B-4D24-B1FCDE915C35}"/>
              </a:ext>
            </a:extLst>
          </p:cNvPr>
          <p:cNvGrpSpPr/>
          <p:nvPr/>
        </p:nvGrpSpPr>
        <p:grpSpPr>
          <a:xfrm>
            <a:off x="7024314" y="1526332"/>
            <a:ext cx="1298285" cy="1395934"/>
            <a:chOff x="4615771" y="473708"/>
            <a:chExt cx="1298285" cy="1395934"/>
          </a:xfrm>
        </p:grpSpPr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066CAFD5-DCC6-0E3E-68BD-5B51FB535B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9237" y="1174692"/>
              <a:ext cx="159288" cy="69495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F505EE5E-EA02-6D69-DB46-3E7D282E5F5F}"/>
                </a:ext>
              </a:extLst>
            </p:cNvPr>
            <p:cNvCxnSpPr>
              <a:cxnSpLocks/>
            </p:cNvCxnSpPr>
            <p:nvPr/>
          </p:nvCxnSpPr>
          <p:spPr>
            <a:xfrm>
              <a:off x="5270601" y="1038469"/>
              <a:ext cx="643455" cy="206347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2BD58D5F-A4EF-FB25-0A6A-9149AD0FBF7D}"/>
                </a:ext>
              </a:extLst>
            </p:cNvPr>
            <p:cNvSpPr/>
            <p:nvPr/>
          </p:nvSpPr>
          <p:spPr>
            <a:xfrm rot="690778">
              <a:off x="4858543" y="815269"/>
              <a:ext cx="322826" cy="248716"/>
            </a:xfrm>
            <a:custGeom>
              <a:avLst/>
              <a:gdLst>
                <a:gd name="connsiteX0" fmla="*/ 0 w 355600"/>
                <a:gd name="connsiteY0" fmla="*/ 229210 h 229210"/>
                <a:gd name="connsiteX1" fmla="*/ 63500 w 355600"/>
                <a:gd name="connsiteY1" fmla="*/ 6960 h 229210"/>
                <a:gd name="connsiteX2" fmla="*/ 355600 w 355600"/>
                <a:gd name="connsiteY2" fmla="*/ 64110 h 229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5600" h="229210">
                  <a:moveTo>
                    <a:pt x="0" y="229210"/>
                  </a:moveTo>
                  <a:cubicBezTo>
                    <a:pt x="2116" y="131843"/>
                    <a:pt x="4233" y="34477"/>
                    <a:pt x="63500" y="6960"/>
                  </a:cubicBezTo>
                  <a:cubicBezTo>
                    <a:pt x="122767" y="-20557"/>
                    <a:pt x="294217" y="40827"/>
                    <a:pt x="355600" y="64110"/>
                  </a:cubicBezTo>
                </a:path>
              </a:pathLst>
            </a:cu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2AA3166C-1062-3A20-BF2A-9211329E6A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4028" y="645319"/>
              <a:ext cx="78667" cy="14023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3A946DB1-F62C-7103-D2BA-D64F0A189859}"/>
                </a:ext>
              </a:extLst>
            </p:cNvPr>
            <p:cNvSpPr txBox="1"/>
            <p:nvPr/>
          </p:nvSpPr>
          <p:spPr>
            <a:xfrm rot="20761546">
              <a:off x="4615771" y="473708"/>
              <a:ext cx="4074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Path</a:t>
              </a:r>
              <a:endParaRPr lang="en-IN" sz="800" i="1" dirty="0">
                <a:solidFill>
                  <a:srgbClr val="FF0000"/>
                </a:solidFill>
                <a:latin typeface="Chivo" panose="020B0604020202020204" charset="0"/>
              </a:endParaRP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802197F9-C604-AAF6-7DAE-C5BAE8748DB1}"/>
              </a:ext>
            </a:extLst>
          </p:cNvPr>
          <p:cNvGrpSpPr/>
          <p:nvPr/>
        </p:nvGrpSpPr>
        <p:grpSpPr>
          <a:xfrm>
            <a:off x="5588754" y="2328033"/>
            <a:ext cx="2001609" cy="1526305"/>
            <a:chOff x="3180211" y="1275409"/>
            <a:chExt cx="2001609" cy="1526305"/>
          </a:xfrm>
        </p:grpSpPr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4A72DEEC-1574-426B-F411-26779EB10303}"/>
                </a:ext>
              </a:extLst>
            </p:cNvPr>
            <p:cNvGrpSpPr/>
            <p:nvPr/>
          </p:nvGrpSpPr>
          <p:grpSpPr>
            <a:xfrm>
              <a:off x="3180211" y="1275409"/>
              <a:ext cx="2001609" cy="1526305"/>
              <a:chOff x="3180211" y="1275409"/>
              <a:chExt cx="2001609" cy="1526305"/>
            </a:xfrm>
          </p:grpSpPr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E06034C4-0BFE-1227-F19A-D9EB93DC86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89881" y="1282095"/>
                <a:ext cx="654822" cy="729895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18BB35F5-BE8E-366D-D448-F16B449849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90116" y="2365103"/>
                <a:ext cx="391704" cy="436611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4427418E-E63E-D65B-B4A5-B0062B1327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69829" y="2728736"/>
                <a:ext cx="1011991" cy="72978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4C4903AF-BEB4-EDE7-26A3-4B6D15CFBF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80211" y="1959667"/>
                <a:ext cx="989618" cy="769069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BB7FA383-8171-E240-3D94-DFB3E053A2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83096" y="1275409"/>
                <a:ext cx="703643" cy="684258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8E57F890-3D17-716D-C849-565BFE0632F1}"/>
                </a:ext>
              </a:extLst>
            </p:cNvPr>
            <p:cNvSpPr txBox="1"/>
            <p:nvPr/>
          </p:nvSpPr>
          <p:spPr>
            <a:xfrm>
              <a:off x="3933553" y="2070173"/>
              <a:ext cx="6126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Circular </a:t>
              </a:r>
            </a:p>
            <a:p>
              <a:r>
                <a:rPr lang="en-US" sz="800" i="1" dirty="0">
                  <a:solidFill>
                    <a:srgbClr val="FF0000"/>
                  </a:solidFill>
                  <a:latin typeface="Chivo" panose="020B0604020202020204" charset="0"/>
                </a:rPr>
                <a:t>Graph</a:t>
              </a:r>
              <a:endParaRPr lang="en-IN" sz="800" i="1" dirty="0">
                <a:solidFill>
                  <a:srgbClr val="FF0000"/>
                </a:solidFill>
                <a:latin typeface="Chivo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134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1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2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3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4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5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61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7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       </a:t>
              </a:r>
            </a:p>
          </p:txBody>
        </p:sp>
      </p:grpSp>
      <p:sp>
        <p:nvSpPr>
          <p:cNvPr id="8" name="Google Shape;478;p49"/>
          <p:cNvSpPr txBox="1">
            <a:spLocks/>
          </p:cNvSpPr>
          <p:nvPr/>
        </p:nvSpPr>
        <p:spPr>
          <a:xfrm>
            <a:off x="68093" y="116157"/>
            <a:ext cx="5621507" cy="10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>
                <a:solidFill>
                  <a:schemeClr val="accent1">
                    <a:lumMod val="25000"/>
                  </a:schemeClr>
                </a:solidFill>
                <a:latin typeface="Anton" panose="020B0604020202020204" charset="0"/>
              </a:rPr>
              <a:t>Graph Representation</a:t>
            </a:r>
          </a:p>
        </p:txBody>
      </p:sp>
      <p:sp>
        <p:nvSpPr>
          <p:cNvPr id="9" name="Google Shape;477;p49"/>
          <p:cNvSpPr txBox="1">
            <a:spLocks/>
          </p:cNvSpPr>
          <p:nvPr/>
        </p:nvSpPr>
        <p:spPr>
          <a:xfrm>
            <a:off x="68094" y="779423"/>
            <a:ext cx="4689609" cy="11412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There are several ways to represent a graph in computer memory. Two common ways is to use an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4D54AF-AA07-E709-660B-12CA138219BE}"/>
              </a:ext>
            </a:extLst>
          </p:cNvPr>
          <p:cNvGrpSpPr/>
          <p:nvPr/>
        </p:nvGrpSpPr>
        <p:grpSpPr>
          <a:xfrm>
            <a:off x="104695" y="1824078"/>
            <a:ext cx="4587710" cy="2144879"/>
            <a:chOff x="104695" y="1824078"/>
            <a:chExt cx="4587710" cy="2144879"/>
          </a:xfrm>
        </p:grpSpPr>
        <p:sp>
          <p:nvSpPr>
            <p:cNvPr id="18" name="Google Shape;477;p49">
              <a:extLst>
                <a:ext uri="{FF2B5EF4-FFF2-40B4-BE49-F238E27FC236}">
                  <a16:creationId xmlns:a16="http://schemas.microsoft.com/office/drawing/2014/main" id="{EE180E4C-1669-4918-A610-08EDD5212E88}"/>
                </a:ext>
              </a:extLst>
            </p:cNvPr>
            <p:cNvSpPr txBox="1">
              <a:spLocks/>
            </p:cNvSpPr>
            <p:nvPr/>
          </p:nvSpPr>
          <p:spPr>
            <a:xfrm>
              <a:off x="104695" y="1824078"/>
              <a:ext cx="4587710" cy="42187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b="0" i="0" u="sng" dirty="0">
                  <a:solidFill>
                    <a:srgbClr val="252525"/>
                  </a:solidFill>
                  <a:effectLst/>
                  <a:latin typeface="Chivo" panose="020B0604020202020204" charset="0"/>
                </a:rPr>
                <a:t>Adjacency Matrix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E816506-7F28-98A1-486F-53F103CBD96A}"/>
                </a:ext>
              </a:extLst>
            </p:cNvPr>
            <p:cNvGrpSpPr/>
            <p:nvPr/>
          </p:nvGrpSpPr>
          <p:grpSpPr>
            <a:xfrm>
              <a:off x="342476" y="2292999"/>
              <a:ext cx="4028271" cy="1675958"/>
              <a:chOff x="469900" y="2130187"/>
              <a:chExt cx="4287804" cy="1675958"/>
            </a:xfrm>
          </p:grpSpPr>
          <p:sp>
            <p:nvSpPr>
              <p:cNvPr id="5" name="Google Shape;477;p49">
                <a:extLst>
                  <a:ext uri="{FF2B5EF4-FFF2-40B4-BE49-F238E27FC236}">
                    <a16:creationId xmlns:a16="http://schemas.microsoft.com/office/drawing/2014/main" id="{6E47663E-2F81-DBA8-B1A4-A02BA95A55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9900" y="2130187"/>
                <a:ext cx="4287804" cy="63444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IN" sz="1200" b="0" i="0" dirty="0">
                    <a:solidFill>
                      <a:srgbClr val="252525"/>
                    </a:solidFill>
                    <a:effectLst/>
                    <a:latin typeface="Chivo" panose="020B0604020202020204" charset="0"/>
                  </a:rPr>
                  <a:t>In this representation, the graph can be represented using a matrix of size n x n, where n is the number of vertices.</a:t>
                </a:r>
              </a:p>
            </p:txBody>
          </p:sp>
          <p:sp>
            <p:nvSpPr>
              <p:cNvPr id="7" name="Google Shape;477;p49">
                <a:extLst>
                  <a:ext uri="{FF2B5EF4-FFF2-40B4-BE49-F238E27FC236}">
                    <a16:creationId xmlns:a16="http://schemas.microsoft.com/office/drawing/2014/main" id="{59A5DBF4-E254-AC18-7ADD-344A2F79AB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9900" y="2784661"/>
                <a:ext cx="4287804" cy="42187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IN" sz="1200" b="0" i="0" dirty="0">
                    <a:solidFill>
                      <a:srgbClr val="252525"/>
                    </a:solidFill>
                    <a:effectLst/>
                    <a:latin typeface="Chivo" panose="020B0604020202020204" charset="0"/>
                  </a:rPr>
                  <a:t>This matrix is filled with either 1’s or 0’s.</a:t>
                </a:r>
              </a:p>
            </p:txBody>
          </p:sp>
          <p:sp>
            <p:nvSpPr>
              <p:cNvPr id="10" name="Google Shape;477;p49">
                <a:extLst>
                  <a:ext uri="{FF2B5EF4-FFF2-40B4-BE49-F238E27FC236}">
                    <a16:creationId xmlns:a16="http://schemas.microsoft.com/office/drawing/2014/main" id="{1B9AD78C-BA79-B600-7022-BEF1877930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9900" y="3055722"/>
                <a:ext cx="4287804" cy="75042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IN" sz="1200" b="0" i="0" dirty="0">
                    <a:solidFill>
                      <a:srgbClr val="252525"/>
                    </a:solidFill>
                    <a:effectLst/>
                    <a:latin typeface="Chivo" panose="020B0604020202020204" charset="0"/>
                  </a:rPr>
                  <a:t>Here, 1 represents that there is an edge from row vertex to column vertex, and 0 represents that there is no edge from row vertex to column vertex.</a:t>
                </a: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F2D0C7A-FD5B-2F1D-9A0F-832AFAAAAB9F}"/>
              </a:ext>
            </a:extLst>
          </p:cNvPr>
          <p:cNvGrpSpPr/>
          <p:nvPr/>
        </p:nvGrpSpPr>
        <p:grpSpPr>
          <a:xfrm>
            <a:off x="5273037" y="252378"/>
            <a:ext cx="3674658" cy="4715000"/>
            <a:chOff x="5273037" y="252378"/>
            <a:chExt cx="3674658" cy="4715000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E58434-99D4-822A-8DA8-43909C010F65}"/>
                </a:ext>
              </a:extLst>
            </p:cNvPr>
            <p:cNvSpPr txBox="1"/>
            <p:nvPr/>
          </p:nvSpPr>
          <p:spPr>
            <a:xfrm>
              <a:off x="6185002" y="4659601"/>
              <a:ext cx="20361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rgbClr val="4E3E27"/>
                  </a:solidFill>
                  <a:latin typeface="Chivo" panose="020B0604020202020204" charset="0"/>
                </a:rPr>
                <a:t>Fig : Adjacency Matrix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3A1D021-68FB-EC83-973B-2AC02468AAA8}"/>
                </a:ext>
              </a:extLst>
            </p:cNvPr>
            <p:cNvGrpSpPr/>
            <p:nvPr/>
          </p:nvGrpSpPr>
          <p:grpSpPr>
            <a:xfrm>
              <a:off x="6185002" y="252378"/>
              <a:ext cx="2762693" cy="1677492"/>
              <a:chOff x="3952800" y="1158455"/>
              <a:chExt cx="3052027" cy="1853174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62F0004-0EAC-2B02-E70E-37E60738479A}"/>
                  </a:ext>
                </a:extLst>
              </p:cNvPr>
              <p:cNvSpPr/>
              <p:nvPr/>
            </p:nvSpPr>
            <p:spPr>
              <a:xfrm>
                <a:off x="3952800" y="115845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339FFE1-8787-0964-6BCE-266097D15B66}"/>
                  </a:ext>
                </a:extLst>
              </p:cNvPr>
              <p:cNvSpPr/>
              <p:nvPr/>
            </p:nvSpPr>
            <p:spPr>
              <a:xfrm>
                <a:off x="5558438" y="115845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2965146-C11A-855D-DFFF-800971C124B7}"/>
                  </a:ext>
                </a:extLst>
              </p:cNvPr>
              <p:cNvSpPr/>
              <p:nvPr/>
            </p:nvSpPr>
            <p:spPr>
              <a:xfrm>
                <a:off x="3952800" y="236290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F5CBBB4-A35A-73F4-1FD3-D5933D14388D}"/>
                  </a:ext>
                </a:extLst>
              </p:cNvPr>
              <p:cNvSpPr/>
              <p:nvPr/>
            </p:nvSpPr>
            <p:spPr>
              <a:xfrm>
                <a:off x="5558438" y="236290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60CB8C9-A210-B26E-6F13-F0DA5637390D}"/>
                  </a:ext>
                </a:extLst>
              </p:cNvPr>
              <p:cNvSpPr/>
              <p:nvPr/>
            </p:nvSpPr>
            <p:spPr>
              <a:xfrm>
                <a:off x="6587138" y="180410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5F260809-D592-7138-3D32-08EECC1B8327}"/>
                  </a:ext>
                </a:extLst>
              </p:cNvPr>
              <p:cNvCxnSpPr>
                <a:cxnSpLocks/>
                <a:endCxn id="25" idx="2"/>
              </p:cNvCxnSpPr>
              <p:nvPr/>
            </p:nvCxnSpPr>
            <p:spPr>
              <a:xfrm>
                <a:off x="4370489" y="1367299"/>
                <a:ext cx="1187949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7398606-DB6E-765B-68CF-FFCC9986E74A}"/>
                  </a:ext>
                </a:extLst>
              </p:cNvPr>
              <p:cNvCxnSpPr>
                <a:cxnSpLocks/>
                <a:stCxn id="16" idx="4"/>
                <a:endCxn id="27" idx="0"/>
              </p:cNvCxnSpPr>
              <p:nvPr/>
            </p:nvCxnSpPr>
            <p:spPr>
              <a:xfrm>
                <a:off x="4161645" y="1576144"/>
                <a:ext cx="0" cy="78676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B901EDF-4358-E53A-0E1C-336972F70D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0489" y="2539880"/>
                <a:ext cx="1187949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31D05C37-B352-C436-F205-2F5452ACB4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6027" y="1586460"/>
                <a:ext cx="0" cy="78676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CDBD637F-689F-8952-C46D-ECDBCDA4BE58}"/>
                  </a:ext>
                </a:extLst>
              </p:cNvPr>
              <p:cNvCxnSpPr>
                <a:cxnSpLocks/>
                <a:endCxn id="32" idx="3"/>
              </p:cNvCxnSpPr>
              <p:nvPr/>
            </p:nvCxnSpPr>
            <p:spPr>
              <a:xfrm flipV="1">
                <a:off x="5984871" y="2160625"/>
                <a:ext cx="663436" cy="38957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774C78E5-74B5-0A80-8895-A782D349C0BD}"/>
                  </a:ext>
                </a:extLst>
              </p:cNvPr>
              <p:cNvCxnSpPr>
                <a:cxnSpLocks/>
                <a:stCxn id="25" idx="6"/>
                <a:endCxn id="32" idx="1"/>
              </p:cNvCxnSpPr>
              <p:nvPr/>
            </p:nvCxnSpPr>
            <p:spPr>
              <a:xfrm>
                <a:off x="5976127" y="1367300"/>
                <a:ext cx="672180" cy="49797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E92619C-9D62-CBF4-EB24-0F4F24D0979F}"/>
                  </a:ext>
                </a:extLst>
              </p:cNvPr>
              <p:cNvSpPr txBox="1"/>
              <p:nvPr/>
            </p:nvSpPr>
            <p:spPr>
              <a:xfrm>
                <a:off x="4013969" y="1242753"/>
                <a:ext cx="2856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A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50F7AE2-9C2F-73DA-DD4B-05A5865F921F}"/>
                  </a:ext>
                </a:extLst>
              </p:cNvPr>
              <p:cNvSpPr txBox="1"/>
              <p:nvPr/>
            </p:nvSpPr>
            <p:spPr>
              <a:xfrm>
                <a:off x="5636626" y="1242753"/>
                <a:ext cx="2840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B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A8825D-D6D6-8EEC-A92E-D1215B4EC0F1}"/>
                  </a:ext>
                </a:extLst>
              </p:cNvPr>
              <p:cNvSpPr txBox="1"/>
              <p:nvPr/>
            </p:nvSpPr>
            <p:spPr>
              <a:xfrm>
                <a:off x="4013969" y="2438408"/>
                <a:ext cx="2872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C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809BBF2-C135-017C-08DE-E2625223F548}"/>
                  </a:ext>
                </a:extLst>
              </p:cNvPr>
              <p:cNvSpPr txBox="1"/>
              <p:nvPr/>
            </p:nvSpPr>
            <p:spPr>
              <a:xfrm>
                <a:off x="5636626" y="243840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D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909338E-2E36-1618-49B8-EDAC1654DAB5}"/>
                  </a:ext>
                </a:extLst>
              </p:cNvPr>
              <p:cNvSpPr txBox="1"/>
              <p:nvPr/>
            </p:nvSpPr>
            <p:spPr>
              <a:xfrm>
                <a:off x="6659528" y="1883626"/>
                <a:ext cx="2760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E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64CD1FC9-B356-F6FB-8C77-81B6B4311FB2}"/>
                  </a:ext>
                </a:extLst>
              </p:cNvPr>
              <p:cNvCxnSpPr>
                <a:cxnSpLocks/>
                <a:stCxn id="29" idx="1"/>
                <a:endCxn id="16" idx="5"/>
              </p:cNvCxnSpPr>
              <p:nvPr/>
            </p:nvCxnSpPr>
            <p:spPr>
              <a:xfrm flipH="1" flipV="1">
                <a:off x="4309320" y="1514975"/>
                <a:ext cx="1310287" cy="90909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BEB2CDBD-5840-2533-391A-B45327A1670A}"/>
                  </a:ext>
                </a:extLst>
              </p:cNvPr>
              <p:cNvSpPr/>
              <p:nvPr/>
            </p:nvSpPr>
            <p:spPr>
              <a:xfrm>
                <a:off x="5560099" y="2644140"/>
                <a:ext cx="485152" cy="367489"/>
              </a:xfrm>
              <a:custGeom>
                <a:avLst/>
                <a:gdLst>
                  <a:gd name="connsiteX0" fmla="*/ 2501 w 485152"/>
                  <a:gd name="connsiteY0" fmla="*/ 0 h 367489"/>
                  <a:gd name="connsiteX1" fmla="*/ 71081 w 485152"/>
                  <a:gd name="connsiteY1" fmla="*/ 350520 h 367489"/>
                  <a:gd name="connsiteX2" fmla="*/ 474941 w 485152"/>
                  <a:gd name="connsiteY2" fmla="*/ 281940 h 367489"/>
                  <a:gd name="connsiteX3" fmla="*/ 383501 w 485152"/>
                  <a:gd name="connsiteY3" fmla="*/ 15240 h 36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52" h="367489">
                    <a:moveTo>
                      <a:pt x="2501" y="0"/>
                    </a:moveTo>
                    <a:cubicBezTo>
                      <a:pt x="-2579" y="151765"/>
                      <a:pt x="-7659" y="303530"/>
                      <a:pt x="71081" y="350520"/>
                    </a:cubicBezTo>
                    <a:cubicBezTo>
                      <a:pt x="149821" y="397510"/>
                      <a:pt x="422871" y="337820"/>
                      <a:pt x="474941" y="281940"/>
                    </a:cubicBezTo>
                    <a:cubicBezTo>
                      <a:pt x="527011" y="226060"/>
                      <a:pt x="361911" y="24130"/>
                      <a:pt x="383501" y="15240"/>
                    </a:cubicBezTo>
                  </a:path>
                </a:pathLst>
              </a:cu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D97265D-92AA-FEBA-FD0A-8D77C9FAE858}"/>
                </a:ext>
              </a:extLst>
            </p:cNvPr>
            <p:cNvGrpSpPr/>
            <p:nvPr/>
          </p:nvGrpSpPr>
          <p:grpSpPr>
            <a:xfrm>
              <a:off x="5273037" y="2032737"/>
              <a:ext cx="2472862" cy="2451848"/>
              <a:chOff x="5495849" y="1579130"/>
              <a:chExt cx="2314651" cy="2294981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64571EF-52DF-0654-FE55-4AF04C034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7400" y="1682202"/>
                <a:ext cx="0" cy="217950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DED37946-A9DB-A64E-7A04-8F746C33E8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3335" y="1694604"/>
                <a:ext cx="0" cy="217950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12E2A67-88E7-E522-BB2E-A5210B8E72F5}"/>
                  </a:ext>
                </a:extLst>
              </p:cNvPr>
              <p:cNvSpPr txBox="1"/>
              <p:nvPr/>
            </p:nvSpPr>
            <p:spPr>
              <a:xfrm>
                <a:off x="5495849" y="1973793"/>
                <a:ext cx="3016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hivo" panose="020B0604020202020204" charset="0"/>
                  </a:rPr>
                  <a:t>A</a:t>
                </a:r>
                <a:endParaRPr lang="en-IN" dirty="0">
                  <a:latin typeface="Chivo" panose="020B0604020202020204" charset="0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99BDB5E-D80A-40B0-E66F-227F287D5C75}"/>
                  </a:ext>
                </a:extLst>
              </p:cNvPr>
              <p:cNvSpPr txBox="1"/>
              <p:nvPr/>
            </p:nvSpPr>
            <p:spPr>
              <a:xfrm>
                <a:off x="5495849" y="2369116"/>
                <a:ext cx="3016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hivo" panose="020B0604020202020204" charset="0"/>
                  </a:rPr>
                  <a:t>B</a:t>
                </a:r>
                <a:endParaRPr lang="en-IN" dirty="0">
                  <a:latin typeface="Chivo" panose="020B0604020202020204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47F53C-1B74-D662-5A61-AE7A952B6A52}"/>
                  </a:ext>
                </a:extLst>
              </p:cNvPr>
              <p:cNvSpPr txBox="1"/>
              <p:nvPr/>
            </p:nvSpPr>
            <p:spPr>
              <a:xfrm>
                <a:off x="5495849" y="2719146"/>
                <a:ext cx="30809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hivo" panose="020B0604020202020204" charset="0"/>
                  </a:rPr>
                  <a:t>C</a:t>
                </a:r>
                <a:endParaRPr lang="en-IN" dirty="0">
                  <a:latin typeface="Chivo" panose="020B0604020202020204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EC06490-735B-DF8C-0575-F1EAD2F0379B}"/>
                  </a:ext>
                </a:extLst>
              </p:cNvPr>
              <p:cNvSpPr txBox="1"/>
              <p:nvPr/>
            </p:nvSpPr>
            <p:spPr>
              <a:xfrm>
                <a:off x="5495849" y="3111429"/>
                <a:ext cx="3064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hivo" panose="020B0604020202020204" charset="0"/>
                  </a:rPr>
                  <a:t>D</a:t>
                </a:r>
                <a:endParaRPr lang="en-IN" dirty="0">
                  <a:latin typeface="Chivo" panose="020B060402020202020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1BF5F15-D2DE-998C-A162-D906F5DBE24E}"/>
                  </a:ext>
                </a:extLst>
              </p:cNvPr>
              <p:cNvSpPr txBox="1"/>
              <p:nvPr/>
            </p:nvSpPr>
            <p:spPr>
              <a:xfrm>
                <a:off x="5495849" y="3503712"/>
                <a:ext cx="2904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hivo" panose="020B0604020202020204" charset="0"/>
                  </a:rPr>
                  <a:t>E</a:t>
                </a:r>
                <a:endParaRPr lang="en-IN" dirty="0">
                  <a:latin typeface="Chivo" panose="020B0604020202020204" charset="0"/>
                </a:endParaRP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0C5F675C-9ECE-4845-C49D-91D568C3511F}"/>
                  </a:ext>
                </a:extLst>
              </p:cNvPr>
              <p:cNvGrpSpPr/>
              <p:nvPr/>
            </p:nvGrpSpPr>
            <p:grpSpPr>
              <a:xfrm>
                <a:off x="5898081" y="1973793"/>
                <a:ext cx="1627044" cy="307777"/>
                <a:chOff x="5898081" y="1973793"/>
                <a:chExt cx="1627044" cy="307777"/>
              </a:xfrm>
            </p:grpSpPr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2441B1DA-C71D-8C6A-8869-15FA5350DA86}"/>
                    </a:ext>
                  </a:extLst>
                </p:cNvPr>
                <p:cNvSpPr txBox="1"/>
                <p:nvPr/>
              </p:nvSpPr>
              <p:spPr>
                <a:xfrm>
                  <a:off x="589808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A7207B1-EAC5-CC72-7326-9843B4364E11}"/>
                    </a:ext>
                  </a:extLst>
                </p:cNvPr>
                <p:cNvSpPr txBox="1"/>
                <p:nvPr/>
              </p:nvSpPr>
              <p:spPr>
                <a:xfrm>
                  <a:off x="6267809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1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B30C6A27-99FE-0C57-5A95-46C0144021B4}"/>
                    </a:ext>
                  </a:extLst>
                </p:cNvPr>
                <p:cNvSpPr txBox="1"/>
                <p:nvPr/>
              </p:nvSpPr>
              <p:spPr>
                <a:xfrm>
                  <a:off x="6605532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1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DBEC9D4D-CD08-527A-0F0C-8164C70D63D4}"/>
                    </a:ext>
                  </a:extLst>
                </p:cNvPr>
                <p:cNvSpPr txBox="1"/>
                <p:nvPr/>
              </p:nvSpPr>
              <p:spPr>
                <a:xfrm>
                  <a:off x="6922094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7DF8166A-D38E-E3B7-3BBB-01A1267024B7}"/>
                    </a:ext>
                  </a:extLst>
                </p:cNvPr>
                <p:cNvSpPr txBox="1"/>
                <p:nvPr/>
              </p:nvSpPr>
              <p:spPr>
                <a:xfrm>
                  <a:off x="722985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4E904219-3F19-09FF-64CC-70B525523DFB}"/>
                  </a:ext>
                </a:extLst>
              </p:cNvPr>
              <p:cNvGrpSpPr/>
              <p:nvPr/>
            </p:nvGrpSpPr>
            <p:grpSpPr>
              <a:xfrm>
                <a:off x="5898081" y="1579130"/>
                <a:ext cx="1622234" cy="307777"/>
                <a:chOff x="5898081" y="1409900"/>
                <a:chExt cx="1622234" cy="307777"/>
              </a:xfrm>
            </p:grpSpPr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40012398-D7FD-E35D-E982-CC4442BDFBEC}"/>
                    </a:ext>
                  </a:extLst>
                </p:cNvPr>
                <p:cNvSpPr txBox="1"/>
                <p:nvPr/>
              </p:nvSpPr>
              <p:spPr>
                <a:xfrm>
                  <a:off x="5898081" y="1409900"/>
                  <a:ext cx="30168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A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898E7C1-7FE8-4846-4D8A-D318036B6A05}"/>
                    </a:ext>
                  </a:extLst>
                </p:cNvPr>
                <p:cNvSpPr txBox="1"/>
                <p:nvPr/>
              </p:nvSpPr>
              <p:spPr>
                <a:xfrm>
                  <a:off x="6267809" y="1409900"/>
                  <a:ext cx="30168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B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A6292B2-8C9A-1002-A835-721F41567E4A}"/>
                    </a:ext>
                  </a:extLst>
                </p:cNvPr>
                <p:cNvSpPr txBox="1"/>
                <p:nvPr/>
              </p:nvSpPr>
              <p:spPr>
                <a:xfrm>
                  <a:off x="6605532" y="1409900"/>
                  <a:ext cx="30809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C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93673E4-E2C2-AC75-E0FC-A29144FED812}"/>
                    </a:ext>
                  </a:extLst>
                </p:cNvPr>
                <p:cNvSpPr txBox="1"/>
                <p:nvPr/>
              </p:nvSpPr>
              <p:spPr>
                <a:xfrm>
                  <a:off x="6922094" y="1409900"/>
                  <a:ext cx="30649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D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D50E5E36-65CD-CDC7-E53C-C9406A17FC5B}"/>
                    </a:ext>
                  </a:extLst>
                </p:cNvPr>
                <p:cNvSpPr txBox="1"/>
                <p:nvPr/>
              </p:nvSpPr>
              <p:spPr>
                <a:xfrm>
                  <a:off x="7229851" y="1409900"/>
                  <a:ext cx="2904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E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BCF7666-367D-0038-A69B-055F8D3B7057}"/>
                  </a:ext>
                </a:extLst>
              </p:cNvPr>
              <p:cNvGrpSpPr/>
              <p:nvPr/>
            </p:nvGrpSpPr>
            <p:grpSpPr>
              <a:xfrm>
                <a:off x="5898081" y="2354790"/>
                <a:ext cx="1627044" cy="307777"/>
                <a:chOff x="5898081" y="1973793"/>
                <a:chExt cx="1627044" cy="307777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82808EA-9524-4F2B-55B2-77697BD25974}"/>
                    </a:ext>
                  </a:extLst>
                </p:cNvPr>
                <p:cNvSpPr txBox="1"/>
                <p:nvPr/>
              </p:nvSpPr>
              <p:spPr>
                <a:xfrm>
                  <a:off x="589808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AD9D5E0C-BD0C-3A1D-0FBD-0864D1186BBF}"/>
                    </a:ext>
                  </a:extLst>
                </p:cNvPr>
                <p:cNvSpPr txBox="1"/>
                <p:nvPr/>
              </p:nvSpPr>
              <p:spPr>
                <a:xfrm>
                  <a:off x="6267809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004B7A8D-DED0-3123-A044-2CC4F80766AC}"/>
                    </a:ext>
                  </a:extLst>
                </p:cNvPr>
                <p:cNvSpPr txBox="1"/>
                <p:nvPr/>
              </p:nvSpPr>
              <p:spPr>
                <a:xfrm>
                  <a:off x="6605532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E672946-D29E-1A48-2A75-6B98C5CE0F5C}"/>
                    </a:ext>
                  </a:extLst>
                </p:cNvPr>
                <p:cNvSpPr txBox="1"/>
                <p:nvPr/>
              </p:nvSpPr>
              <p:spPr>
                <a:xfrm>
                  <a:off x="6922094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1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13B6B17-6931-9B86-FF96-F26D9C0BCAFB}"/>
                    </a:ext>
                  </a:extLst>
                </p:cNvPr>
                <p:cNvSpPr txBox="1"/>
                <p:nvPr/>
              </p:nvSpPr>
              <p:spPr>
                <a:xfrm>
                  <a:off x="722985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1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01BC406A-6F9D-DF8D-3BDC-0575DE8E8502}"/>
                  </a:ext>
                </a:extLst>
              </p:cNvPr>
              <p:cNvGrpSpPr/>
              <p:nvPr/>
            </p:nvGrpSpPr>
            <p:grpSpPr>
              <a:xfrm>
                <a:off x="5898081" y="2725572"/>
                <a:ext cx="1627044" cy="307777"/>
                <a:chOff x="5898081" y="1973793"/>
                <a:chExt cx="1627044" cy="307777"/>
              </a:xfrm>
            </p:grpSpPr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DE00730-FDD0-C86D-9D1F-35D31329E3A9}"/>
                    </a:ext>
                  </a:extLst>
                </p:cNvPr>
                <p:cNvSpPr txBox="1"/>
                <p:nvPr/>
              </p:nvSpPr>
              <p:spPr>
                <a:xfrm>
                  <a:off x="589808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721DF6A-111E-1874-B036-4AF8367E0070}"/>
                    </a:ext>
                  </a:extLst>
                </p:cNvPr>
                <p:cNvSpPr txBox="1"/>
                <p:nvPr/>
              </p:nvSpPr>
              <p:spPr>
                <a:xfrm>
                  <a:off x="6267809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D43E940-E72C-6FB3-4524-91BC67A6ACA4}"/>
                    </a:ext>
                  </a:extLst>
                </p:cNvPr>
                <p:cNvSpPr txBox="1"/>
                <p:nvPr/>
              </p:nvSpPr>
              <p:spPr>
                <a:xfrm>
                  <a:off x="6605532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7E4F2AA-1816-885A-C2A7-EB4F0E5A689A}"/>
                    </a:ext>
                  </a:extLst>
                </p:cNvPr>
                <p:cNvSpPr txBox="1"/>
                <p:nvPr/>
              </p:nvSpPr>
              <p:spPr>
                <a:xfrm>
                  <a:off x="6922094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1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273B61D6-CA95-4FCC-B6E7-88CBF867FFDE}"/>
                    </a:ext>
                  </a:extLst>
                </p:cNvPr>
                <p:cNvSpPr txBox="1"/>
                <p:nvPr/>
              </p:nvSpPr>
              <p:spPr>
                <a:xfrm>
                  <a:off x="722985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4129D353-55E9-4662-9519-C9896F5813E0}"/>
                  </a:ext>
                </a:extLst>
              </p:cNvPr>
              <p:cNvGrpSpPr/>
              <p:nvPr/>
            </p:nvGrpSpPr>
            <p:grpSpPr>
              <a:xfrm>
                <a:off x="5898081" y="3162854"/>
                <a:ext cx="1627044" cy="307777"/>
                <a:chOff x="5898081" y="1973793"/>
                <a:chExt cx="1627044" cy="307777"/>
              </a:xfrm>
            </p:grpSpPr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D4F5CD9-9A14-B3F6-A166-025CBB1E9B82}"/>
                    </a:ext>
                  </a:extLst>
                </p:cNvPr>
                <p:cNvSpPr txBox="1"/>
                <p:nvPr/>
              </p:nvSpPr>
              <p:spPr>
                <a:xfrm>
                  <a:off x="589808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1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C8F438D-CCAD-5254-EFC2-C67FB43A1BB3}"/>
                    </a:ext>
                  </a:extLst>
                </p:cNvPr>
                <p:cNvSpPr txBox="1"/>
                <p:nvPr/>
              </p:nvSpPr>
              <p:spPr>
                <a:xfrm>
                  <a:off x="6267809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553ECAE-F7FE-99C3-2257-7C2E0F3E5460}"/>
                    </a:ext>
                  </a:extLst>
                </p:cNvPr>
                <p:cNvSpPr txBox="1"/>
                <p:nvPr/>
              </p:nvSpPr>
              <p:spPr>
                <a:xfrm>
                  <a:off x="6605532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21025A8-7F34-A2B4-7438-F841565952E9}"/>
                    </a:ext>
                  </a:extLst>
                </p:cNvPr>
                <p:cNvSpPr txBox="1"/>
                <p:nvPr/>
              </p:nvSpPr>
              <p:spPr>
                <a:xfrm>
                  <a:off x="6922094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1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87D097D2-951E-0707-5C27-C3EF371498C0}"/>
                    </a:ext>
                  </a:extLst>
                </p:cNvPr>
                <p:cNvSpPr txBox="1"/>
                <p:nvPr/>
              </p:nvSpPr>
              <p:spPr>
                <a:xfrm>
                  <a:off x="722985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1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2B642E77-CDC3-F692-B164-DD052A4DA3B4}"/>
                  </a:ext>
                </a:extLst>
              </p:cNvPr>
              <p:cNvGrpSpPr/>
              <p:nvPr/>
            </p:nvGrpSpPr>
            <p:grpSpPr>
              <a:xfrm>
                <a:off x="5898081" y="3503712"/>
                <a:ext cx="1627044" cy="307777"/>
                <a:chOff x="5898081" y="1973793"/>
                <a:chExt cx="1627044" cy="307777"/>
              </a:xfrm>
            </p:grpSpPr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334DEF8C-B6C2-42D3-7FC2-020F95C5F8A2}"/>
                    </a:ext>
                  </a:extLst>
                </p:cNvPr>
                <p:cNvSpPr txBox="1"/>
                <p:nvPr/>
              </p:nvSpPr>
              <p:spPr>
                <a:xfrm>
                  <a:off x="589808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879ED091-F5A5-93B7-BADD-03F550CB58DF}"/>
                    </a:ext>
                  </a:extLst>
                </p:cNvPr>
                <p:cNvSpPr txBox="1"/>
                <p:nvPr/>
              </p:nvSpPr>
              <p:spPr>
                <a:xfrm>
                  <a:off x="6267809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56C4757B-0FBF-31F4-AE58-15977AE87D8D}"/>
                    </a:ext>
                  </a:extLst>
                </p:cNvPr>
                <p:cNvSpPr txBox="1"/>
                <p:nvPr/>
              </p:nvSpPr>
              <p:spPr>
                <a:xfrm>
                  <a:off x="6605532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B932778-E2C2-7198-4819-180D1C157350}"/>
                    </a:ext>
                  </a:extLst>
                </p:cNvPr>
                <p:cNvSpPr txBox="1"/>
                <p:nvPr/>
              </p:nvSpPr>
              <p:spPr>
                <a:xfrm>
                  <a:off x="6922094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6A00C83E-EBA3-95AE-543B-C57FCBF4858D}"/>
                    </a:ext>
                  </a:extLst>
                </p:cNvPr>
                <p:cNvSpPr txBox="1"/>
                <p:nvPr/>
              </p:nvSpPr>
              <p:spPr>
                <a:xfrm>
                  <a:off x="7229851" y="1973793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hivo" panose="020B0604020202020204" charset="0"/>
                    </a:rPr>
                    <a:t>0</a:t>
                  </a:r>
                  <a:endParaRPr lang="en-IN" dirty="0">
                    <a:latin typeface="Chivo" panose="020B0604020202020204" charset="0"/>
                  </a:endParaRPr>
                </a:p>
              </p:txBody>
            </p:sp>
          </p:grp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E0C2ACA-AA3A-2728-F1B4-F26D61D8D7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9096" y="1903448"/>
                <a:ext cx="2161404" cy="1329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339F70B-7219-988E-85E5-B7099E56CD4F}"/>
              </a:ext>
            </a:extLst>
          </p:cNvPr>
          <p:cNvGrpSpPr/>
          <p:nvPr/>
        </p:nvGrpSpPr>
        <p:grpSpPr>
          <a:xfrm>
            <a:off x="104695" y="1824078"/>
            <a:ext cx="4587710" cy="1805848"/>
            <a:chOff x="104695" y="1824078"/>
            <a:chExt cx="4587710" cy="1805848"/>
          </a:xfrm>
        </p:grpSpPr>
        <p:sp>
          <p:nvSpPr>
            <p:cNvPr id="110" name="Google Shape;477;p49">
              <a:extLst>
                <a:ext uri="{FF2B5EF4-FFF2-40B4-BE49-F238E27FC236}">
                  <a16:creationId xmlns:a16="http://schemas.microsoft.com/office/drawing/2014/main" id="{C3F6B5C6-55A8-5837-5725-2691DB071302}"/>
                </a:ext>
              </a:extLst>
            </p:cNvPr>
            <p:cNvSpPr txBox="1">
              <a:spLocks/>
            </p:cNvSpPr>
            <p:nvPr/>
          </p:nvSpPr>
          <p:spPr>
            <a:xfrm>
              <a:off x="104695" y="1824078"/>
              <a:ext cx="4587710" cy="42187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sz="1600" b="0" i="0" u="sng" dirty="0">
                  <a:solidFill>
                    <a:srgbClr val="252525"/>
                  </a:solidFill>
                  <a:effectLst/>
                  <a:latin typeface="Chivo" panose="020B0604020202020204" charset="0"/>
                </a:rPr>
                <a:t>Adjacency List</a:t>
              </a:r>
            </a:p>
          </p:txBody>
        </p:sp>
        <p:sp>
          <p:nvSpPr>
            <p:cNvPr id="111" name="Google Shape;477;p49">
              <a:extLst>
                <a:ext uri="{FF2B5EF4-FFF2-40B4-BE49-F238E27FC236}">
                  <a16:creationId xmlns:a16="http://schemas.microsoft.com/office/drawing/2014/main" id="{A2865686-D399-5124-8C6D-9497A1942492}"/>
                </a:ext>
              </a:extLst>
            </p:cNvPr>
            <p:cNvSpPr txBox="1">
              <a:spLocks/>
            </p:cNvSpPr>
            <p:nvPr/>
          </p:nvSpPr>
          <p:spPr>
            <a:xfrm>
              <a:off x="342476" y="2292999"/>
              <a:ext cx="4028271" cy="63444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IN" sz="1200" b="0" i="0" dirty="0">
                  <a:solidFill>
                    <a:srgbClr val="252525"/>
                  </a:solidFill>
                  <a:effectLst/>
                  <a:latin typeface="Chivo" panose="020B0604020202020204" charset="0"/>
                </a:rPr>
                <a:t>In this representation, every vertex of the graph contains a list of its adjacent vertices.</a:t>
              </a:r>
            </a:p>
          </p:txBody>
        </p:sp>
        <p:sp>
          <p:nvSpPr>
            <p:cNvPr id="112" name="Google Shape;477;p49">
              <a:extLst>
                <a:ext uri="{FF2B5EF4-FFF2-40B4-BE49-F238E27FC236}">
                  <a16:creationId xmlns:a16="http://schemas.microsoft.com/office/drawing/2014/main" id="{24224F1A-2FCB-446E-7FC5-CE62EB232081}"/>
                </a:ext>
              </a:extLst>
            </p:cNvPr>
            <p:cNvSpPr txBox="1">
              <a:spLocks/>
            </p:cNvSpPr>
            <p:nvPr/>
          </p:nvSpPr>
          <p:spPr>
            <a:xfrm>
              <a:off x="342476" y="2792693"/>
              <a:ext cx="4028271" cy="837233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IN" sz="1200" b="0" i="0" dirty="0">
                  <a:solidFill>
                    <a:srgbClr val="252525"/>
                  </a:solidFill>
                  <a:effectLst/>
                  <a:latin typeface="Chivo" panose="020B0604020202020204" charset="0"/>
                </a:rPr>
                <a:t>If the graph is not dense, i.e., the number of edges is less, then it is efficient to represent the graph through the adjacency list.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92F2D70-F9FA-7FCE-1F22-C76CED5EE13C}"/>
              </a:ext>
            </a:extLst>
          </p:cNvPr>
          <p:cNvGrpSpPr/>
          <p:nvPr/>
        </p:nvGrpSpPr>
        <p:grpSpPr>
          <a:xfrm>
            <a:off x="5576716" y="192672"/>
            <a:ext cx="3320160" cy="4552698"/>
            <a:chOff x="5576716" y="192672"/>
            <a:chExt cx="3320160" cy="4552698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6EC5617-D28B-CC0F-B2C8-4033B4157506}"/>
                </a:ext>
              </a:extLst>
            </p:cNvPr>
            <p:cNvGrpSpPr/>
            <p:nvPr/>
          </p:nvGrpSpPr>
          <p:grpSpPr>
            <a:xfrm>
              <a:off x="5576716" y="192672"/>
              <a:ext cx="2688065" cy="1632178"/>
              <a:chOff x="3952800" y="1158455"/>
              <a:chExt cx="3052027" cy="1853174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AFF84E08-AB1C-8349-4A17-C7D55941C7D8}"/>
                  </a:ext>
                </a:extLst>
              </p:cNvPr>
              <p:cNvSpPr/>
              <p:nvPr/>
            </p:nvSpPr>
            <p:spPr>
              <a:xfrm>
                <a:off x="3952800" y="115845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554728A2-BFFD-584A-9FE1-A9FB721C45B5}"/>
                  </a:ext>
                </a:extLst>
              </p:cNvPr>
              <p:cNvSpPr/>
              <p:nvPr/>
            </p:nvSpPr>
            <p:spPr>
              <a:xfrm>
                <a:off x="5558438" y="115845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8D0883ED-1E88-EBE1-DA1B-18103A392383}"/>
                  </a:ext>
                </a:extLst>
              </p:cNvPr>
              <p:cNvSpPr/>
              <p:nvPr/>
            </p:nvSpPr>
            <p:spPr>
              <a:xfrm>
                <a:off x="3952800" y="236290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985B8B9F-17D6-EC65-DDCF-7B6255D0FB67}"/>
                  </a:ext>
                </a:extLst>
              </p:cNvPr>
              <p:cNvSpPr/>
              <p:nvPr/>
            </p:nvSpPr>
            <p:spPr>
              <a:xfrm>
                <a:off x="5558438" y="236290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277F8702-A194-272C-4491-63D4DFE4E44F}"/>
                  </a:ext>
                </a:extLst>
              </p:cNvPr>
              <p:cNvSpPr/>
              <p:nvPr/>
            </p:nvSpPr>
            <p:spPr>
              <a:xfrm>
                <a:off x="6587138" y="1804105"/>
                <a:ext cx="417689" cy="4176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09" name="Straight Arrow Connector 208">
                <a:extLst>
                  <a:ext uri="{FF2B5EF4-FFF2-40B4-BE49-F238E27FC236}">
                    <a16:creationId xmlns:a16="http://schemas.microsoft.com/office/drawing/2014/main" id="{6A666379-067E-E2FB-0B91-376EC6BA85B3}"/>
                  </a:ext>
                </a:extLst>
              </p:cNvPr>
              <p:cNvCxnSpPr>
                <a:cxnSpLocks/>
                <a:endCxn id="205" idx="2"/>
              </p:cNvCxnSpPr>
              <p:nvPr/>
            </p:nvCxnSpPr>
            <p:spPr>
              <a:xfrm>
                <a:off x="4370489" y="1367299"/>
                <a:ext cx="1187949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754C2038-829B-F721-5CBF-16D68A3210FA}"/>
                  </a:ext>
                </a:extLst>
              </p:cNvPr>
              <p:cNvCxnSpPr>
                <a:cxnSpLocks/>
                <a:stCxn id="204" idx="4"/>
                <a:endCxn id="206" idx="0"/>
              </p:cNvCxnSpPr>
              <p:nvPr/>
            </p:nvCxnSpPr>
            <p:spPr>
              <a:xfrm>
                <a:off x="4161645" y="1576144"/>
                <a:ext cx="0" cy="78676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>
                <a:extLst>
                  <a:ext uri="{FF2B5EF4-FFF2-40B4-BE49-F238E27FC236}">
                    <a16:creationId xmlns:a16="http://schemas.microsoft.com/office/drawing/2014/main" id="{C88D6F7A-5DB2-2ADA-2890-2A9B416CBE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0489" y="2539880"/>
                <a:ext cx="1187949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957E22E8-F300-3410-372D-095CCFD4E1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6027" y="1586460"/>
                <a:ext cx="0" cy="78676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78232071-5946-88C1-A0ED-2AA0F66EE6F6}"/>
                  </a:ext>
                </a:extLst>
              </p:cNvPr>
              <p:cNvCxnSpPr>
                <a:cxnSpLocks/>
                <a:endCxn id="208" idx="3"/>
              </p:cNvCxnSpPr>
              <p:nvPr/>
            </p:nvCxnSpPr>
            <p:spPr>
              <a:xfrm flipV="1">
                <a:off x="5984871" y="2160625"/>
                <a:ext cx="663436" cy="38957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Straight Arrow Connector 213">
                <a:extLst>
                  <a:ext uri="{FF2B5EF4-FFF2-40B4-BE49-F238E27FC236}">
                    <a16:creationId xmlns:a16="http://schemas.microsoft.com/office/drawing/2014/main" id="{AC9F461E-346C-03BB-8212-9C7263306B00}"/>
                  </a:ext>
                </a:extLst>
              </p:cNvPr>
              <p:cNvCxnSpPr>
                <a:cxnSpLocks/>
                <a:stCxn id="205" idx="6"/>
                <a:endCxn id="208" idx="1"/>
              </p:cNvCxnSpPr>
              <p:nvPr/>
            </p:nvCxnSpPr>
            <p:spPr>
              <a:xfrm>
                <a:off x="5976127" y="1367300"/>
                <a:ext cx="672180" cy="49797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CFBF614-5B5F-3378-6DD3-920F32A430A7}"/>
                  </a:ext>
                </a:extLst>
              </p:cNvPr>
              <p:cNvSpPr txBox="1"/>
              <p:nvPr/>
            </p:nvSpPr>
            <p:spPr>
              <a:xfrm>
                <a:off x="4013969" y="1242753"/>
                <a:ext cx="2856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A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78BA0D8E-73AB-69DB-00BC-BB549DE31371}"/>
                  </a:ext>
                </a:extLst>
              </p:cNvPr>
              <p:cNvSpPr txBox="1"/>
              <p:nvPr/>
            </p:nvSpPr>
            <p:spPr>
              <a:xfrm>
                <a:off x="5636626" y="1242753"/>
                <a:ext cx="2840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B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4DCD3E69-5E08-5A46-95A4-5A4A53B3D294}"/>
                  </a:ext>
                </a:extLst>
              </p:cNvPr>
              <p:cNvSpPr txBox="1"/>
              <p:nvPr/>
            </p:nvSpPr>
            <p:spPr>
              <a:xfrm>
                <a:off x="4013969" y="2438408"/>
                <a:ext cx="2872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C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6857EE48-4801-A178-ECEB-3CA9965189B3}"/>
                  </a:ext>
                </a:extLst>
              </p:cNvPr>
              <p:cNvSpPr txBox="1"/>
              <p:nvPr/>
            </p:nvSpPr>
            <p:spPr>
              <a:xfrm>
                <a:off x="5636626" y="243840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D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2016168-E03B-21E1-0B88-8B6F74D90026}"/>
                  </a:ext>
                </a:extLst>
              </p:cNvPr>
              <p:cNvSpPr txBox="1"/>
              <p:nvPr/>
            </p:nvSpPr>
            <p:spPr>
              <a:xfrm>
                <a:off x="6659528" y="1883626"/>
                <a:ext cx="2760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Chivo" panose="020B0604020202020204" charset="0"/>
                  </a:rPr>
                  <a:t>E</a:t>
                </a:r>
                <a:endParaRPr lang="en-IN" sz="1200" dirty="0">
                  <a:latin typeface="Chivo" panose="020B0604020202020204" charset="0"/>
                </a:endParaRPr>
              </a:p>
            </p:txBody>
          </p:sp>
          <p:cxnSp>
            <p:nvCxnSpPr>
              <p:cNvPr id="220" name="Straight Arrow Connector 219">
                <a:extLst>
                  <a:ext uri="{FF2B5EF4-FFF2-40B4-BE49-F238E27FC236}">
                    <a16:creationId xmlns:a16="http://schemas.microsoft.com/office/drawing/2014/main" id="{1732D7CA-2794-F52B-ED86-EC76C614E690}"/>
                  </a:ext>
                </a:extLst>
              </p:cNvPr>
              <p:cNvCxnSpPr>
                <a:cxnSpLocks/>
                <a:stCxn id="207" idx="1"/>
                <a:endCxn id="204" idx="5"/>
              </p:cNvCxnSpPr>
              <p:nvPr/>
            </p:nvCxnSpPr>
            <p:spPr>
              <a:xfrm flipH="1" flipV="1">
                <a:off x="4309320" y="1514975"/>
                <a:ext cx="1310287" cy="90909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E7DB7A02-D089-6532-9EB5-E00B3E43F44F}"/>
                  </a:ext>
                </a:extLst>
              </p:cNvPr>
              <p:cNvSpPr/>
              <p:nvPr/>
            </p:nvSpPr>
            <p:spPr>
              <a:xfrm>
                <a:off x="5560099" y="2644140"/>
                <a:ext cx="485152" cy="367489"/>
              </a:xfrm>
              <a:custGeom>
                <a:avLst/>
                <a:gdLst>
                  <a:gd name="connsiteX0" fmla="*/ 2501 w 485152"/>
                  <a:gd name="connsiteY0" fmla="*/ 0 h 367489"/>
                  <a:gd name="connsiteX1" fmla="*/ 71081 w 485152"/>
                  <a:gd name="connsiteY1" fmla="*/ 350520 h 367489"/>
                  <a:gd name="connsiteX2" fmla="*/ 474941 w 485152"/>
                  <a:gd name="connsiteY2" fmla="*/ 281940 h 367489"/>
                  <a:gd name="connsiteX3" fmla="*/ 383501 w 485152"/>
                  <a:gd name="connsiteY3" fmla="*/ 15240 h 36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52" h="367489">
                    <a:moveTo>
                      <a:pt x="2501" y="0"/>
                    </a:moveTo>
                    <a:cubicBezTo>
                      <a:pt x="-2579" y="151765"/>
                      <a:pt x="-7659" y="303530"/>
                      <a:pt x="71081" y="350520"/>
                    </a:cubicBezTo>
                    <a:cubicBezTo>
                      <a:pt x="149821" y="397510"/>
                      <a:pt x="422871" y="337820"/>
                      <a:pt x="474941" y="281940"/>
                    </a:cubicBezTo>
                    <a:cubicBezTo>
                      <a:pt x="527011" y="226060"/>
                      <a:pt x="361911" y="24130"/>
                      <a:pt x="383501" y="15240"/>
                    </a:cubicBezTo>
                  </a:path>
                </a:pathLst>
              </a:cu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BD2E62D7-F126-445B-2319-56602DB79EB2}"/>
                </a:ext>
              </a:extLst>
            </p:cNvPr>
            <p:cNvGrpSpPr/>
            <p:nvPr/>
          </p:nvGrpSpPr>
          <p:grpSpPr>
            <a:xfrm>
              <a:off x="5633394" y="2199479"/>
              <a:ext cx="3263482" cy="2102476"/>
              <a:chOff x="4227412" y="1900457"/>
              <a:chExt cx="5293938" cy="3000910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657745F8-5A3A-21D2-70AE-FF9763283631}"/>
                  </a:ext>
                </a:extLst>
              </p:cNvPr>
              <p:cNvGrpSpPr/>
              <p:nvPr/>
            </p:nvGrpSpPr>
            <p:grpSpPr>
              <a:xfrm>
                <a:off x="4227412" y="1900457"/>
                <a:ext cx="5293938" cy="3000910"/>
                <a:chOff x="4227412" y="1900457"/>
                <a:chExt cx="5293938" cy="3000910"/>
              </a:xfrm>
            </p:grpSpPr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41F0610D-9185-3D5A-EDD0-D1E140DC68E8}"/>
                    </a:ext>
                  </a:extLst>
                </p:cNvPr>
                <p:cNvGrpSpPr/>
                <p:nvPr/>
              </p:nvGrpSpPr>
              <p:grpSpPr>
                <a:xfrm>
                  <a:off x="4227412" y="1900457"/>
                  <a:ext cx="5293938" cy="3000910"/>
                  <a:chOff x="4227412" y="1900457"/>
                  <a:chExt cx="5293938" cy="3000910"/>
                </a:xfrm>
              </p:grpSpPr>
              <p:grpSp>
                <p:nvGrpSpPr>
                  <p:cNvPr id="145" name="Group 144">
                    <a:extLst>
                      <a:ext uri="{FF2B5EF4-FFF2-40B4-BE49-F238E27FC236}">
                        <a16:creationId xmlns:a16="http://schemas.microsoft.com/office/drawing/2014/main" id="{7BC67FD8-EB19-DB96-C5E0-9BB12695B4AD}"/>
                      </a:ext>
                    </a:extLst>
                  </p:cNvPr>
                  <p:cNvGrpSpPr/>
                  <p:nvPr/>
                </p:nvGrpSpPr>
                <p:grpSpPr>
                  <a:xfrm>
                    <a:off x="4227412" y="1900457"/>
                    <a:ext cx="5293938" cy="2953801"/>
                    <a:chOff x="4227412" y="1900457"/>
                    <a:chExt cx="5293938" cy="2953801"/>
                  </a:xfrm>
                </p:grpSpPr>
                <p:grpSp>
                  <p:nvGrpSpPr>
                    <p:cNvPr id="162" name="Group 161">
                      <a:extLst>
                        <a:ext uri="{FF2B5EF4-FFF2-40B4-BE49-F238E27FC236}">
                          <a16:creationId xmlns:a16="http://schemas.microsoft.com/office/drawing/2014/main" id="{871A6118-B10F-81EA-9CB6-53F7B0B79F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27412" y="1900457"/>
                      <a:ext cx="1029938" cy="2953801"/>
                      <a:chOff x="4964462" y="1900457"/>
                      <a:chExt cx="1029938" cy="2953801"/>
                    </a:xfrm>
                  </p:grpSpPr>
                  <p:grpSp>
                    <p:nvGrpSpPr>
                      <p:cNvPr id="189" name="Group 188">
                        <a:extLst>
                          <a:ext uri="{FF2B5EF4-FFF2-40B4-BE49-F238E27FC236}">
                            <a16:creationId xmlns:a16="http://schemas.microsoft.com/office/drawing/2014/main" id="{AE586B02-25F1-1C1B-29FA-573073E5A6A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64462" y="1900457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202" name="Rectangle: Rounded Corners 201">
                          <a:extLst>
                            <a:ext uri="{FF2B5EF4-FFF2-40B4-BE49-F238E27FC236}">
                              <a16:creationId xmlns:a16="http://schemas.microsoft.com/office/drawing/2014/main" id="{C33A27F2-ABB2-EA21-C050-2B256CA5AAB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203" name="Straight Connector 202">
                          <a:extLst>
                            <a:ext uri="{FF2B5EF4-FFF2-40B4-BE49-F238E27FC236}">
                              <a16:creationId xmlns:a16="http://schemas.microsoft.com/office/drawing/2014/main" id="{51832C35-FBEA-5AA4-9CFC-51C7C36D7E1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90" name="Group 189">
                        <a:extLst>
                          <a:ext uri="{FF2B5EF4-FFF2-40B4-BE49-F238E27FC236}">
                            <a16:creationId xmlns:a16="http://schemas.microsoft.com/office/drawing/2014/main" id="{759937BF-657D-1A5B-F6FF-DF35A98A607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64462" y="2548859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200" name="Rectangle: Rounded Corners 199">
                          <a:extLst>
                            <a:ext uri="{FF2B5EF4-FFF2-40B4-BE49-F238E27FC236}">
                              <a16:creationId xmlns:a16="http://schemas.microsoft.com/office/drawing/2014/main" id="{46E10C71-0389-BA42-0E58-DFD92B4CBB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201" name="Straight Connector 200">
                          <a:extLst>
                            <a:ext uri="{FF2B5EF4-FFF2-40B4-BE49-F238E27FC236}">
                              <a16:creationId xmlns:a16="http://schemas.microsoft.com/office/drawing/2014/main" id="{5595F8F9-3BD9-5FCE-DF96-E18DCD58BED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91" name="Group 190">
                        <a:extLst>
                          <a:ext uri="{FF2B5EF4-FFF2-40B4-BE49-F238E27FC236}">
                            <a16:creationId xmlns:a16="http://schemas.microsoft.com/office/drawing/2014/main" id="{80D4ABAE-67CA-AFBC-15C7-748F453D5B0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64462" y="3177920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98" name="Rectangle: Rounded Corners 197">
                          <a:extLst>
                            <a:ext uri="{FF2B5EF4-FFF2-40B4-BE49-F238E27FC236}">
                              <a16:creationId xmlns:a16="http://schemas.microsoft.com/office/drawing/2014/main" id="{B9DE2803-C36F-F7B2-FAA4-10AF41A79D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99" name="Straight Connector 198">
                          <a:extLst>
                            <a:ext uri="{FF2B5EF4-FFF2-40B4-BE49-F238E27FC236}">
                              <a16:creationId xmlns:a16="http://schemas.microsoft.com/office/drawing/2014/main" id="{123264C8-7C31-19B5-A783-AC37F625101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92" name="Group 191">
                        <a:extLst>
                          <a:ext uri="{FF2B5EF4-FFF2-40B4-BE49-F238E27FC236}">
                            <a16:creationId xmlns:a16="http://schemas.microsoft.com/office/drawing/2014/main" id="{477F7EB3-65E8-8F56-A1A6-68EF13CC606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64462" y="3799108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96" name="Rectangle: Rounded Corners 195">
                          <a:extLst>
                            <a:ext uri="{FF2B5EF4-FFF2-40B4-BE49-F238E27FC236}">
                              <a16:creationId xmlns:a16="http://schemas.microsoft.com/office/drawing/2014/main" id="{4E37FEA8-B2EA-8782-9D1C-54414CE380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97" name="Straight Connector 196">
                          <a:extLst>
                            <a:ext uri="{FF2B5EF4-FFF2-40B4-BE49-F238E27FC236}">
                              <a16:creationId xmlns:a16="http://schemas.microsoft.com/office/drawing/2014/main" id="{321D10AA-7773-E9D6-58F9-C8AF311DD95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93" name="Group 192">
                        <a:extLst>
                          <a:ext uri="{FF2B5EF4-FFF2-40B4-BE49-F238E27FC236}">
                            <a16:creationId xmlns:a16="http://schemas.microsoft.com/office/drawing/2014/main" id="{FE411855-079F-ED4B-030F-FBBC8A3E7B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64462" y="4436571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94" name="Rectangle: Rounded Corners 193">
                          <a:extLst>
                            <a:ext uri="{FF2B5EF4-FFF2-40B4-BE49-F238E27FC236}">
                              <a16:creationId xmlns:a16="http://schemas.microsoft.com/office/drawing/2014/main" id="{8B13FD9E-63E6-7254-2343-76BE404CE0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95" name="Straight Connector 194">
                          <a:extLst>
                            <a:ext uri="{FF2B5EF4-FFF2-40B4-BE49-F238E27FC236}">
                              <a16:creationId xmlns:a16="http://schemas.microsoft.com/office/drawing/2014/main" id="{560E1395-48DB-D6B2-B88E-E002960A378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163" name="Group 162">
                      <a:extLst>
                        <a:ext uri="{FF2B5EF4-FFF2-40B4-BE49-F238E27FC236}">
                          <a16:creationId xmlns:a16="http://schemas.microsoft.com/office/drawing/2014/main" id="{4C527D92-3808-6550-9823-820BC60ECC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32094" y="1900457"/>
                      <a:ext cx="1029938" cy="2316338"/>
                      <a:chOff x="5632094" y="1900457"/>
                      <a:chExt cx="1029938" cy="2316338"/>
                    </a:xfrm>
                  </p:grpSpPr>
                  <p:grpSp>
                    <p:nvGrpSpPr>
                      <p:cNvPr id="177" name="Group 176">
                        <a:extLst>
                          <a:ext uri="{FF2B5EF4-FFF2-40B4-BE49-F238E27FC236}">
                            <a16:creationId xmlns:a16="http://schemas.microsoft.com/office/drawing/2014/main" id="{C8739E57-8F5E-AB8B-3398-2401990C28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2094" y="1900457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87" name="Rectangle: Rounded Corners 186">
                          <a:extLst>
                            <a:ext uri="{FF2B5EF4-FFF2-40B4-BE49-F238E27FC236}">
                              <a16:creationId xmlns:a16="http://schemas.microsoft.com/office/drawing/2014/main" id="{A6FFFA29-5D76-2F6A-40D2-FFDCEB8AC4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88" name="Straight Connector 187">
                          <a:extLst>
                            <a:ext uri="{FF2B5EF4-FFF2-40B4-BE49-F238E27FC236}">
                              <a16:creationId xmlns:a16="http://schemas.microsoft.com/office/drawing/2014/main" id="{42E474AB-F974-3E53-ACCD-3E06650F866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617C0D8-1D48-7118-03C7-EF665E74856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2094" y="2548859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85" name="Rectangle: Rounded Corners 184">
                          <a:extLst>
                            <a:ext uri="{FF2B5EF4-FFF2-40B4-BE49-F238E27FC236}">
                              <a16:creationId xmlns:a16="http://schemas.microsoft.com/office/drawing/2014/main" id="{8AD835B5-B0F8-AA4A-6D1F-57DD78836D5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86" name="Straight Connector 185">
                          <a:extLst>
                            <a:ext uri="{FF2B5EF4-FFF2-40B4-BE49-F238E27FC236}">
                              <a16:creationId xmlns:a16="http://schemas.microsoft.com/office/drawing/2014/main" id="{ECF93B95-E977-CA81-B3F9-8D368DACB5B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79" name="Group 178">
                        <a:extLst>
                          <a:ext uri="{FF2B5EF4-FFF2-40B4-BE49-F238E27FC236}">
                            <a16:creationId xmlns:a16="http://schemas.microsoft.com/office/drawing/2014/main" id="{8C9032B7-4E04-26BF-6D90-D8B50309764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2094" y="3177920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83" name="Rectangle: Rounded Corners 182">
                          <a:extLst>
                            <a:ext uri="{FF2B5EF4-FFF2-40B4-BE49-F238E27FC236}">
                              <a16:creationId xmlns:a16="http://schemas.microsoft.com/office/drawing/2014/main" id="{A0397F8F-5298-0FA8-D432-9E3343421F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84" name="Straight Connector 183">
                          <a:extLst>
                            <a:ext uri="{FF2B5EF4-FFF2-40B4-BE49-F238E27FC236}">
                              <a16:creationId xmlns:a16="http://schemas.microsoft.com/office/drawing/2014/main" id="{C6D0A811-33B8-AF2F-F9CE-7477A16AD4E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80" name="Group 179">
                        <a:extLst>
                          <a:ext uri="{FF2B5EF4-FFF2-40B4-BE49-F238E27FC236}">
                            <a16:creationId xmlns:a16="http://schemas.microsoft.com/office/drawing/2014/main" id="{F8C24959-EA20-722C-36FF-9608A43FE5C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2094" y="3799108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81" name="Rectangle: Rounded Corners 180">
                          <a:extLst>
                            <a:ext uri="{FF2B5EF4-FFF2-40B4-BE49-F238E27FC236}">
                              <a16:creationId xmlns:a16="http://schemas.microsoft.com/office/drawing/2014/main" id="{7DF3A273-5411-07DA-F076-7EC055961C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82" name="Straight Connector 181">
                          <a:extLst>
                            <a:ext uri="{FF2B5EF4-FFF2-40B4-BE49-F238E27FC236}">
                              <a16:creationId xmlns:a16="http://schemas.microsoft.com/office/drawing/2014/main" id="{B551ED03-FF2D-F1A4-E726-AEEB14FD4BB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164" name="Group 163">
                      <a:extLst>
                        <a:ext uri="{FF2B5EF4-FFF2-40B4-BE49-F238E27FC236}">
                          <a16:creationId xmlns:a16="http://schemas.microsoft.com/office/drawing/2014/main" id="{547CA00E-B621-FE57-9CA5-13C6222A4E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22865" y="1900457"/>
                      <a:ext cx="1029938" cy="2316338"/>
                      <a:chOff x="5632094" y="1900457"/>
                      <a:chExt cx="1029938" cy="2316338"/>
                    </a:xfrm>
                  </p:grpSpPr>
                  <p:grpSp>
                    <p:nvGrpSpPr>
                      <p:cNvPr id="168" name="Group 167">
                        <a:extLst>
                          <a:ext uri="{FF2B5EF4-FFF2-40B4-BE49-F238E27FC236}">
                            <a16:creationId xmlns:a16="http://schemas.microsoft.com/office/drawing/2014/main" id="{31680CA9-2302-54A0-8B7A-043BB5F753E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2094" y="1900457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75" name="Rectangle: Rounded Corners 174">
                          <a:extLst>
                            <a:ext uri="{FF2B5EF4-FFF2-40B4-BE49-F238E27FC236}">
                              <a16:creationId xmlns:a16="http://schemas.microsoft.com/office/drawing/2014/main" id="{13BDA27C-69AD-BC81-9126-42B8D2445E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76" name="Straight Connector 175">
                          <a:extLst>
                            <a:ext uri="{FF2B5EF4-FFF2-40B4-BE49-F238E27FC236}">
                              <a16:creationId xmlns:a16="http://schemas.microsoft.com/office/drawing/2014/main" id="{E0D5ACA6-0A07-B729-9A99-243BC754142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69" name="Group 168">
                        <a:extLst>
                          <a:ext uri="{FF2B5EF4-FFF2-40B4-BE49-F238E27FC236}">
                            <a16:creationId xmlns:a16="http://schemas.microsoft.com/office/drawing/2014/main" id="{2C7E9631-F4E6-44F2-C289-2B9F3FAE1DE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2094" y="2548859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73" name="Rectangle: Rounded Corners 172">
                          <a:extLst>
                            <a:ext uri="{FF2B5EF4-FFF2-40B4-BE49-F238E27FC236}">
                              <a16:creationId xmlns:a16="http://schemas.microsoft.com/office/drawing/2014/main" id="{D0974F9A-CDB1-4BF8-67CF-85F89AE315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74" name="Straight Connector 173">
                          <a:extLst>
                            <a:ext uri="{FF2B5EF4-FFF2-40B4-BE49-F238E27FC236}">
                              <a16:creationId xmlns:a16="http://schemas.microsoft.com/office/drawing/2014/main" id="{9F1D2DA8-13F9-B196-97CF-1CEE22D5307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70" name="Group 169">
                        <a:extLst>
                          <a:ext uri="{FF2B5EF4-FFF2-40B4-BE49-F238E27FC236}">
                            <a16:creationId xmlns:a16="http://schemas.microsoft.com/office/drawing/2014/main" id="{33AF3FF0-3456-73EF-7F17-3379F89A7D0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2094" y="3799108"/>
                        <a:ext cx="1029938" cy="417687"/>
                        <a:chOff x="4964462" y="1900457"/>
                        <a:chExt cx="1029938" cy="417687"/>
                      </a:xfrm>
                    </p:grpSpPr>
                    <p:sp>
                      <p:nvSpPr>
                        <p:cNvPr id="171" name="Rectangle: Rounded Corners 170">
                          <a:extLst>
                            <a:ext uri="{FF2B5EF4-FFF2-40B4-BE49-F238E27FC236}">
                              <a16:creationId xmlns:a16="http://schemas.microsoft.com/office/drawing/2014/main" id="{EE5ED314-2412-CE24-B145-FF2BC5DA21B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4462" y="1900457"/>
                          <a:ext cx="1029938" cy="417687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cxnSp>
                      <p:nvCxnSpPr>
                        <p:cNvPr id="172" name="Straight Connector 171">
                          <a:extLst>
                            <a:ext uri="{FF2B5EF4-FFF2-40B4-BE49-F238E27FC236}">
                              <a16:creationId xmlns:a16="http://schemas.microsoft.com/office/drawing/2014/main" id="{8352C954-D03A-D123-62D2-63E361AF092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469906" y="1900457"/>
                          <a:ext cx="0" cy="417687"/>
                        </a:xfrm>
                        <a:prstGeom prst="line">
                          <a:avLst/>
                        </a:prstGeom>
                        <a:ln w="1905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165" name="Group 164">
                      <a:extLst>
                        <a:ext uri="{FF2B5EF4-FFF2-40B4-BE49-F238E27FC236}">
                          <a16:creationId xmlns:a16="http://schemas.microsoft.com/office/drawing/2014/main" id="{05C4544C-5AA4-D00A-08D0-B1406FD4A5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491412" y="3799108"/>
                      <a:ext cx="1029938" cy="417687"/>
                      <a:chOff x="4964462" y="1900457"/>
                      <a:chExt cx="1029938" cy="417687"/>
                    </a:xfrm>
                  </p:grpSpPr>
                  <p:sp>
                    <p:nvSpPr>
                      <p:cNvPr id="166" name="Rectangle: Rounded Corners 165">
                        <a:extLst>
                          <a:ext uri="{FF2B5EF4-FFF2-40B4-BE49-F238E27FC236}">
                            <a16:creationId xmlns:a16="http://schemas.microsoft.com/office/drawing/2014/main" id="{40009EBE-AB5A-3354-4757-3724175784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64462" y="1900457"/>
                        <a:ext cx="1029938" cy="417687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/>
                      </a:p>
                    </p:txBody>
                  </p:sp>
                  <p:cxnSp>
                    <p:nvCxnSpPr>
                      <p:cNvPr id="167" name="Straight Connector 166">
                        <a:extLst>
                          <a:ext uri="{FF2B5EF4-FFF2-40B4-BE49-F238E27FC236}">
                            <a16:creationId xmlns:a16="http://schemas.microsoft.com/office/drawing/2014/main" id="{DBA320B4-C03F-301F-6131-CF1F11B73D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469906" y="1900457"/>
                        <a:ext cx="0" cy="417687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46" name="Group 145">
                    <a:extLst>
                      <a:ext uri="{FF2B5EF4-FFF2-40B4-BE49-F238E27FC236}">
                        <a16:creationId xmlns:a16="http://schemas.microsoft.com/office/drawing/2014/main" id="{622E1985-F9A4-D8EA-040A-0E5AE1A3F7E7}"/>
                      </a:ext>
                    </a:extLst>
                  </p:cNvPr>
                  <p:cNvGrpSpPr/>
                  <p:nvPr/>
                </p:nvGrpSpPr>
                <p:grpSpPr>
                  <a:xfrm>
                    <a:off x="4312460" y="1918895"/>
                    <a:ext cx="497186" cy="2982472"/>
                    <a:chOff x="4312460" y="1918895"/>
                    <a:chExt cx="497186" cy="2982472"/>
                  </a:xfrm>
                </p:grpSpPr>
                <p:sp>
                  <p:nvSpPr>
                    <p:cNvPr id="157" name="TextBox 156">
                      <a:extLst>
                        <a:ext uri="{FF2B5EF4-FFF2-40B4-BE49-F238E27FC236}">
                          <a16:creationId xmlns:a16="http://schemas.microsoft.com/office/drawing/2014/main" id="{68A3967F-AA1E-B77B-04D1-881EBC26C1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1918895"/>
                      <a:ext cx="489388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A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  <p:sp>
                  <p:nvSpPr>
                    <p:cNvPr id="158" name="TextBox 157">
                      <a:extLst>
                        <a:ext uri="{FF2B5EF4-FFF2-40B4-BE49-F238E27FC236}">
                          <a16:creationId xmlns:a16="http://schemas.microsoft.com/office/drawing/2014/main" id="{15FAE7CC-D9EF-1276-654E-D27DC946BA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2580006"/>
                      <a:ext cx="489388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B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  <p:sp>
                  <p:nvSpPr>
                    <p:cNvPr id="159" name="TextBox 158">
                      <a:extLst>
                        <a:ext uri="{FF2B5EF4-FFF2-40B4-BE49-F238E27FC236}">
                          <a16:creationId xmlns:a16="http://schemas.microsoft.com/office/drawing/2014/main" id="{A13CFDDB-580A-C720-3E7C-D82E6C226C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3191465"/>
                      <a:ext cx="491987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C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34AA59A2-CC7F-1ECA-64B7-0AB172442B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3832768"/>
                      <a:ext cx="497186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D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  <p:sp>
                  <p:nvSpPr>
                    <p:cNvPr id="161" name="TextBox 160">
                      <a:extLst>
                        <a:ext uri="{FF2B5EF4-FFF2-40B4-BE49-F238E27FC236}">
                          <a16:creationId xmlns:a16="http://schemas.microsoft.com/office/drawing/2014/main" id="{84FD2583-187C-BFED-5764-2E03C2558A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4462070"/>
                      <a:ext cx="471184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E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</p:grpSp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DBFC3CFB-0CAD-5DE9-88F7-A50E0E6B57D3}"/>
                      </a:ext>
                    </a:extLst>
                  </p:cNvPr>
                  <p:cNvGrpSpPr/>
                  <p:nvPr/>
                </p:nvGrpSpPr>
                <p:grpSpPr>
                  <a:xfrm>
                    <a:off x="5713230" y="1918895"/>
                    <a:ext cx="497188" cy="2353169"/>
                    <a:chOff x="4312460" y="1918895"/>
                    <a:chExt cx="497188" cy="2353169"/>
                  </a:xfrm>
                </p:grpSpPr>
                <p:sp>
                  <p:nvSpPr>
                    <p:cNvPr id="153" name="TextBox 152">
                      <a:extLst>
                        <a:ext uri="{FF2B5EF4-FFF2-40B4-BE49-F238E27FC236}">
                          <a16:creationId xmlns:a16="http://schemas.microsoft.com/office/drawing/2014/main" id="{06A09B86-741E-94CA-851D-454B127214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1918895"/>
                      <a:ext cx="489387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B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  <p:sp>
                  <p:nvSpPr>
                    <p:cNvPr id="154" name="TextBox 153">
                      <a:extLst>
                        <a:ext uri="{FF2B5EF4-FFF2-40B4-BE49-F238E27FC236}">
                          <a16:creationId xmlns:a16="http://schemas.microsoft.com/office/drawing/2014/main" id="{4CC0D9F6-F553-AF24-E17E-3F22FA10C4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2580008"/>
                      <a:ext cx="497186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D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  <p:sp>
                  <p:nvSpPr>
                    <p:cNvPr id="155" name="TextBox 154">
                      <a:extLst>
                        <a:ext uri="{FF2B5EF4-FFF2-40B4-BE49-F238E27FC236}">
                          <a16:creationId xmlns:a16="http://schemas.microsoft.com/office/drawing/2014/main" id="{58977BEC-5D3E-0DDE-1240-BBB8768251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3191466"/>
                      <a:ext cx="497188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D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  <p:sp>
                  <p:nvSpPr>
                    <p:cNvPr id="156" name="TextBox 155">
                      <a:extLst>
                        <a:ext uri="{FF2B5EF4-FFF2-40B4-BE49-F238E27FC236}">
                          <a16:creationId xmlns:a16="http://schemas.microsoft.com/office/drawing/2014/main" id="{A4736842-A235-9836-EE63-7DEF242744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3832767"/>
                      <a:ext cx="489387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A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</p:grpSp>
              <p:grpSp>
                <p:nvGrpSpPr>
                  <p:cNvPr id="148" name="Group 147">
                    <a:extLst>
                      <a:ext uri="{FF2B5EF4-FFF2-40B4-BE49-F238E27FC236}">
                        <a16:creationId xmlns:a16="http://schemas.microsoft.com/office/drawing/2014/main" id="{B424C97D-218D-1BC3-4EFC-E8FD49E0E1A8}"/>
                      </a:ext>
                    </a:extLst>
                  </p:cNvPr>
                  <p:cNvGrpSpPr/>
                  <p:nvPr/>
                </p:nvGrpSpPr>
                <p:grpSpPr>
                  <a:xfrm>
                    <a:off x="7132568" y="1918895"/>
                    <a:ext cx="497186" cy="2353169"/>
                    <a:chOff x="4312460" y="1918895"/>
                    <a:chExt cx="497186" cy="2353169"/>
                  </a:xfrm>
                </p:grpSpPr>
                <p:sp>
                  <p:nvSpPr>
                    <p:cNvPr id="150" name="TextBox 149">
                      <a:extLst>
                        <a:ext uri="{FF2B5EF4-FFF2-40B4-BE49-F238E27FC236}">
                          <a16:creationId xmlns:a16="http://schemas.microsoft.com/office/drawing/2014/main" id="{1E58E15F-519A-363F-F8EA-ECCD0DBF28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1918895"/>
                      <a:ext cx="491987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C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  <p:sp>
                  <p:nvSpPr>
                    <p:cNvPr id="151" name="TextBox 150">
                      <a:extLst>
                        <a:ext uri="{FF2B5EF4-FFF2-40B4-BE49-F238E27FC236}">
                          <a16:creationId xmlns:a16="http://schemas.microsoft.com/office/drawing/2014/main" id="{816C132D-5860-8520-1BD8-0EFD040DD0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2580008"/>
                      <a:ext cx="471183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E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  <p:sp>
                  <p:nvSpPr>
                    <p:cNvPr id="152" name="TextBox 151">
                      <a:extLst>
                        <a:ext uri="{FF2B5EF4-FFF2-40B4-BE49-F238E27FC236}">
                          <a16:creationId xmlns:a16="http://schemas.microsoft.com/office/drawing/2014/main" id="{8225B19E-F8AB-8D00-C050-01B3D69273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2460" y="3832767"/>
                      <a:ext cx="497186" cy="43929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hivo" panose="020B0604020202020204" charset="0"/>
                        </a:rPr>
                        <a:t>D</a:t>
                      </a:r>
                      <a:endParaRPr lang="en-IN" dirty="0">
                        <a:latin typeface="Chivo" panose="020B0604020202020204" charset="0"/>
                      </a:endParaRPr>
                    </a:p>
                  </p:txBody>
                </p:sp>
              </p:grp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49457CD7-3EA7-6BB3-B3FD-42774EA78C86}"/>
                      </a:ext>
                    </a:extLst>
                  </p:cNvPr>
                  <p:cNvSpPr txBox="1"/>
                  <p:nvPr/>
                </p:nvSpPr>
                <p:spPr>
                  <a:xfrm>
                    <a:off x="8576461" y="3832768"/>
                    <a:ext cx="471183" cy="4392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Chivo" panose="020B0604020202020204" charset="0"/>
                      </a:rPr>
                      <a:t>E</a:t>
                    </a:r>
                    <a:endParaRPr lang="en-IN" dirty="0">
                      <a:latin typeface="Chivo" panose="020B0604020202020204" charset="0"/>
                    </a:endParaRPr>
                  </a:p>
                </p:txBody>
              </p:sp>
            </p:grpSp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A039F792-B365-9644-220C-D6E697DB3D03}"/>
                    </a:ext>
                  </a:extLst>
                </p:cNvPr>
                <p:cNvGrpSpPr/>
                <p:nvPr/>
              </p:nvGrpSpPr>
              <p:grpSpPr>
                <a:xfrm>
                  <a:off x="4742381" y="4436571"/>
                  <a:ext cx="486791" cy="417687"/>
                  <a:chOff x="4742381" y="4436571"/>
                  <a:chExt cx="486791" cy="417687"/>
                </a:xfrm>
              </p:grpSpPr>
              <p:cxnSp>
                <p:nvCxnSpPr>
                  <p:cNvPr id="143" name="Straight Connector 142">
                    <a:extLst>
                      <a:ext uri="{FF2B5EF4-FFF2-40B4-BE49-F238E27FC236}">
                        <a16:creationId xmlns:a16="http://schemas.microsoft.com/office/drawing/2014/main" id="{D8C958F1-295A-4967-5815-1DF24B2A2EAC}"/>
                      </a:ext>
                    </a:extLst>
                  </p:cNvPr>
                  <p:cNvCxnSpPr>
                    <a:cxnSpLocks/>
                    <a:stCxn id="194" idx="0"/>
                  </p:cNvCxnSpPr>
                  <p:nvPr/>
                </p:nvCxnSpPr>
                <p:spPr>
                  <a:xfrm>
                    <a:off x="4742381" y="4436571"/>
                    <a:ext cx="486791" cy="394832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Straight Connector 143">
                    <a:extLst>
                      <a:ext uri="{FF2B5EF4-FFF2-40B4-BE49-F238E27FC236}">
                        <a16:creationId xmlns:a16="http://schemas.microsoft.com/office/drawing/2014/main" id="{1F12D6A4-0DF1-7EA6-2C0C-15C76963B225}"/>
                      </a:ext>
                    </a:extLst>
                  </p:cNvPr>
                  <p:cNvCxnSpPr>
                    <a:cxnSpLocks/>
                    <a:endCxn id="194" idx="2"/>
                  </p:cNvCxnSpPr>
                  <p:nvPr/>
                </p:nvCxnSpPr>
                <p:spPr>
                  <a:xfrm flipH="1">
                    <a:off x="4742381" y="4462071"/>
                    <a:ext cx="486791" cy="392187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68A993A0-F3E4-2853-E7C9-FAC362C89512}"/>
                    </a:ext>
                  </a:extLst>
                </p:cNvPr>
                <p:cNvGrpSpPr/>
                <p:nvPr/>
              </p:nvGrpSpPr>
              <p:grpSpPr>
                <a:xfrm>
                  <a:off x="6136667" y="3187947"/>
                  <a:ext cx="486791" cy="417687"/>
                  <a:chOff x="4742381" y="4436571"/>
                  <a:chExt cx="486791" cy="417687"/>
                </a:xfrm>
              </p:grpSpPr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10BDA76A-C6CE-2B90-C34F-055FD0CB79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42381" y="4436571"/>
                    <a:ext cx="486791" cy="394832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4E2034DC-17F6-B362-F6B4-BA54A11794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42381" y="4462071"/>
                    <a:ext cx="486791" cy="392187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D0229633-C20F-DA35-DEE3-AC1CBD765B22}"/>
                    </a:ext>
                  </a:extLst>
                </p:cNvPr>
                <p:cNvGrpSpPr/>
                <p:nvPr/>
              </p:nvGrpSpPr>
              <p:grpSpPr>
                <a:xfrm>
                  <a:off x="7528309" y="1900458"/>
                  <a:ext cx="524488" cy="439558"/>
                  <a:chOff x="4742381" y="4436571"/>
                  <a:chExt cx="486791" cy="417687"/>
                </a:xfrm>
              </p:grpSpPr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918F9FE1-FBB5-3698-0586-1756AA497C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42381" y="4436571"/>
                    <a:ext cx="486791" cy="394832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FADA3260-6911-4549-7530-D9774E9ED9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42381" y="4462071"/>
                    <a:ext cx="486791" cy="392187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90BEDF7A-D500-9BA1-ABCA-04A2A5C0B00C}"/>
                    </a:ext>
                  </a:extLst>
                </p:cNvPr>
                <p:cNvGrpSpPr/>
                <p:nvPr/>
              </p:nvGrpSpPr>
              <p:grpSpPr>
                <a:xfrm>
                  <a:off x="7537834" y="2562812"/>
                  <a:ext cx="486791" cy="417687"/>
                  <a:chOff x="4742381" y="4436571"/>
                  <a:chExt cx="486791" cy="417687"/>
                </a:xfrm>
              </p:grpSpPr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D448C029-6D33-7A7D-A16E-A54C5A4EE2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42381" y="4436571"/>
                    <a:ext cx="486791" cy="394832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836160CC-C69F-583B-DF02-D9E284D5AA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42381" y="4462071"/>
                    <a:ext cx="486791" cy="392187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4" name="Group 133">
                  <a:extLst>
                    <a:ext uri="{FF2B5EF4-FFF2-40B4-BE49-F238E27FC236}">
                      <a16:creationId xmlns:a16="http://schemas.microsoft.com/office/drawing/2014/main" id="{F71526BF-9338-E589-FD80-27EF7157AEB1}"/>
                    </a:ext>
                  </a:extLst>
                </p:cNvPr>
                <p:cNvGrpSpPr/>
                <p:nvPr/>
              </p:nvGrpSpPr>
              <p:grpSpPr>
                <a:xfrm>
                  <a:off x="8996856" y="3811489"/>
                  <a:ext cx="486791" cy="417687"/>
                  <a:chOff x="4742381" y="4436571"/>
                  <a:chExt cx="486791" cy="417687"/>
                </a:xfrm>
              </p:grpSpPr>
              <p:cxnSp>
                <p:nvCxnSpPr>
                  <p:cNvPr id="135" name="Straight Connector 134">
                    <a:extLst>
                      <a:ext uri="{FF2B5EF4-FFF2-40B4-BE49-F238E27FC236}">
                        <a16:creationId xmlns:a16="http://schemas.microsoft.com/office/drawing/2014/main" id="{ED152863-FB26-CCD6-04A0-A6F467F798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42381" y="4436571"/>
                    <a:ext cx="486791" cy="394832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CE1F65F7-5ACC-2527-0C2E-EC80AC2CFD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42381" y="4462071"/>
                    <a:ext cx="486791" cy="392187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109CEC1B-AE25-8A77-906D-0286C5DAEA1E}"/>
                  </a:ext>
                </a:extLst>
              </p:cNvPr>
              <p:cNvGrpSpPr/>
              <p:nvPr/>
            </p:nvGrpSpPr>
            <p:grpSpPr>
              <a:xfrm>
                <a:off x="4919392" y="2108717"/>
                <a:ext cx="712702" cy="1908702"/>
                <a:chOff x="4919392" y="2108717"/>
                <a:chExt cx="712702" cy="1908702"/>
              </a:xfrm>
            </p:grpSpPr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A3CC19D-B41D-4574-18B5-231BC5402A2E}"/>
                    </a:ext>
                  </a:extLst>
                </p:cNvPr>
                <p:cNvCxnSpPr>
                  <a:cxnSpLocks/>
                  <a:endCxn id="187" idx="1"/>
                </p:cNvCxnSpPr>
                <p:nvPr/>
              </p:nvCxnSpPr>
              <p:spPr>
                <a:xfrm>
                  <a:off x="4919392" y="2108717"/>
                  <a:ext cx="712702" cy="58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6CBAE22-5386-51D3-9F6F-58C4C7807F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9392" y="2745440"/>
                  <a:ext cx="712702" cy="58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ED239C77-E6F6-BA95-9A95-3E0B3B1477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9392" y="3384779"/>
                  <a:ext cx="712702" cy="58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2EA717F8-769A-5951-E494-EFBEB3359D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9392" y="4016835"/>
                  <a:ext cx="712702" cy="58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72372FC3-4442-62BB-6A16-2EBC96DCD731}"/>
                  </a:ext>
                </a:extLst>
              </p:cNvPr>
              <p:cNvGrpSpPr/>
              <p:nvPr/>
            </p:nvGrpSpPr>
            <p:grpSpPr>
              <a:xfrm>
                <a:off x="6310157" y="2108717"/>
                <a:ext cx="712702" cy="1908702"/>
                <a:chOff x="4919392" y="2108717"/>
                <a:chExt cx="712702" cy="1908702"/>
              </a:xfrm>
            </p:grpSpPr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2A6BF47C-3E09-7A81-4D53-19128AB548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9392" y="2108717"/>
                  <a:ext cx="712702" cy="58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791C561D-B243-816F-992C-A2BACC1ED1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9392" y="2745440"/>
                  <a:ext cx="712702" cy="58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72DEFBD6-FDF9-6725-487F-A194949311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9392" y="4016835"/>
                  <a:ext cx="712702" cy="58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28F2F4A5-DA32-1E51-63C5-6BDB7DD0E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3322" y="4016835"/>
                <a:ext cx="712702" cy="58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BC4D381A-2E90-2056-1332-34715BDA95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3322" y="4007367"/>
                <a:ext cx="712702" cy="58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4C04174-1925-3A01-B3B8-F3B374B87EDB}"/>
                </a:ext>
              </a:extLst>
            </p:cNvPr>
            <p:cNvSpPr txBox="1"/>
            <p:nvPr/>
          </p:nvSpPr>
          <p:spPr>
            <a:xfrm>
              <a:off x="6238413" y="4437593"/>
              <a:ext cx="1773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rgbClr val="4E3E27"/>
                  </a:solidFill>
                  <a:latin typeface="Chivo" panose="020B0604020202020204" charset="0"/>
                </a:rPr>
                <a:t>Fig : Adjacency List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044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8" presetClass="exit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       </a:t>
              </a:r>
            </a:p>
          </p:txBody>
        </p:sp>
      </p:grpSp>
      <p:sp>
        <p:nvSpPr>
          <p:cNvPr id="8" name="Google Shape;478;p49"/>
          <p:cNvSpPr txBox="1">
            <a:spLocks/>
          </p:cNvSpPr>
          <p:nvPr/>
        </p:nvSpPr>
        <p:spPr>
          <a:xfrm>
            <a:off x="68093" y="116157"/>
            <a:ext cx="5621507" cy="10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800" dirty="0">
                <a:solidFill>
                  <a:schemeClr val="accent1">
                    <a:lumMod val="25000"/>
                  </a:schemeClr>
                </a:solidFill>
                <a:latin typeface="Anton" panose="020B0604020202020204" charset="0"/>
              </a:rPr>
              <a:t>Applications of Graphs in Data Structure</a:t>
            </a:r>
          </a:p>
        </p:txBody>
      </p:sp>
      <p:sp>
        <p:nvSpPr>
          <p:cNvPr id="9" name="Google Shape;477;p49"/>
          <p:cNvSpPr txBox="1">
            <a:spLocks/>
          </p:cNvSpPr>
          <p:nvPr/>
        </p:nvSpPr>
        <p:spPr>
          <a:xfrm>
            <a:off x="68094" y="1234614"/>
            <a:ext cx="4689609" cy="10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Graphs are a useful data structure for representing and </a:t>
            </a:r>
            <a:r>
              <a:rPr lang="en-IN" sz="1600" b="0" i="0" dirty="0" err="1">
                <a:solidFill>
                  <a:srgbClr val="252525"/>
                </a:solidFill>
                <a:effectLst/>
                <a:latin typeface="Chivo" panose="020B0604020202020204" charset="0"/>
              </a:rPr>
              <a:t>modeling</a:t>
            </a:r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 many types of real-world relationships and processes.</a:t>
            </a:r>
          </a:p>
        </p:txBody>
      </p:sp>
      <p:sp>
        <p:nvSpPr>
          <p:cNvPr id="5" name="Google Shape;477;p49">
            <a:extLst>
              <a:ext uri="{FF2B5EF4-FFF2-40B4-BE49-F238E27FC236}">
                <a16:creationId xmlns:a16="http://schemas.microsoft.com/office/drawing/2014/main" id="{D9E49759-C6A3-DEAA-DE24-C3D475C7C77F}"/>
              </a:ext>
            </a:extLst>
          </p:cNvPr>
          <p:cNvSpPr txBox="1">
            <a:spLocks/>
          </p:cNvSpPr>
          <p:nvPr/>
        </p:nvSpPr>
        <p:spPr>
          <a:xfrm>
            <a:off x="68094" y="2151489"/>
            <a:ext cx="4689609" cy="667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Some examples of the application of graphs in real-world and computer science include:</a:t>
            </a:r>
          </a:p>
        </p:txBody>
      </p:sp>
      <p:sp>
        <p:nvSpPr>
          <p:cNvPr id="7" name="Google Shape;477;p49">
            <a:extLst>
              <a:ext uri="{FF2B5EF4-FFF2-40B4-BE49-F238E27FC236}">
                <a16:creationId xmlns:a16="http://schemas.microsoft.com/office/drawing/2014/main" id="{F57EEA76-803C-B7D0-774D-8261A0E5C3D7}"/>
              </a:ext>
            </a:extLst>
          </p:cNvPr>
          <p:cNvSpPr txBox="1">
            <a:spLocks/>
          </p:cNvSpPr>
          <p:nvPr/>
        </p:nvSpPr>
        <p:spPr>
          <a:xfrm>
            <a:off x="164932" y="2906587"/>
            <a:ext cx="4689609" cy="14247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Social networks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Transportation networks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Computer networks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Data organization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Computational processes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EBCAB8-5E44-50DC-FAA0-D0174CE24E51}"/>
              </a:ext>
            </a:extLst>
          </p:cNvPr>
          <p:cNvGrpSpPr/>
          <p:nvPr/>
        </p:nvGrpSpPr>
        <p:grpSpPr>
          <a:xfrm>
            <a:off x="2283358" y="1279960"/>
            <a:ext cx="6182915" cy="2926047"/>
            <a:chOff x="2412898" y="1262615"/>
            <a:chExt cx="6182915" cy="292604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C06E93F-733A-ECF2-17B0-4515DCFB6976}"/>
                </a:ext>
              </a:extLst>
            </p:cNvPr>
            <p:cNvGrpSpPr/>
            <p:nvPr/>
          </p:nvGrpSpPr>
          <p:grpSpPr>
            <a:xfrm>
              <a:off x="5639795" y="1262615"/>
              <a:ext cx="2956018" cy="2926047"/>
              <a:chOff x="5639795" y="1262615"/>
              <a:chExt cx="2956018" cy="2926047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BCDD6F5-B52B-131D-9703-EE89044A5A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39795" y="1262615"/>
                <a:ext cx="2956018" cy="2618270"/>
              </a:xfrm>
              <a:prstGeom prst="rect">
                <a:avLst/>
              </a:prstGeom>
              <a:effectLst>
                <a:softEdge rad="63500"/>
              </a:effec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417F0F-6D77-AFEC-CA11-2A9ED8A0E616}"/>
                  </a:ext>
                </a:extLst>
              </p:cNvPr>
              <p:cNvSpPr txBox="1"/>
              <p:nvPr/>
            </p:nvSpPr>
            <p:spPr>
              <a:xfrm>
                <a:off x="6191909" y="3880885"/>
                <a:ext cx="19159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olidFill>
                      <a:srgbClr val="4E3E27"/>
                    </a:solidFill>
                    <a:latin typeface="Chivo" panose="020B0604020202020204" charset="0"/>
                  </a:rPr>
                  <a:t>Fig : Social networks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7B446A5-A71C-0338-61A8-F300D2321529}"/>
                </a:ext>
              </a:extLst>
            </p:cNvPr>
            <p:cNvCxnSpPr/>
            <p:nvPr/>
          </p:nvCxnSpPr>
          <p:spPr>
            <a:xfrm>
              <a:off x="2412898" y="3104707"/>
              <a:ext cx="30097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2D0BA97-4E8D-DE88-1BE6-D811C914FF42}"/>
              </a:ext>
            </a:extLst>
          </p:cNvPr>
          <p:cNvGrpSpPr/>
          <p:nvPr/>
        </p:nvGrpSpPr>
        <p:grpSpPr>
          <a:xfrm>
            <a:off x="3048240" y="1888576"/>
            <a:ext cx="5702279" cy="2498331"/>
            <a:chOff x="3067146" y="1869684"/>
            <a:chExt cx="5702279" cy="2498331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D597F74-E2AD-B9B6-DBDD-449342CF96FF}"/>
                </a:ext>
              </a:extLst>
            </p:cNvPr>
            <p:cNvCxnSpPr>
              <a:cxnSpLocks/>
            </p:cNvCxnSpPr>
            <p:nvPr/>
          </p:nvCxnSpPr>
          <p:spPr>
            <a:xfrm>
              <a:off x="3067146" y="3378054"/>
              <a:ext cx="226501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4CF6297-3350-B565-0A40-C8EE62042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25060" y="1869684"/>
              <a:ext cx="3344365" cy="1881206"/>
            </a:xfrm>
            <a:prstGeom prst="rect">
              <a:avLst/>
            </a:prstGeom>
            <a:effectLst>
              <a:softEdge rad="63500"/>
            </a:effec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A018EF5-354C-7FFE-2A08-1D547050F5F0}"/>
                </a:ext>
              </a:extLst>
            </p:cNvPr>
            <p:cNvSpPr txBox="1"/>
            <p:nvPr/>
          </p:nvSpPr>
          <p:spPr>
            <a:xfrm>
              <a:off x="5882244" y="3844795"/>
              <a:ext cx="26837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rgbClr val="4E3E27"/>
                  </a:solidFill>
                  <a:latin typeface="Chivo" panose="020B0604020202020204" charset="0"/>
                </a:rPr>
                <a:t>Fig : Transportation networks</a:t>
              </a:r>
            </a:p>
            <a:p>
              <a:endParaRPr lang="en-IN" dirty="0">
                <a:solidFill>
                  <a:srgbClr val="4E3E27"/>
                </a:solidFill>
                <a:latin typeface="Chivo" panose="020B060402020202020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5906618-565A-8DF4-EBC7-E2A815BC856B}"/>
              </a:ext>
            </a:extLst>
          </p:cNvPr>
          <p:cNvGrpSpPr/>
          <p:nvPr/>
        </p:nvGrpSpPr>
        <p:grpSpPr>
          <a:xfrm>
            <a:off x="2584294" y="1435998"/>
            <a:ext cx="5577567" cy="3118164"/>
            <a:chOff x="2647950" y="1413980"/>
            <a:chExt cx="5577567" cy="3118164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7BC258A-1E4A-EB29-1303-03C20859F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461" y="2742984"/>
              <a:ext cx="0" cy="87598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65C85DD-FB12-5AC5-C851-086395BB9F43}"/>
                </a:ext>
              </a:extLst>
            </p:cNvPr>
            <p:cNvCxnSpPr>
              <a:cxnSpLocks/>
            </p:cNvCxnSpPr>
            <p:nvPr/>
          </p:nvCxnSpPr>
          <p:spPr>
            <a:xfrm>
              <a:off x="5336461" y="2742984"/>
              <a:ext cx="353139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318B37F-7DD1-B00F-AC42-F9402ABFB6FD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0" y="3618968"/>
              <a:ext cx="268851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CF822805-6F7A-17A5-39C9-36A20A65B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69861" y="1413980"/>
              <a:ext cx="2355656" cy="2810387"/>
            </a:xfrm>
            <a:prstGeom prst="rect">
              <a:avLst/>
            </a:prstGeom>
            <a:effectLst>
              <a:softEdge rad="63500"/>
            </a:effectLst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0752125-FBCF-01C7-5259-D0098061C580}"/>
                </a:ext>
              </a:extLst>
            </p:cNvPr>
            <p:cNvSpPr txBox="1"/>
            <p:nvPr/>
          </p:nvSpPr>
          <p:spPr>
            <a:xfrm>
              <a:off x="5944695" y="4224367"/>
              <a:ext cx="22445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rgbClr val="4E3E27"/>
                  </a:solidFill>
                  <a:latin typeface="Chivo" panose="020B0604020202020204" charset="0"/>
                </a:rPr>
                <a:t>Fig : Computer networks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CC5152F-B80D-9EC3-1A6B-67450F6A9C2F}"/>
              </a:ext>
            </a:extLst>
          </p:cNvPr>
          <p:cNvGrpSpPr/>
          <p:nvPr/>
        </p:nvGrpSpPr>
        <p:grpSpPr>
          <a:xfrm>
            <a:off x="2427806" y="2010316"/>
            <a:ext cx="6523588" cy="2360881"/>
            <a:chOff x="2304915" y="1988839"/>
            <a:chExt cx="6523588" cy="2360881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DBD996CF-CF21-ABD0-4B7E-72371CF0D79B}"/>
                </a:ext>
              </a:extLst>
            </p:cNvPr>
            <p:cNvGrpSpPr/>
            <p:nvPr/>
          </p:nvGrpSpPr>
          <p:grpSpPr>
            <a:xfrm>
              <a:off x="2304915" y="2961085"/>
              <a:ext cx="3384685" cy="875984"/>
              <a:chOff x="2262868" y="3022245"/>
              <a:chExt cx="3041650" cy="875984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1CEBD09-D189-6A9C-15C4-E1C905CA77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1379" y="3022245"/>
                <a:ext cx="0" cy="87598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C857963D-603C-69E0-38F5-F4A4A22F21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1379" y="3022245"/>
                <a:ext cx="353139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ABB275A6-5959-ECFA-EC44-08C67DDF3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2868" y="3898229"/>
                <a:ext cx="2688511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0D3BCD4-5E97-7E2C-7B2E-C108AF1D6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8270" y="1988839"/>
              <a:ext cx="3060233" cy="2074633"/>
            </a:xfrm>
            <a:prstGeom prst="rect">
              <a:avLst/>
            </a:prstGeom>
            <a:effectLst>
              <a:softEdge rad="63500"/>
            </a:effectLst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E7AD853-61D2-9F56-9CB2-710CBDE58B62}"/>
                </a:ext>
              </a:extLst>
            </p:cNvPr>
            <p:cNvSpPr txBox="1"/>
            <p:nvPr/>
          </p:nvSpPr>
          <p:spPr>
            <a:xfrm>
              <a:off x="6211480" y="4041943"/>
              <a:ext cx="20601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rgbClr val="4E3E27"/>
                  </a:solidFill>
                  <a:latin typeface="Chivo" panose="020B0604020202020204" charset="0"/>
                </a:rPr>
                <a:t>Fig : Data organization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E735244-0428-BEE4-523F-8EDF0678E4F3}"/>
              </a:ext>
            </a:extLst>
          </p:cNvPr>
          <p:cNvGrpSpPr/>
          <p:nvPr/>
        </p:nvGrpSpPr>
        <p:grpSpPr>
          <a:xfrm>
            <a:off x="3110714" y="1619137"/>
            <a:ext cx="5540650" cy="2945619"/>
            <a:chOff x="3076141" y="1693508"/>
            <a:chExt cx="5540650" cy="2945619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1D42D89-5E12-16CD-EC9F-5E36FD442421}"/>
                </a:ext>
              </a:extLst>
            </p:cNvPr>
            <p:cNvGrpSpPr/>
            <p:nvPr/>
          </p:nvGrpSpPr>
          <p:grpSpPr>
            <a:xfrm>
              <a:off x="5386175" y="2979420"/>
              <a:ext cx="303426" cy="1143970"/>
              <a:chOff x="5386175" y="3247406"/>
              <a:chExt cx="303426" cy="875984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786783BF-8F61-7883-7138-7323C78761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86175" y="3247406"/>
                <a:ext cx="0" cy="87598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208C9F43-A05D-EF10-BD89-6A61970583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6175" y="3247406"/>
                <a:ext cx="30342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01F4685-116E-E8A9-C2AA-F54AFAA30417}"/>
                </a:ext>
              </a:extLst>
            </p:cNvPr>
            <p:cNvCxnSpPr>
              <a:cxnSpLocks/>
            </p:cNvCxnSpPr>
            <p:nvPr/>
          </p:nvCxnSpPr>
          <p:spPr>
            <a:xfrm>
              <a:off x="3076141" y="4123390"/>
              <a:ext cx="231003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4EDF41D2-9577-86EC-0218-E1CE72356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784" y="1693508"/>
              <a:ext cx="2648839" cy="2613677"/>
            </a:xfrm>
            <a:prstGeom prst="rect">
              <a:avLst/>
            </a:prstGeom>
            <a:effectLst>
              <a:softEdge rad="63500"/>
            </a:effectLst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51874BF-5570-3817-23CA-39A4A6210368}"/>
                </a:ext>
              </a:extLst>
            </p:cNvPr>
            <p:cNvSpPr txBox="1"/>
            <p:nvPr/>
          </p:nvSpPr>
          <p:spPr>
            <a:xfrm>
              <a:off x="5899380" y="4331350"/>
              <a:ext cx="27174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solidFill>
                    <a:srgbClr val="4E3E27"/>
                  </a:solidFill>
                  <a:latin typeface="Chivo" panose="020B0604020202020204" charset="0"/>
                </a:rPr>
                <a:t>Fig : Computational processes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990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       </a:t>
              </a:r>
            </a:p>
          </p:txBody>
        </p:sp>
      </p:grpSp>
      <p:sp>
        <p:nvSpPr>
          <p:cNvPr id="8" name="Google Shape;478;p49"/>
          <p:cNvSpPr txBox="1">
            <a:spLocks/>
          </p:cNvSpPr>
          <p:nvPr/>
        </p:nvSpPr>
        <p:spPr>
          <a:xfrm>
            <a:off x="68093" y="116157"/>
            <a:ext cx="4727041" cy="745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>
                <a:solidFill>
                  <a:schemeClr val="accent1">
                    <a:lumMod val="25000"/>
                  </a:schemeClr>
                </a:solidFill>
                <a:latin typeface="Anton" panose="020B0604020202020204" charset="0"/>
              </a:rPr>
              <a:t>BFS - Graph Traversal</a:t>
            </a:r>
          </a:p>
        </p:txBody>
      </p:sp>
      <p:sp>
        <p:nvSpPr>
          <p:cNvPr id="9" name="Google Shape;477;p49"/>
          <p:cNvSpPr txBox="1">
            <a:spLocks/>
          </p:cNvSpPr>
          <p:nvPr/>
        </p:nvSpPr>
        <p:spPr>
          <a:xfrm>
            <a:off x="68094" y="779423"/>
            <a:ext cx="4689609" cy="14427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The Graph has two types of traversal algorithms. These are called the - </a:t>
            </a:r>
          </a:p>
          <a:p>
            <a:pPr algn="just"/>
            <a:endParaRPr lang="en-IN" sz="1600" b="0" i="0" dirty="0">
              <a:solidFill>
                <a:srgbClr val="252525"/>
              </a:solidFill>
              <a:effectLst/>
              <a:latin typeface="Chivo" panose="020B060402020202020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Breadth First Search (BFS) </a:t>
            </a:r>
            <a:endParaRPr lang="en-IN" sz="1600" dirty="0">
              <a:solidFill>
                <a:srgbClr val="252525"/>
              </a:solidFill>
              <a:latin typeface="Chivo" panose="020B060402020202020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16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Depth First Search (DFS)</a:t>
            </a:r>
          </a:p>
        </p:txBody>
      </p:sp>
      <p:sp>
        <p:nvSpPr>
          <p:cNvPr id="18" name="Google Shape;477;p49">
            <a:extLst>
              <a:ext uri="{FF2B5EF4-FFF2-40B4-BE49-F238E27FC236}">
                <a16:creationId xmlns:a16="http://schemas.microsoft.com/office/drawing/2014/main" id="{EE180E4C-1669-4918-A610-08EDD5212E88}"/>
              </a:ext>
            </a:extLst>
          </p:cNvPr>
          <p:cNvSpPr txBox="1">
            <a:spLocks/>
          </p:cNvSpPr>
          <p:nvPr/>
        </p:nvSpPr>
        <p:spPr>
          <a:xfrm>
            <a:off x="68093" y="2428614"/>
            <a:ext cx="4587710" cy="421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600" b="0" i="0" u="sng" dirty="0">
                <a:solidFill>
                  <a:srgbClr val="252525"/>
                </a:solidFill>
                <a:effectLst/>
                <a:latin typeface="Chivo" panose="020B0604020202020204" charset="0"/>
              </a:rPr>
              <a:t>Breadth First Search (BFS)</a:t>
            </a:r>
          </a:p>
        </p:txBody>
      </p:sp>
      <p:sp>
        <p:nvSpPr>
          <p:cNvPr id="2" name="Google Shape;477;p49">
            <a:extLst>
              <a:ext uri="{FF2B5EF4-FFF2-40B4-BE49-F238E27FC236}">
                <a16:creationId xmlns:a16="http://schemas.microsoft.com/office/drawing/2014/main" id="{DCFE6AC7-ECF4-7540-EF0D-F543B6169FCD}"/>
              </a:ext>
            </a:extLst>
          </p:cNvPr>
          <p:cNvSpPr txBox="1">
            <a:spLocks/>
          </p:cNvSpPr>
          <p:nvPr/>
        </p:nvSpPr>
        <p:spPr>
          <a:xfrm>
            <a:off x="164351" y="2847230"/>
            <a:ext cx="4491452" cy="727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BFS, Breadth-First Search, is a vertex-based technique for finding the shortest path in the graph. It uses a Queue data structure that follows first in first out.</a:t>
            </a:r>
          </a:p>
        </p:txBody>
      </p:sp>
      <p:sp>
        <p:nvSpPr>
          <p:cNvPr id="10" name="Google Shape;477;p49">
            <a:extLst>
              <a:ext uri="{FF2B5EF4-FFF2-40B4-BE49-F238E27FC236}">
                <a16:creationId xmlns:a16="http://schemas.microsoft.com/office/drawing/2014/main" id="{EA72E268-6E3A-02D8-2C47-655C316CFBE3}"/>
              </a:ext>
            </a:extLst>
          </p:cNvPr>
          <p:cNvSpPr txBox="1">
            <a:spLocks/>
          </p:cNvSpPr>
          <p:nvPr/>
        </p:nvSpPr>
        <p:spPr>
          <a:xfrm>
            <a:off x="164351" y="3574438"/>
            <a:ext cx="4491452" cy="727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rgbClr val="252525"/>
                </a:solidFill>
                <a:effectLst/>
                <a:latin typeface="Chivo" panose="020B0604020202020204" charset="0"/>
              </a:rPr>
              <a:t>In BFS, one vertex is selected at a time when it is visited and marked then its adjacent are visited and stored in the queue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1C9F3-A639-800D-4D4B-88411CDE3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499" y="1449364"/>
            <a:ext cx="3940379" cy="1740205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83F83A7-8463-0B7F-D2BF-B12A143CB7DF}"/>
              </a:ext>
            </a:extLst>
          </p:cNvPr>
          <p:cNvGrpSpPr/>
          <p:nvPr/>
        </p:nvGrpSpPr>
        <p:grpSpPr>
          <a:xfrm>
            <a:off x="5164874" y="270864"/>
            <a:ext cx="3682924" cy="4752788"/>
            <a:chOff x="5164874" y="270864"/>
            <a:chExt cx="3682924" cy="475278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30CA957-2B65-8893-8436-D3ABCB26D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6939" y="270864"/>
              <a:ext cx="3680859" cy="1579201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DD45F97-070C-987B-6402-B605DAA03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66939" y="1929581"/>
              <a:ext cx="3583656" cy="1491302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976FECD-FB23-CF2D-1DFC-9B2BF5327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64874" y="3444451"/>
              <a:ext cx="3682924" cy="1579201"/>
            </a:xfrm>
            <a:prstGeom prst="rect">
              <a:avLst/>
            </a:prstGeom>
            <a:effectLst>
              <a:softEdge rad="63500"/>
            </a:effec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B6037C-A48B-8BDE-2A10-3056C7D38A7A}"/>
              </a:ext>
            </a:extLst>
          </p:cNvPr>
          <p:cNvGrpSpPr/>
          <p:nvPr/>
        </p:nvGrpSpPr>
        <p:grpSpPr>
          <a:xfrm>
            <a:off x="5214508" y="307358"/>
            <a:ext cx="3536088" cy="4690383"/>
            <a:chOff x="5214508" y="307358"/>
            <a:chExt cx="3536088" cy="469038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86B914E-4230-5328-209E-D8F9E1E52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14508" y="307358"/>
              <a:ext cx="3536088" cy="1454493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1C1B291-AB81-CFEE-ED6E-501E7273C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61843" y="1971048"/>
              <a:ext cx="3488751" cy="1517536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99B6B0D-A3D6-B434-F27C-84D4D5F3D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14509" y="3675765"/>
              <a:ext cx="3536086" cy="1321976"/>
            </a:xfrm>
            <a:prstGeom prst="rect">
              <a:avLst/>
            </a:prstGeom>
            <a:effectLst>
              <a:softEdge rad="63500"/>
            </a:effec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50A9EC-B26A-8D27-A83C-DB7DBB6F1077}"/>
              </a:ext>
            </a:extLst>
          </p:cNvPr>
          <p:cNvGrpSpPr/>
          <p:nvPr/>
        </p:nvGrpSpPr>
        <p:grpSpPr>
          <a:xfrm>
            <a:off x="5214507" y="329468"/>
            <a:ext cx="3577557" cy="4663694"/>
            <a:chOff x="5214507" y="329468"/>
            <a:chExt cx="3577557" cy="466369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F656463-D51E-6FD2-6A05-CDFDEEBE5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14507" y="329468"/>
              <a:ext cx="3536087" cy="1520597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3213C75-E2CD-9CA8-3187-80E4EBFED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261842" y="1980993"/>
              <a:ext cx="3441416" cy="1429607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09DBFD96-6BA9-F4AC-2A4C-EBE7A74D0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214507" y="3608064"/>
              <a:ext cx="3577557" cy="1385098"/>
            </a:xfrm>
            <a:prstGeom prst="rect">
              <a:avLst/>
            </a:prstGeom>
            <a:effectLst>
              <a:softEdge rad="63500"/>
            </a:effectLst>
          </p:spPr>
        </p:pic>
      </p:grpSp>
    </p:spTree>
    <p:extLst>
      <p:ext uri="{BB962C8B-B14F-4D97-AF65-F5344CB8AC3E}">
        <p14:creationId xmlns:p14="http://schemas.microsoft.com/office/powerpoint/2010/main" val="37458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       </a:t>
              </a:r>
            </a:p>
          </p:txBody>
        </p:sp>
      </p:grpSp>
      <p:sp>
        <p:nvSpPr>
          <p:cNvPr id="89" name="Google Shape;478;p49"/>
          <p:cNvSpPr txBox="1">
            <a:spLocks/>
          </p:cNvSpPr>
          <p:nvPr/>
        </p:nvSpPr>
        <p:spPr>
          <a:xfrm>
            <a:off x="3485486" y="1993901"/>
            <a:ext cx="3410614" cy="7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>
                <a:solidFill>
                  <a:schemeClr val="accent1">
                    <a:lumMod val="25000"/>
                  </a:schemeClr>
                </a:solidFill>
                <a:latin typeface="Anton" panose="020B0604020202020204" charset="0"/>
              </a:rPr>
              <a:t>Thank You !</a:t>
            </a:r>
          </a:p>
        </p:txBody>
      </p:sp>
      <p:sp>
        <p:nvSpPr>
          <p:cNvPr id="7" name="Google Shape;397;p45"/>
          <p:cNvSpPr/>
          <p:nvPr/>
        </p:nvSpPr>
        <p:spPr>
          <a:xfrm>
            <a:off x="0" y="439710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98;p45"/>
          <p:cNvSpPr/>
          <p:nvPr/>
        </p:nvSpPr>
        <p:spPr>
          <a:xfrm>
            <a:off x="746483" y="439710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99;p45"/>
          <p:cNvSpPr/>
          <p:nvPr/>
        </p:nvSpPr>
        <p:spPr>
          <a:xfrm>
            <a:off x="1492967" y="439710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400;p45"/>
          <p:cNvSpPr/>
          <p:nvPr/>
        </p:nvSpPr>
        <p:spPr>
          <a:xfrm>
            <a:off x="1023092" y="4351625"/>
            <a:ext cx="469800" cy="469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401;p45"/>
          <p:cNvSpPr/>
          <p:nvPr/>
        </p:nvSpPr>
        <p:spPr>
          <a:xfrm rot="10800000">
            <a:off x="0" y="4397100"/>
            <a:ext cx="746400" cy="7464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92;p45"/>
          <p:cNvSpPr/>
          <p:nvPr/>
        </p:nvSpPr>
        <p:spPr>
          <a:xfrm rot="10800000">
            <a:off x="8389067" y="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93;p45"/>
          <p:cNvSpPr/>
          <p:nvPr/>
        </p:nvSpPr>
        <p:spPr>
          <a:xfrm rot="10800000">
            <a:off x="7642583" y="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94;p45"/>
          <p:cNvSpPr/>
          <p:nvPr/>
        </p:nvSpPr>
        <p:spPr>
          <a:xfrm rot="10800000">
            <a:off x="6896100" y="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95;p45"/>
          <p:cNvSpPr/>
          <p:nvPr/>
        </p:nvSpPr>
        <p:spPr>
          <a:xfrm rot="10800000">
            <a:off x="7642575" y="322075"/>
            <a:ext cx="469800" cy="469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96;p45"/>
          <p:cNvSpPr/>
          <p:nvPr/>
        </p:nvSpPr>
        <p:spPr>
          <a:xfrm>
            <a:off x="8389067" y="0"/>
            <a:ext cx="746400" cy="7464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0997768"/>
      </p:ext>
    </p:extLst>
  </p:cSld>
  <p:clrMapOvr>
    <a:masterClrMapping/>
  </p:clrMapOvr>
</p:sld>
</file>

<file path=ppt/theme/theme1.xml><?xml version="1.0" encoding="utf-8"?>
<a:theme xmlns:a="http://schemas.openxmlformats.org/drawingml/2006/main" name="Maths for Middle School - 6th Grade: Number Sense and Operations by Slidesgo">
  <a:themeElements>
    <a:clrScheme name="Simple Light">
      <a:dk1>
        <a:srgbClr val="31221F"/>
      </a:dk1>
      <a:lt1>
        <a:srgbClr val="FFFFFF"/>
      </a:lt1>
      <a:dk2>
        <a:srgbClr val="595959"/>
      </a:dk2>
      <a:lt2>
        <a:srgbClr val="EEEEEE"/>
      </a:lt2>
      <a:accent1>
        <a:srgbClr val="F0EAE1"/>
      </a:accent1>
      <a:accent2>
        <a:srgbClr val="EAC304"/>
      </a:accent2>
      <a:accent3>
        <a:srgbClr val="E36729"/>
      </a:accent3>
      <a:accent4>
        <a:srgbClr val="94BEBA"/>
      </a:accent4>
      <a:accent5>
        <a:srgbClr val="2E9249"/>
      </a:accent5>
      <a:accent6>
        <a:srgbClr val="31221F"/>
      </a:accent6>
      <a:hlink>
        <a:srgbClr val="31221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565</Words>
  <Application>Microsoft Office PowerPoint</Application>
  <PresentationFormat>On-screen Show (16:9)</PresentationFormat>
  <Paragraphs>164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Wingdings</vt:lpstr>
      <vt:lpstr>Chivo</vt:lpstr>
      <vt:lpstr>Anton</vt:lpstr>
      <vt:lpstr>Maths for Middle School - 6th Grade: Number Sense and Operations by Slidesgo</vt:lpstr>
      <vt:lpstr>Graph and BFS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 FOR MIDDLE SCHOOL</dc:title>
  <dc:creator>Khondokar Saim</dc:creator>
  <cp:lastModifiedBy>Saim wahid</cp:lastModifiedBy>
  <cp:revision>53</cp:revision>
  <dcterms:modified xsi:type="dcterms:W3CDTF">2022-12-28T18:07:34Z</dcterms:modified>
</cp:coreProperties>
</file>